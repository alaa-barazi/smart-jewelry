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jfw9M8JNKrlV+VmQd/0ilgUgjQ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003212-A46F-446A-83AF-891BA12ADF64}">
  <a:tblStyle styleId="{89003212-A46F-446A-83AF-891BA12ADF6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Good [morning/afternoon]. We're Alaa and Noor, Software Engineering students here at Shenkar, and over the next fifteen minutes we'll walk you through Phase A of our capstone project: Jewelry That Cares, a smart jewelry system that detects anxiety attacks in real time and helps patients calm down, while keeping their therapist in the loop. This project sits at the intersection of wearable technology, AI, and mental health support, and was developed under the guidance of Dr. Naomi Unkelos Shpigel. We'll start with the problem and the research behind it, then walk through what we built and where the project goes next.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Anxiety disorders are one of the most common mental health challenges worldwide, and they affect daily functioning and quality of life significantly. The core problem is a gap in support: traditional therapy is effective, but it can't be there with the patient in the moment an anxiety attack actually happens, outside the clinic. That's exactly where we saw an opportunity. Wearable technology combined with AI lets us shift from passive monitoring to something that actively senses what's happening and responds immediately, in real time.</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Before we dive into the details, here's the path this project has taken, laid out month by month. Phase A ran from March through June: we started with our literature review in March, ran structured interviews with eight mental health professionals across four sectors in April, derived our functional and non-functional requirements in May, and finished the full system design you'll see today in June. Phase B then runs October through January: we'll build out the full React Native application in October, integrate real Bluetooth communication with our jewelry prototype in November, replace our simulated detection with an actual trained ML model in December, and finally test the system with real patients and therapists in January</a:t>
            </a:r>
            <a:endParaRPr/>
          </a:p>
        </p:txBody>
      </p:sp>
      <p:sp>
        <p:nvSpPr>
          <p:cNvPr id="56" name="Google Shape;5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Our literature review covers three threads of research. First, AI and wearables for detection: recent work shows that machine learning models on heart rate and skin conductance signals can reliably detect anxiety even in noisy, real-world conditions, not just in a lab. Second, haptic feedback: studies show that vibration-based intervention significantly reduces anxiety and is well received by users, which is part of why we considered jewelry as the delivery mechanism. Third, integration into therapy: research shows that combining objective wearable data with subjective app-based mood reports successfully supports structured therapy like group CBT. Together, these three threads are exactly what shaped our system design.</a:t>
            </a:r>
            <a:endParaRPr/>
          </a:p>
        </p:txBody>
      </p:sp>
      <p:sp>
        <p:nvSpPr>
          <p:cNvPr id="102" name="Google Shape;10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Before we get into what we found, it's worth being upfront about how we got there — because it wasn't easy.</a:t>
            </a:r>
            <a:endParaRPr/>
          </a:p>
          <a:p>
            <a:pPr indent="-228600" lvl="0" marL="457200" marR="0" rtl="0" algn="l">
              <a:lnSpc>
                <a:spcPct val="100000"/>
              </a:lnSpc>
              <a:spcBef>
                <a:spcPts val="0"/>
              </a:spcBef>
              <a:spcAft>
                <a:spcPts val="0"/>
              </a:spcAft>
              <a:buClr>
                <a:srgbClr val="000000"/>
              </a:buClr>
              <a:buSzPts val="1400"/>
              <a:buFont typeface="Arial"/>
              <a:buNone/>
            </a:pPr>
            <a:r>
              <a:rPr lang="en-US"/>
              <a:t>First, reaching the right professionals. Clinicians and social workers were genuinely hard to find. Most of the people we interviewed came through personal networks and academic referrals — cold outreach basically didn't work.</a:t>
            </a:r>
            <a:endParaRPr/>
          </a:p>
          <a:p>
            <a:pPr indent="-228600" lvl="0" marL="457200" marR="0" rtl="0" algn="l">
              <a:lnSpc>
                <a:spcPct val="100000"/>
              </a:lnSpc>
              <a:spcBef>
                <a:spcPts val="0"/>
              </a:spcBef>
              <a:spcAft>
                <a:spcPts val="0"/>
              </a:spcAft>
              <a:buClr>
                <a:srgbClr val="000000"/>
              </a:buClr>
              <a:buSzPts val="1400"/>
              <a:buFont typeface="Arial"/>
              <a:buNone/>
            </a:pPr>
            <a:r>
              <a:rPr lang="en-US"/>
              <a:t>Second, we were working with a narrow research window, and because participants were so hard to reach, we supplemented with two AI-generated expert personas, which we'll explain in a moment.</a:t>
            </a:r>
            <a:endParaRPr/>
          </a:p>
          <a:p>
            <a:pPr indent="-228600" lvl="0" marL="457200" marR="0" rtl="0" algn="l">
              <a:lnSpc>
                <a:spcPct val="100000"/>
              </a:lnSpc>
              <a:spcBef>
                <a:spcPts val="0"/>
              </a:spcBef>
              <a:spcAft>
                <a:spcPts val="0"/>
              </a:spcAft>
              <a:buClr>
                <a:srgbClr val="000000"/>
              </a:buClr>
              <a:buSzPts val="1400"/>
              <a:buFont typeface="Arial"/>
              <a:buNone/>
            </a:pPr>
            <a:r>
              <a:rPr lang="en-US"/>
              <a:t>These constraints shaped our methodology, and they're important context for how we interpret the findings that follow.</a:t>
            </a:r>
            <a:endParaRPr/>
          </a:p>
        </p:txBody>
      </p:sp>
      <p:sp>
        <p:nvSpPr>
          <p:cNvPr id="125" name="Google Shape;12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looked closely at three existing apps. Rootd gives patients a panic button with breathing exercises, but has no therapist involvement at all. Feeltherapeutics pairs a bracelet with the app and does detect anxiety physiologically, but again, no professional side. Sanvello has strong community and therapist features, but it doesn't do any automatic detection, and it's limited to the US. As you can see in this comparison table, every existing solution is missing something. Our app is the only one that combines automatic detection, a professional therapist side, AI chat support, and community support, all in one place.</a:t>
            </a:r>
            <a:endParaRPr/>
          </a:p>
        </p:txBody>
      </p:sp>
      <p:sp>
        <p:nvSpPr>
          <p:cNvPr id="143" name="Google Shape;1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00600128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g3f006001280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Before going further, it's worth placing this project in context. A previous student team built Cozy Space, a mental wellness app with mood documenting, an AI chat companion, and guided breathing exercises, and they validated it through user experiments with 20 participants. That work proved the core concept: people are willing to engage with a digital companion for anxiety support. Our project takes that validated foundation and extends it in two directions their work didn't cover. First, we move beyond the phone-only interface to a physical smart jewelry device, so support is available the moment symptoms begin, not just when someone opens an app. Second, we add a moderated community layer with peer support and gamification, turning an individual tool into a shared support system.</a:t>
            </a:r>
            <a:endParaRPr/>
          </a:p>
        </p:txBody>
      </p:sp>
      <p:sp>
        <p:nvSpPr>
          <p:cNvPr id="168" name="Google Shape;168;g3f006001280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make sure our system reflects real clinical practice and not just our own assumptions, we interviewed eight mental health professionals: clinical psychologists, hospital social workers, and welfare-sector social workers, covering both Western and non-Western patient populations. We also included two AI-generated expert personas, one built on Gemini and one on Claude, specifically to test whether bias patterns we saw in one model would replicate in another, and to extend our coverage given the limited size of our human sample. This table summarizes who we spoke to, their sector, and their experience level.</a:t>
            </a:r>
            <a:endParaRPr/>
          </a:p>
        </p:txBody>
      </p:sp>
      <p:sp>
        <p:nvSpPr>
          <p:cNvPr id="191" name="Google Shape;19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Across all interviews, three things came up consistently. First, anxiety symptoms cluster into physical signs like rapid heartbeat and shortness of breath, emotional signs like panic and loss of control, and cognitive signs like overthinking. Second, the most effective coping methods are breathing techniques, five-senses grounding, and CBT-style cognitive reframing, plus simply talking to someone trusted. Third, and this came up again and again: personalization is not optional. Patients need to choose their own coping tools in advance, therapists need to tailor techniques per patient, and things like language and music preference genuinely matter for whether a patient will actually use the calming action.</a:t>
            </a:r>
            <a:endParaRPr/>
          </a:p>
        </p:txBody>
      </p:sp>
      <p:sp>
        <p:nvSpPr>
          <p:cNvPr id="216" name="Google Shape;21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From those clinical insights, we derived our functional requirements. Patients and therapists register with role-based access. During setup, patients choose their therapist, notification preferences, and preferred calming actions in advance, directly reflecting the personalization finding from our interviews. The system detects anxiety attacks, then offers calming actions like music, breathing, grounding, or an AI chatbot, with the choice of trigger left to the patient: an automatic alert from the jewelry, or a manual click and roll when they recognize the early signs themselves. Patients document episodes, and there's a gamification and community layer for peer support.</a:t>
            </a:r>
            <a:endParaRPr/>
          </a:p>
        </p:txBody>
      </p:sp>
      <p:sp>
        <p:nvSpPr>
          <p:cNvPr id="239" name="Google Shape;23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On the non-functional side, given that this handles sensitive mental health data, privacy and safety are front and center: full anonymity in the community, fast moderation of reported content within 24 hours, and strong performance and uptime guarantees so the system is there when a patient actually needs it.</a:t>
            </a:r>
            <a:endParaRPr/>
          </a:p>
        </p:txBody>
      </p:sp>
      <p:sp>
        <p:nvSpPr>
          <p:cNvPr id="277" name="Google Shape;2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Here's how the full system fits together. On the client side, the smart jewelry's main input is click and roll, a small roller similar to a mouse scroll wheel that lets the patient log how they're feeling or trigger a calming action without looking at their phone, and it streams that data to our React Native mobile app over Bluetooth. That one app serves both patients and therapists. We've also added a separate React admin web app on the client side specifically for our community managers. On the server side, Firestore is our real-time database for profiles, posts, and anxiety logs, Authentication handles role-based access, and when something gets written to Firestore, like a new anxiety episode, that automatically triggers a Cloud Function, which calls Cloud Messaging to alert the therapist. Cloud Storage holds voice recordings and shared media, and we've layered in Next.js with Express for the small number of custom REST endpoints that sit outside Firebase's serverless functions.</a:t>
            </a:r>
            <a:endParaRPr/>
          </a:p>
        </p:txBody>
      </p:sp>
      <p:sp>
        <p:nvSpPr>
          <p:cNvPr id="302" name="Google Shape;30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Four roles use this system. Patients view alerts, use calming actions, and document episodes. The smart jewelry just detects and transmits sensor data — no decisions on its own. Therapists track patient trends and step in during active alerts. Community managers moderate content, removing posts only when a patient's report flags something.</a:t>
            </a:r>
            <a:endParaRPr/>
          </a:p>
        </p:txBody>
      </p:sp>
      <p:sp>
        <p:nvSpPr>
          <p:cNvPr id="364" name="Google Shape;36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our use case diagram. It captures everything we just walked through, the Patient, Smart Jewelry, Therapist, and Community Manager actors, along with how their use cases relate through include and extend relationships. For example, Set Up Profile includes selecting a therapist and setting notification preferences. Use Calming Action generalizes into the four concrete calming actions: music, breathing, grounding, and voice notes. And Report Post, which only the patient can do, extends into the Community Manager's content moderation flow, since a patient's report is what triggers a review. The full Use Case diagram is in our book.</a:t>
            </a:r>
            <a:endParaRPr/>
          </a:p>
        </p:txBody>
      </p:sp>
      <p:sp>
        <p:nvSpPr>
          <p:cNvPr id="392" name="Google Shape;39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activity diagram shows the full flow of an anxiety episode from the jewelry's perspective. The jewelry detects an anxiety attack and notifies the app, which presents the patient with calming options. The patient picks one action, music, breathing, a podcast, or calling the therapist, and the app starts a calming session. The system then checks whether the anxiety has subsided: if not, the patient loops back to try another action; once resolved, the episode is documented and the flow ends.</a:t>
            </a:r>
            <a:endParaRPr/>
          </a:p>
        </p:txBody>
      </p:sp>
      <p:sp>
        <p:nvSpPr>
          <p:cNvPr id="406" name="Google Shape;40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second activity diagram covers the community messaging flow across three lanes: the Patient, the Community Patient receiving a message, and the Community Therapist receiving a message. The patient browses community members, selects a patient or therapist, and sends a message. If the recipient is unavailable, the flow loops back so the patient can pick someone else or exit through the Done decision, rather than getting stuck waiting.</a:t>
            </a:r>
            <a:endParaRPr/>
          </a:p>
        </p:txBody>
      </p:sp>
      <p:sp>
        <p:nvSpPr>
          <p:cNvPr id="415" name="Google Shape;41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wrap up: how will we know this is working? We're targeting 70% adoption among patients and therapists, with 85% or higher satisfaction measured through the System Usability Scale. On the safety side, 95% or more of harmful or reported community content needs to be reviewed within 24 hours. And on the technical side, we're targeting 99% uptime and support for 10,000 or more concurrent users without performance degradation. Phase A gave us the clinical grounding, the requirements, and the full system design. Phase B is where we bring it to life. Thank you, and we're happy to take questions.</a:t>
            </a:r>
            <a:endParaRPr/>
          </a:p>
        </p:txBody>
      </p:sp>
      <p:sp>
        <p:nvSpPr>
          <p:cNvPr id="424" name="Google Shape;42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35.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4.png"/><Relationship Id="rId5" Type="http://schemas.openxmlformats.org/officeDocument/2006/relationships/image" Target="../media/image21.png"/><Relationship Id="rId6"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33.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33.png"/><Relationship Id="rId5" Type="http://schemas.openxmlformats.org/officeDocument/2006/relationships/image" Target="../media/image39.png"/><Relationship Id="rId6" Type="http://schemas.openxmlformats.org/officeDocument/2006/relationships/image" Target="../media/image23.png"/><Relationship Id="rId7" Type="http://schemas.openxmlformats.org/officeDocument/2006/relationships/image" Target="../media/image29.png"/><Relationship Id="rId8"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15.png"/></Relationships>
</file>

<file path=ppt/slides/_rels/slide12.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41.png"/><Relationship Id="rId13" Type="http://schemas.openxmlformats.org/officeDocument/2006/relationships/image" Target="../media/image30.png"/><Relationship Id="rId12" Type="http://schemas.openxmlformats.org/officeDocument/2006/relationships/image" Target="../media/image37.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15.png"/><Relationship Id="rId5" Type="http://schemas.openxmlformats.org/officeDocument/2006/relationships/image" Target="../media/image32.png"/><Relationship Id="rId6" Type="http://schemas.openxmlformats.org/officeDocument/2006/relationships/image" Target="../media/image17.png"/><Relationship Id="rId7" Type="http://schemas.openxmlformats.org/officeDocument/2006/relationships/image" Target="../media/image16.png"/><Relationship Id="rId8"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8.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6.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15" name="Shape 15"/>
        <p:cNvGrpSpPr/>
        <p:nvPr/>
      </p:nvGrpSpPr>
      <p:grpSpPr>
        <a:xfrm>
          <a:off x="0" y="0"/>
          <a:ext cx="0" cy="0"/>
          <a:chOff x="0" y="0"/>
          <a:chExt cx="0" cy="0"/>
        </a:xfrm>
      </p:grpSpPr>
      <p:sp>
        <p:nvSpPr>
          <p:cNvPr id="16" name="Google Shape;16;p1"/>
          <p:cNvSpPr/>
          <p:nvPr/>
        </p:nvSpPr>
        <p:spPr>
          <a:xfrm>
            <a:off x="9082735" y="-1645920"/>
            <a:ext cx="4389120" cy="4389120"/>
          </a:xfrm>
          <a:prstGeom prst="ellipse">
            <a:avLst/>
          </a:prstGeom>
          <a:solidFill>
            <a:srgbClr val="CC828A">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10454335" y="3108960"/>
            <a:ext cx="3108960" cy="3108960"/>
          </a:xfrm>
          <a:prstGeom prst="ellipse">
            <a:avLst/>
          </a:prstGeom>
          <a:solidFill>
            <a:srgbClr val="76A0B5">
              <a:alpha val="2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1097280" y="5029200"/>
            <a:ext cx="2743200" cy="2743200"/>
          </a:xfrm>
          <a:prstGeom prst="ellipse">
            <a:avLst/>
          </a:prstGeom>
          <a:solidFill>
            <a:srgbClr val="D6B355">
              <a:alpha val="219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640080" y="594360"/>
            <a:ext cx="566928" cy="566928"/>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em_i.png" id="20" name="Google Shape;20;p1"/>
          <p:cNvPicPr preferRelativeResize="0"/>
          <p:nvPr/>
        </p:nvPicPr>
        <p:blipFill rotWithShape="1">
          <a:blip r:embed="rId3">
            <a:alphaModFix/>
          </a:blip>
          <a:srcRect b="0" l="0" r="0" t="0"/>
          <a:stretch/>
        </p:blipFill>
        <p:spPr>
          <a:xfrm>
            <a:off x="793151" y="747431"/>
            <a:ext cx="260787" cy="260787"/>
          </a:xfrm>
          <a:prstGeom prst="rect">
            <a:avLst/>
          </a:prstGeom>
          <a:noFill/>
          <a:ln>
            <a:noFill/>
          </a:ln>
        </p:spPr>
      </p:pic>
      <p:sp>
        <p:nvSpPr>
          <p:cNvPr id="21" name="Google Shape;21;p1"/>
          <p:cNvSpPr/>
          <p:nvPr/>
        </p:nvSpPr>
        <p:spPr>
          <a:xfrm>
            <a:off x="1371600" y="603504"/>
            <a:ext cx="54864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200"/>
              <a:buFont typeface="Calibri"/>
              <a:buNone/>
            </a:pPr>
            <a:r>
              <a:rPr b="1" i="0" lang="en-US" sz="1600" u="none" cap="none" strike="noStrike">
                <a:solidFill>
                  <a:srgbClr val="9E4750"/>
                </a:solidFill>
                <a:latin typeface="Calibri"/>
                <a:ea typeface="Calibri"/>
                <a:cs typeface="Calibri"/>
                <a:sym typeface="Calibri"/>
              </a:rPr>
              <a:t>ANXIETY-SUPPORT WEARABLE SYSTEM</a:t>
            </a:r>
            <a:endParaRPr b="0" i="0" sz="1600" u="none" cap="none" strike="noStrike">
              <a:solidFill>
                <a:schemeClr val="dk1"/>
              </a:solidFill>
              <a:latin typeface="Calibri"/>
              <a:ea typeface="Calibri"/>
              <a:cs typeface="Calibri"/>
              <a:sym typeface="Calibri"/>
            </a:endParaRPr>
          </a:p>
        </p:txBody>
      </p:sp>
      <p:sp>
        <p:nvSpPr>
          <p:cNvPr id="22" name="Google Shape;22;p1"/>
          <p:cNvSpPr/>
          <p:nvPr/>
        </p:nvSpPr>
        <p:spPr>
          <a:xfrm>
            <a:off x="640080" y="2286000"/>
            <a:ext cx="9601200" cy="1188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5000"/>
              <a:buFont typeface="Cambria"/>
              <a:buNone/>
            </a:pPr>
            <a:r>
              <a:rPr b="1" i="0" lang="en-US" sz="5000" u="none" cap="none" strike="noStrike">
                <a:solidFill>
                  <a:srgbClr val="2A1F1F"/>
                </a:solidFill>
                <a:latin typeface="Cambria"/>
                <a:ea typeface="Cambria"/>
                <a:cs typeface="Cambria"/>
                <a:sym typeface="Cambria"/>
              </a:rPr>
              <a:t>Jewelry That Cares</a:t>
            </a:r>
            <a:endParaRPr b="0" i="0" sz="5000" u="none" cap="none" strike="noStrike">
              <a:solidFill>
                <a:schemeClr val="dk1"/>
              </a:solidFill>
              <a:latin typeface="Calibri"/>
              <a:ea typeface="Calibri"/>
              <a:cs typeface="Calibri"/>
              <a:sym typeface="Calibri"/>
            </a:endParaRPr>
          </a:p>
        </p:txBody>
      </p:sp>
      <p:sp>
        <p:nvSpPr>
          <p:cNvPr id="23" name="Google Shape;23;p1"/>
          <p:cNvSpPr/>
          <p:nvPr/>
        </p:nvSpPr>
        <p:spPr>
          <a:xfrm>
            <a:off x="640080" y="3337560"/>
            <a:ext cx="86868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53636"/>
              </a:buClr>
              <a:buSzPts val="1900"/>
              <a:buFont typeface="Calibri"/>
              <a:buNone/>
            </a:pPr>
            <a:r>
              <a:rPr b="0" i="1" lang="en-US" sz="1900" u="none" cap="none" strike="noStrike">
                <a:solidFill>
                  <a:srgbClr val="453636"/>
                </a:solidFill>
                <a:latin typeface="Calibri"/>
                <a:ea typeface="Calibri"/>
                <a:cs typeface="Calibri"/>
                <a:sym typeface="Calibri"/>
              </a:rPr>
              <a:t>Harnessing smart jewelry for emotional well-being</a:t>
            </a:r>
            <a:endParaRPr b="0" i="0" sz="1900" u="none" cap="none" strike="noStrike">
              <a:solidFill>
                <a:schemeClr val="dk1"/>
              </a:solidFill>
              <a:latin typeface="Calibri"/>
              <a:ea typeface="Calibri"/>
              <a:cs typeface="Calibri"/>
              <a:sym typeface="Calibri"/>
            </a:endParaRPr>
          </a:p>
        </p:txBody>
      </p:sp>
      <p:cxnSp>
        <p:nvCxnSpPr>
          <p:cNvPr id="24" name="Google Shape;24;p1"/>
          <p:cNvCxnSpPr/>
          <p:nvPr/>
        </p:nvCxnSpPr>
        <p:spPr>
          <a:xfrm>
            <a:off x="658368" y="4160520"/>
            <a:ext cx="1280160" cy="0"/>
          </a:xfrm>
          <a:prstGeom prst="straightConnector1">
            <a:avLst/>
          </a:prstGeom>
          <a:noFill/>
          <a:ln cap="flat" cmpd="sng" w="19050">
            <a:solidFill>
              <a:srgbClr val="CC828A"/>
            </a:solidFill>
            <a:prstDash val="solid"/>
            <a:round/>
            <a:headEnd len="sm" w="sm" type="none"/>
            <a:tailEnd len="sm" w="sm" type="none"/>
          </a:ln>
        </p:spPr>
      </p:cxnSp>
      <p:sp>
        <p:nvSpPr>
          <p:cNvPr id="25" name="Google Shape;25;p1"/>
          <p:cNvSpPr/>
          <p:nvPr/>
        </p:nvSpPr>
        <p:spPr>
          <a:xfrm>
            <a:off x="640080" y="4343400"/>
            <a:ext cx="54864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53636"/>
              </a:buClr>
              <a:buSzPts val="1400"/>
              <a:buFont typeface="Calibri"/>
              <a:buNone/>
            </a:pPr>
            <a:r>
              <a:rPr b="0" i="0" lang="en-US" sz="1750" u="none" cap="none" strike="noStrike">
                <a:solidFill>
                  <a:srgbClr val="453636"/>
                </a:solidFill>
                <a:latin typeface="Calibri"/>
                <a:ea typeface="Calibri"/>
                <a:cs typeface="Calibri"/>
                <a:sym typeface="Calibri"/>
              </a:rPr>
              <a:t>Capstone Project, Phase A</a:t>
            </a:r>
            <a:endParaRPr b="0" i="0" sz="1750" u="none" cap="none" strike="noStrike">
              <a:solidFill>
                <a:schemeClr val="dk1"/>
              </a:solidFill>
              <a:latin typeface="Calibri"/>
              <a:ea typeface="Calibri"/>
              <a:cs typeface="Calibri"/>
              <a:sym typeface="Calibri"/>
            </a:endParaRPr>
          </a:p>
        </p:txBody>
      </p:sp>
      <p:sp>
        <p:nvSpPr>
          <p:cNvPr id="26" name="Google Shape;26;p1"/>
          <p:cNvSpPr/>
          <p:nvPr/>
        </p:nvSpPr>
        <p:spPr>
          <a:xfrm>
            <a:off x="640080" y="4709160"/>
            <a:ext cx="54864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400"/>
              <a:buFont typeface="Calibri"/>
              <a:buNone/>
            </a:pPr>
            <a:r>
              <a:rPr b="1" i="0" lang="en-US" sz="1600" u="none" cap="none" strike="noStrike">
                <a:solidFill>
                  <a:srgbClr val="2A1F1F"/>
                </a:solidFill>
                <a:latin typeface="Calibri"/>
                <a:ea typeface="Calibri"/>
                <a:cs typeface="Calibri"/>
                <a:sym typeface="Calibri"/>
              </a:rPr>
              <a:t>Alaa Barazi  &amp;  Noor Zid Elkelani</a:t>
            </a:r>
            <a:endParaRPr b="0" i="0" sz="1600" u="none" cap="none" strike="noStrike">
              <a:solidFill>
                <a:schemeClr val="dk1"/>
              </a:solidFill>
              <a:latin typeface="Calibri"/>
              <a:ea typeface="Calibri"/>
              <a:cs typeface="Calibri"/>
              <a:sym typeface="Calibri"/>
            </a:endParaRPr>
          </a:p>
        </p:txBody>
      </p:sp>
      <p:sp>
        <p:nvSpPr>
          <p:cNvPr id="27" name="Google Shape;27;p1"/>
          <p:cNvSpPr/>
          <p:nvPr/>
        </p:nvSpPr>
        <p:spPr>
          <a:xfrm>
            <a:off x="640080" y="5074920"/>
            <a:ext cx="54864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53636"/>
              </a:buClr>
              <a:buSzPts val="1300"/>
              <a:buFont typeface="Calibri"/>
              <a:buNone/>
            </a:pPr>
            <a:r>
              <a:rPr b="1" i="0" lang="en-US" sz="1800" u="none" cap="none" strike="noStrike">
                <a:solidFill>
                  <a:srgbClr val="453636"/>
                </a:solidFill>
                <a:latin typeface="Calibri"/>
                <a:ea typeface="Calibri"/>
                <a:cs typeface="Calibri"/>
                <a:sym typeface="Calibri"/>
              </a:rPr>
              <a:t>Advisor: Dr. Naomi Unkelos Shpigel</a:t>
            </a:r>
            <a:endParaRPr b="1" i="0" sz="1800" u="none" cap="none" strike="noStrike">
              <a:solidFill>
                <a:schemeClr val="dk1"/>
              </a:solidFill>
              <a:latin typeface="Calibri"/>
              <a:ea typeface="Calibri"/>
              <a:cs typeface="Calibri"/>
              <a:sym typeface="Calibri"/>
            </a:endParaRPr>
          </a:p>
        </p:txBody>
      </p:sp>
      <p:sp>
        <p:nvSpPr>
          <p:cNvPr id="28" name="Google Shape;28;p1"/>
          <p:cNvSpPr/>
          <p:nvPr/>
        </p:nvSpPr>
        <p:spPr>
          <a:xfrm>
            <a:off x="640080" y="626364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34F4F"/>
              </a:buClr>
              <a:buSzPts val="1100"/>
              <a:buFont typeface="Calibri"/>
              <a:buNone/>
            </a:pPr>
            <a:r>
              <a:rPr b="0" i="0" lang="en-US" sz="1600" u="none" cap="none" strike="noStrike">
                <a:solidFill>
                  <a:srgbClr val="634F4F"/>
                </a:solidFill>
                <a:latin typeface="Calibri"/>
                <a:ea typeface="Calibri"/>
                <a:cs typeface="Calibri"/>
                <a:sym typeface="Calibri"/>
              </a:rPr>
              <a:t>Software Engineering Department  |  Project Code 26-2-D-9</a:t>
            </a:r>
            <a:endParaRPr b="0" i="0" sz="1600" u="none" cap="none" strike="noStrike">
              <a:solidFill>
                <a:schemeClr val="dk1"/>
              </a:solidFill>
              <a:latin typeface="Calibri"/>
              <a:ea typeface="Calibri"/>
              <a:cs typeface="Calibri"/>
              <a:sym typeface="Calibri"/>
            </a:endParaRPr>
          </a:p>
        </p:txBody>
      </p:sp>
      <p:sp>
        <p:nvSpPr>
          <p:cNvPr id="29" name="Google Shape;29;p1"/>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34" name="Shape 34"/>
        <p:cNvGrpSpPr/>
        <p:nvPr/>
      </p:nvGrpSpPr>
      <p:grpSpPr>
        <a:xfrm>
          <a:off x="0" y="0"/>
          <a:ext cx="0" cy="0"/>
          <a:chOff x="0" y="0"/>
          <a:chExt cx="0" cy="0"/>
        </a:xfrm>
      </p:grpSpPr>
      <p:sp>
        <p:nvSpPr>
          <p:cNvPr id="35" name="Google Shape;35;p2"/>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INTRODUCTION</a:t>
            </a:r>
            <a:endParaRPr b="0" i="0" sz="1700" u="none" cap="none" strike="noStrike">
              <a:solidFill>
                <a:schemeClr val="dk1"/>
              </a:solidFill>
              <a:latin typeface="Calibri"/>
              <a:ea typeface="Calibri"/>
              <a:cs typeface="Calibri"/>
              <a:sym typeface="Calibri"/>
            </a:endParaRPr>
          </a:p>
        </p:txBody>
      </p:sp>
      <p:sp>
        <p:nvSpPr>
          <p:cNvPr id="36" name="Google Shape;36;p2"/>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The problem we are solving</a:t>
            </a:r>
            <a:endParaRPr b="0" i="0" sz="3200" u="none" cap="none" strike="noStrike">
              <a:solidFill>
                <a:schemeClr val="dk1"/>
              </a:solidFill>
              <a:latin typeface="Calibri"/>
              <a:ea typeface="Calibri"/>
              <a:cs typeface="Calibri"/>
              <a:sym typeface="Calibri"/>
            </a:endParaRPr>
          </a:p>
        </p:txBody>
      </p:sp>
      <p:sp>
        <p:nvSpPr>
          <p:cNvPr id="37" name="Google Shape;37;p2"/>
          <p:cNvSpPr/>
          <p:nvPr/>
        </p:nvSpPr>
        <p:spPr>
          <a:xfrm>
            <a:off x="548640" y="1600200"/>
            <a:ext cx="3419856" cy="4206240"/>
          </a:xfrm>
          <a:prstGeom prst="roundRect">
            <a:avLst>
              <a:gd fmla="val 2406"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1869948" y="2057400"/>
            <a:ext cx="777240" cy="777240"/>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heart_pulse_i.png" id="39" name="Google Shape;39;p2"/>
          <p:cNvPicPr preferRelativeResize="0"/>
          <p:nvPr/>
        </p:nvPicPr>
        <p:blipFill rotWithShape="1">
          <a:blip r:embed="rId3">
            <a:alphaModFix/>
          </a:blip>
          <a:srcRect b="0" l="0" r="0" t="0"/>
          <a:stretch/>
        </p:blipFill>
        <p:spPr>
          <a:xfrm>
            <a:off x="2079803" y="2267255"/>
            <a:ext cx="357530" cy="357530"/>
          </a:xfrm>
          <a:prstGeom prst="rect">
            <a:avLst/>
          </a:prstGeom>
          <a:noFill/>
          <a:ln>
            <a:noFill/>
          </a:ln>
        </p:spPr>
      </p:pic>
      <p:sp>
        <p:nvSpPr>
          <p:cNvPr id="40" name="Google Shape;40;p2"/>
          <p:cNvSpPr/>
          <p:nvPr/>
        </p:nvSpPr>
        <p:spPr>
          <a:xfrm>
            <a:off x="841248" y="3108960"/>
            <a:ext cx="28346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1900"/>
              <a:buFont typeface="Cambria"/>
              <a:buNone/>
            </a:pPr>
            <a:r>
              <a:rPr b="1" i="0" lang="en-US" sz="1900" u="none" cap="none" strike="noStrike">
                <a:solidFill>
                  <a:srgbClr val="2A1F1F"/>
                </a:solidFill>
                <a:latin typeface="Cambria"/>
                <a:ea typeface="Cambria"/>
                <a:cs typeface="Cambria"/>
                <a:sym typeface="Cambria"/>
              </a:rPr>
              <a:t>Anxiety prevalence</a:t>
            </a:r>
            <a:endParaRPr b="0" i="0" sz="1900" u="none" cap="none" strike="noStrike">
              <a:solidFill>
                <a:schemeClr val="dk1"/>
              </a:solidFill>
              <a:latin typeface="Calibri"/>
              <a:ea typeface="Calibri"/>
              <a:cs typeface="Calibri"/>
              <a:sym typeface="Calibri"/>
            </a:endParaRPr>
          </a:p>
        </p:txBody>
      </p:sp>
      <p:sp>
        <p:nvSpPr>
          <p:cNvPr id="41" name="Google Shape;41;p2"/>
          <p:cNvSpPr/>
          <p:nvPr/>
        </p:nvSpPr>
        <p:spPr>
          <a:xfrm>
            <a:off x="914400" y="3749040"/>
            <a:ext cx="2688336" cy="18288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453636"/>
              </a:buClr>
              <a:buSzPts val="1500"/>
              <a:buFont typeface="Calibri"/>
              <a:buNone/>
            </a:pPr>
            <a:r>
              <a:rPr b="0" i="0" lang="en-US" sz="1800" u="none" cap="none" strike="noStrike">
                <a:solidFill>
                  <a:srgbClr val="453636"/>
                </a:solidFill>
                <a:latin typeface="Calibri"/>
                <a:ea typeface="Calibri"/>
                <a:cs typeface="Calibri"/>
                <a:sym typeface="Calibri"/>
              </a:rPr>
              <a:t>Most prevalent mental health challenges globally.</a:t>
            </a:r>
            <a:endParaRPr b="0" i="0" sz="1800" u="none" cap="none" strike="noStrike">
              <a:solidFill>
                <a:schemeClr val="dk1"/>
              </a:solidFill>
              <a:latin typeface="Calibri"/>
              <a:ea typeface="Calibri"/>
              <a:cs typeface="Calibri"/>
              <a:sym typeface="Calibri"/>
            </a:endParaRPr>
          </a:p>
        </p:txBody>
      </p:sp>
      <p:sp>
        <p:nvSpPr>
          <p:cNvPr id="42" name="Google Shape;42;p2"/>
          <p:cNvSpPr/>
          <p:nvPr/>
        </p:nvSpPr>
        <p:spPr>
          <a:xfrm>
            <a:off x="4224528" y="1600200"/>
            <a:ext cx="3419856" cy="4206240"/>
          </a:xfrm>
          <a:prstGeom prst="roundRect">
            <a:avLst>
              <a:gd fmla="val 2406"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5545836" y="2057400"/>
            <a:ext cx="777240" cy="777240"/>
          </a:xfrm>
          <a:prstGeom prst="ellipse">
            <a:avLst/>
          </a:prstGeom>
          <a:solidFill>
            <a:srgbClr val="DCE9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riangle_alert_i.png" id="44" name="Google Shape;44;p2"/>
          <p:cNvPicPr preferRelativeResize="0"/>
          <p:nvPr/>
        </p:nvPicPr>
        <p:blipFill rotWithShape="1">
          <a:blip r:embed="rId4">
            <a:alphaModFix/>
          </a:blip>
          <a:srcRect b="0" l="0" r="0" t="0"/>
          <a:stretch/>
        </p:blipFill>
        <p:spPr>
          <a:xfrm>
            <a:off x="5755691" y="2267255"/>
            <a:ext cx="357530" cy="357530"/>
          </a:xfrm>
          <a:prstGeom prst="rect">
            <a:avLst/>
          </a:prstGeom>
          <a:noFill/>
          <a:ln>
            <a:noFill/>
          </a:ln>
        </p:spPr>
      </p:pic>
      <p:sp>
        <p:nvSpPr>
          <p:cNvPr id="45" name="Google Shape;45;p2"/>
          <p:cNvSpPr/>
          <p:nvPr/>
        </p:nvSpPr>
        <p:spPr>
          <a:xfrm>
            <a:off x="4517136" y="3108960"/>
            <a:ext cx="28346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1900"/>
              <a:buFont typeface="Cambria"/>
              <a:buNone/>
            </a:pPr>
            <a:r>
              <a:rPr b="1" i="0" lang="en-US" sz="1900" u="none" cap="none" strike="noStrike">
                <a:solidFill>
                  <a:srgbClr val="2A1F1F"/>
                </a:solidFill>
                <a:latin typeface="Cambria"/>
                <a:ea typeface="Cambria"/>
                <a:cs typeface="Cambria"/>
                <a:sym typeface="Cambria"/>
              </a:rPr>
              <a:t>A gap in support</a:t>
            </a:r>
            <a:endParaRPr b="0" i="0" sz="1900" u="none" cap="none" strike="noStrike">
              <a:solidFill>
                <a:schemeClr val="dk1"/>
              </a:solidFill>
              <a:latin typeface="Calibri"/>
              <a:ea typeface="Calibri"/>
              <a:cs typeface="Calibri"/>
              <a:sym typeface="Calibri"/>
            </a:endParaRPr>
          </a:p>
        </p:txBody>
      </p:sp>
      <p:sp>
        <p:nvSpPr>
          <p:cNvPr id="46" name="Google Shape;46;p2"/>
          <p:cNvSpPr/>
          <p:nvPr/>
        </p:nvSpPr>
        <p:spPr>
          <a:xfrm>
            <a:off x="4590288" y="3749040"/>
            <a:ext cx="2688336" cy="18288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453636"/>
              </a:buClr>
              <a:buSzPts val="1500"/>
              <a:buFont typeface="Calibri"/>
              <a:buNone/>
            </a:pPr>
            <a:r>
              <a:rPr b="0" i="0" lang="en-US" sz="1800" u="none" cap="none" strike="noStrike">
                <a:solidFill>
                  <a:srgbClr val="453636"/>
                </a:solidFill>
                <a:latin typeface="Calibri"/>
                <a:ea typeface="Calibri"/>
                <a:cs typeface="Calibri"/>
                <a:sym typeface="Calibri"/>
              </a:rPr>
              <a:t>Therapy helps, but it’s not there in the moment..</a:t>
            </a:r>
            <a:endParaRPr b="0" i="0" sz="1800" u="none" cap="none" strike="noStrike">
              <a:solidFill>
                <a:schemeClr val="dk1"/>
              </a:solidFill>
              <a:latin typeface="Calibri"/>
              <a:ea typeface="Calibri"/>
              <a:cs typeface="Calibri"/>
              <a:sym typeface="Calibri"/>
            </a:endParaRPr>
          </a:p>
        </p:txBody>
      </p:sp>
      <p:sp>
        <p:nvSpPr>
          <p:cNvPr id="47" name="Google Shape;47;p2"/>
          <p:cNvSpPr/>
          <p:nvPr/>
        </p:nvSpPr>
        <p:spPr>
          <a:xfrm>
            <a:off x="7900416" y="1600200"/>
            <a:ext cx="3419856" cy="4206240"/>
          </a:xfrm>
          <a:prstGeom prst="roundRect">
            <a:avLst>
              <a:gd fmla="val 2406"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9221724" y="2057400"/>
            <a:ext cx="777240" cy="777240"/>
          </a:xfrm>
          <a:prstGeom prst="ellipse">
            <a:avLst/>
          </a:prstGeom>
          <a:solidFill>
            <a:srgbClr val="F5EA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ightbulb_i.png" id="49" name="Google Shape;49;p2"/>
          <p:cNvPicPr preferRelativeResize="0"/>
          <p:nvPr/>
        </p:nvPicPr>
        <p:blipFill rotWithShape="1">
          <a:blip r:embed="rId5">
            <a:alphaModFix/>
          </a:blip>
          <a:srcRect b="0" l="0" r="0" t="0"/>
          <a:stretch/>
        </p:blipFill>
        <p:spPr>
          <a:xfrm>
            <a:off x="9431579" y="2267255"/>
            <a:ext cx="357530" cy="357530"/>
          </a:xfrm>
          <a:prstGeom prst="rect">
            <a:avLst/>
          </a:prstGeom>
          <a:noFill/>
          <a:ln>
            <a:noFill/>
          </a:ln>
        </p:spPr>
      </p:pic>
      <p:sp>
        <p:nvSpPr>
          <p:cNvPr id="50" name="Google Shape;50;p2"/>
          <p:cNvSpPr/>
          <p:nvPr/>
        </p:nvSpPr>
        <p:spPr>
          <a:xfrm>
            <a:off x="8193024" y="3108960"/>
            <a:ext cx="28346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1900"/>
              <a:buFont typeface="Cambria"/>
              <a:buNone/>
            </a:pPr>
            <a:r>
              <a:rPr b="1" i="0" lang="en-US" sz="1900" u="none" cap="none" strike="noStrike">
                <a:solidFill>
                  <a:srgbClr val="2A1F1F"/>
                </a:solidFill>
                <a:latin typeface="Cambria"/>
                <a:ea typeface="Cambria"/>
                <a:cs typeface="Cambria"/>
                <a:sym typeface="Cambria"/>
              </a:rPr>
              <a:t>A technology opportunity</a:t>
            </a:r>
            <a:endParaRPr b="0" i="0" sz="1900" u="none" cap="none" strike="noStrike">
              <a:solidFill>
                <a:schemeClr val="dk1"/>
              </a:solidFill>
              <a:latin typeface="Calibri"/>
              <a:ea typeface="Calibri"/>
              <a:cs typeface="Calibri"/>
              <a:sym typeface="Calibri"/>
            </a:endParaRPr>
          </a:p>
        </p:txBody>
      </p:sp>
      <p:sp>
        <p:nvSpPr>
          <p:cNvPr id="51" name="Google Shape;51;p2"/>
          <p:cNvSpPr/>
          <p:nvPr/>
        </p:nvSpPr>
        <p:spPr>
          <a:xfrm>
            <a:off x="8266176" y="3749040"/>
            <a:ext cx="2688336" cy="18288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453636"/>
              </a:buClr>
              <a:buSzPts val="1500"/>
              <a:buFont typeface="Calibri"/>
              <a:buNone/>
            </a:pPr>
            <a:r>
              <a:rPr b="0" i="0" lang="en-US" sz="1800" u="none" cap="none" strike="noStrike">
                <a:solidFill>
                  <a:srgbClr val="453636"/>
                </a:solidFill>
                <a:latin typeface="Calibri"/>
                <a:ea typeface="Calibri"/>
                <a:cs typeface="Calibri"/>
                <a:sym typeface="Calibri"/>
              </a:rPr>
              <a:t>Wearable  + AI offer a huge change. </a:t>
            </a:r>
            <a:endParaRPr b="0" i="0" sz="1800" u="none" cap="none" strike="noStrike">
              <a:solidFill>
                <a:schemeClr val="dk1"/>
              </a:solidFill>
              <a:latin typeface="Calibri"/>
              <a:ea typeface="Calibri"/>
              <a:cs typeface="Calibri"/>
              <a:sym typeface="Calibri"/>
            </a:endParaRPr>
          </a:p>
        </p:txBody>
      </p:sp>
      <p:sp>
        <p:nvSpPr>
          <p:cNvPr id="52" name="Google Shape;52;p2"/>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57" name="Shape 57"/>
        <p:cNvGrpSpPr/>
        <p:nvPr/>
      </p:nvGrpSpPr>
      <p:grpSpPr>
        <a:xfrm>
          <a:off x="0" y="0"/>
          <a:ext cx="0" cy="0"/>
          <a:chOff x="0" y="0"/>
          <a:chExt cx="0" cy="0"/>
        </a:xfrm>
      </p:grpSpPr>
      <p:sp>
        <p:nvSpPr>
          <p:cNvPr id="58" name="Google Shape;58;p17"/>
          <p:cNvSpPr/>
          <p:nvPr/>
        </p:nvSpPr>
        <p:spPr>
          <a:xfrm>
            <a:off x="548640" y="310896"/>
            <a:ext cx="8229600" cy="2926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9E4750"/>
              </a:buClr>
              <a:buSzPts val="1700"/>
              <a:buFont typeface="Calibri"/>
              <a:buNone/>
            </a:pPr>
            <a:r>
              <a:rPr b="1" i="0" lang="en-US" sz="1700" u="none" cap="none" strike="noStrike">
                <a:solidFill>
                  <a:srgbClr val="9E4750"/>
                </a:solidFill>
                <a:latin typeface="Calibri"/>
                <a:ea typeface="Calibri"/>
                <a:cs typeface="Calibri"/>
                <a:sym typeface="Calibri"/>
              </a:rPr>
              <a:t>PROJECT TIMELINE</a:t>
            </a:r>
            <a:endParaRPr b="0" i="0" sz="1700" u="none" cap="none" strike="noStrike">
              <a:solidFill>
                <a:schemeClr val="dk1"/>
              </a:solidFill>
              <a:latin typeface="Calibri"/>
              <a:ea typeface="Calibri"/>
              <a:cs typeface="Calibri"/>
              <a:sym typeface="Calibri"/>
            </a:endParaRPr>
          </a:p>
        </p:txBody>
      </p:sp>
      <p:sp>
        <p:nvSpPr>
          <p:cNvPr id="59" name="Google Shape;59;p17"/>
          <p:cNvSpPr/>
          <p:nvPr/>
        </p:nvSpPr>
        <p:spPr>
          <a:xfrm>
            <a:off x="548640" y="566928"/>
            <a:ext cx="10789920" cy="5943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Our journey: from research to system design</a:t>
            </a:r>
            <a:endParaRPr b="0" i="0" sz="3200" u="none" cap="none" strike="noStrike">
              <a:solidFill>
                <a:schemeClr val="dk1"/>
              </a:solidFill>
              <a:latin typeface="Calibri"/>
              <a:ea typeface="Calibri"/>
              <a:cs typeface="Calibri"/>
              <a:sym typeface="Calibri"/>
            </a:endParaRPr>
          </a:p>
        </p:txBody>
      </p:sp>
      <p:sp>
        <p:nvSpPr>
          <p:cNvPr id="60" name="Google Shape;60;p17"/>
          <p:cNvSpPr/>
          <p:nvPr/>
        </p:nvSpPr>
        <p:spPr>
          <a:xfrm>
            <a:off x="600000" y="1880000"/>
            <a:ext cx="200000" cy="200000"/>
          </a:xfrm>
          <a:prstGeom prst="ellipse">
            <a:avLst/>
          </a:prstGeom>
          <a:solidFill>
            <a:srgbClr val="9E4750"/>
          </a:solidFill>
          <a:ln cap="flat" cmpd="sng" w="28575">
            <a:solidFill>
              <a:srgbClr val="FCF7F4"/>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7"/>
          <p:cNvSpPr/>
          <p:nvPr/>
        </p:nvSpPr>
        <p:spPr>
          <a:xfrm>
            <a:off x="850000" y="1880000"/>
            <a:ext cx="2200000" cy="230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A1F1F"/>
              </a:buClr>
              <a:buSzPts val="1300"/>
              <a:buFont typeface="Calibri"/>
              <a:buNone/>
            </a:pPr>
            <a:r>
              <a:rPr b="1" i="0" lang="en-US" sz="1300" u="none" cap="none" strike="noStrike">
                <a:solidFill>
                  <a:srgbClr val="2A1F1F"/>
                </a:solidFill>
                <a:latin typeface="Calibri"/>
                <a:ea typeface="Calibri"/>
                <a:cs typeface="Calibri"/>
                <a:sym typeface="Calibri"/>
              </a:rPr>
              <a:t>Phase A — completed</a:t>
            </a:r>
            <a:endParaRPr b="0" i="0" sz="1300" u="none" cap="none" strike="noStrike">
              <a:solidFill>
                <a:schemeClr val="dk1"/>
              </a:solidFill>
              <a:latin typeface="Calibri"/>
              <a:ea typeface="Calibri"/>
              <a:cs typeface="Calibri"/>
              <a:sym typeface="Calibri"/>
            </a:endParaRPr>
          </a:p>
        </p:txBody>
      </p:sp>
      <p:sp>
        <p:nvSpPr>
          <p:cNvPr id="62" name="Google Shape;62;p17"/>
          <p:cNvSpPr/>
          <p:nvPr/>
        </p:nvSpPr>
        <p:spPr>
          <a:xfrm>
            <a:off x="3050000" y="1880000"/>
            <a:ext cx="200000" cy="200000"/>
          </a:xfrm>
          <a:prstGeom prst="ellipse">
            <a:avLst/>
          </a:prstGeom>
          <a:solidFill>
            <a:srgbClr val="3B6377"/>
          </a:solidFill>
          <a:ln cap="flat" cmpd="sng" w="28575">
            <a:solidFill>
              <a:srgbClr val="FCF7F4"/>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7"/>
          <p:cNvSpPr/>
          <p:nvPr/>
        </p:nvSpPr>
        <p:spPr>
          <a:xfrm>
            <a:off x="3300000" y="1880000"/>
            <a:ext cx="2200000" cy="230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A1F1F"/>
              </a:buClr>
              <a:buSzPts val="1300"/>
              <a:buFont typeface="Calibri"/>
              <a:buNone/>
            </a:pPr>
            <a:r>
              <a:rPr b="1" i="0" lang="en-US" sz="1300" u="none" cap="none" strike="noStrike">
                <a:solidFill>
                  <a:srgbClr val="2A1F1F"/>
                </a:solidFill>
                <a:latin typeface="Calibri"/>
                <a:ea typeface="Calibri"/>
                <a:cs typeface="Calibri"/>
                <a:sym typeface="Calibri"/>
              </a:rPr>
              <a:t>Phase B — planned</a:t>
            </a:r>
            <a:endParaRPr b="0" i="0" sz="1300" u="none" cap="none" strike="noStrike">
              <a:solidFill>
                <a:schemeClr val="dk1"/>
              </a:solidFill>
              <a:latin typeface="Calibri"/>
              <a:ea typeface="Calibri"/>
              <a:cs typeface="Calibri"/>
              <a:sym typeface="Calibri"/>
            </a:endParaRPr>
          </a:p>
        </p:txBody>
      </p:sp>
      <p:cxnSp>
        <p:nvCxnSpPr>
          <p:cNvPr id="64" name="Google Shape;64;p17"/>
          <p:cNvCxnSpPr/>
          <p:nvPr/>
        </p:nvCxnSpPr>
        <p:spPr>
          <a:xfrm>
            <a:off x="850000" y="4150000"/>
            <a:ext cx="5245000" cy="0"/>
          </a:xfrm>
          <a:prstGeom prst="straightConnector1">
            <a:avLst/>
          </a:prstGeom>
          <a:noFill/>
          <a:ln cap="flat" cmpd="sng" w="28575">
            <a:solidFill>
              <a:srgbClr val="9E4750"/>
            </a:solidFill>
            <a:prstDash val="solid"/>
            <a:round/>
            <a:headEnd len="sm" w="sm" type="none"/>
            <a:tailEnd len="sm" w="sm" type="none"/>
          </a:ln>
        </p:spPr>
      </p:cxnSp>
      <p:cxnSp>
        <p:nvCxnSpPr>
          <p:cNvPr id="65" name="Google Shape;65;p17"/>
          <p:cNvCxnSpPr/>
          <p:nvPr/>
        </p:nvCxnSpPr>
        <p:spPr>
          <a:xfrm>
            <a:off x="6095000" y="4150000"/>
            <a:ext cx="5245000" cy="0"/>
          </a:xfrm>
          <a:prstGeom prst="straightConnector1">
            <a:avLst/>
          </a:prstGeom>
          <a:noFill/>
          <a:ln cap="flat" cmpd="sng" w="28575">
            <a:solidFill>
              <a:srgbClr val="3B6377"/>
            </a:solidFill>
            <a:prstDash val="solid"/>
            <a:round/>
            <a:headEnd len="sm" w="sm" type="none"/>
            <a:tailEnd len="sm" w="sm" type="none"/>
          </a:ln>
        </p:spPr>
      </p:cxnSp>
      <p:sp>
        <p:nvSpPr>
          <p:cNvPr id="66" name="Google Shape;66;p17"/>
          <p:cNvSpPr/>
          <p:nvPr/>
        </p:nvSpPr>
        <p:spPr>
          <a:xfrm>
            <a:off x="720000" y="4020000"/>
            <a:ext cx="260000" cy="260000"/>
          </a:xfrm>
          <a:prstGeom prst="ellipse">
            <a:avLst/>
          </a:prstGeom>
          <a:solidFill>
            <a:srgbClr val="9E4750"/>
          </a:solidFill>
          <a:ln cap="flat" cmpd="sng" w="28575">
            <a:solidFill>
              <a:srgbClr val="FCF7F4"/>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7" name="Google Shape;67;p17"/>
          <p:cNvCxnSpPr/>
          <p:nvPr/>
        </p:nvCxnSpPr>
        <p:spPr>
          <a:xfrm>
            <a:off x="850000" y="3890000"/>
            <a:ext cx="0" cy="130000"/>
          </a:xfrm>
          <a:prstGeom prst="straightConnector1">
            <a:avLst/>
          </a:prstGeom>
          <a:noFill/>
          <a:ln cap="flat" cmpd="sng" w="19050">
            <a:solidFill>
              <a:srgbClr val="9E4750"/>
            </a:solidFill>
            <a:prstDash val="solid"/>
            <a:round/>
            <a:headEnd len="sm" w="sm" type="none"/>
            <a:tailEnd len="sm" w="sm" type="none"/>
          </a:ln>
        </p:spPr>
      </p:cxnSp>
      <p:sp>
        <p:nvSpPr>
          <p:cNvPr id="68" name="Google Shape;68;p17"/>
          <p:cNvSpPr/>
          <p:nvPr/>
        </p:nvSpPr>
        <p:spPr>
          <a:xfrm>
            <a:off x="204522" y="2857217"/>
            <a:ext cx="1560000" cy="22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9E4750"/>
              </a:buClr>
              <a:buSzPts val="1300"/>
              <a:buFont typeface="Calibri"/>
              <a:buNone/>
            </a:pPr>
            <a:r>
              <a:rPr b="1" i="0" lang="en-US" sz="1300" u="none" cap="none" strike="noStrike">
                <a:solidFill>
                  <a:srgbClr val="9E4750"/>
                </a:solidFill>
                <a:latin typeface="Calibri"/>
                <a:ea typeface="Calibri"/>
                <a:cs typeface="Calibri"/>
                <a:sym typeface="Calibri"/>
              </a:rPr>
              <a:t>MARCH</a:t>
            </a:r>
            <a:endParaRPr b="0" i="0" sz="1300" u="none" cap="none" strike="noStrike">
              <a:solidFill>
                <a:schemeClr val="dk1"/>
              </a:solidFill>
              <a:latin typeface="Calibri"/>
              <a:ea typeface="Calibri"/>
              <a:cs typeface="Calibri"/>
              <a:sym typeface="Calibri"/>
            </a:endParaRPr>
          </a:p>
        </p:txBody>
      </p:sp>
      <p:sp>
        <p:nvSpPr>
          <p:cNvPr id="69" name="Google Shape;69;p17"/>
          <p:cNvSpPr/>
          <p:nvPr/>
        </p:nvSpPr>
        <p:spPr>
          <a:xfrm>
            <a:off x="183581" y="3236917"/>
            <a:ext cx="1560000" cy="563081"/>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A1F1F"/>
              </a:buClr>
              <a:buSzPts val="1500"/>
              <a:buFont typeface="Cambria"/>
              <a:buNone/>
            </a:pPr>
            <a:r>
              <a:rPr b="1" i="0" lang="en-US" sz="1600" u="none" cap="none" strike="noStrike">
                <a:solidFill>
                  <a:srgbClr val="2A1F1F"/>
                </a:solidFill>
                <a:latin typeface="Cambria"/>
                <a:ea typeface="Cambria"/>
                <a:cs typeface="Cambria"/>
                <a:sym typeface="Cambria"/>
              </a:rPr>
              <a:t>Literature</a:t>
            </a:r>
            <a:r>
              <a:rPr b="1" i="0" lang="en-US" sz="1500" u="none" cap="none" strike="noStrike">
                <a:solidFill>
                  <a:srgbClr val="2A1F1F"/>
                </a:solidFill>
                <a:latin typeface="Cambria"/>
                <a:ea typeface="Cambria"/>
                <a:cs typeface="Cambria"/>
                <a:sym typeface="Cambria"/>
              </a:rPr>
              <a:t> review</a:t>
            </a:r>
            <a:endParaRPr b="0" i="0" sz="1500" u="none" cap="none" strike="noStrike">
              <a:solidFill>
                <a:schemeClr val="dk1"/>
              </a:solidFill>
              <a:latin typeface="Calibri"/>
              <a:ea typeface="Calibri"/>
              <a:cs typeface="Calibri"/>
              <a:sym typeface="Calibri"/>
            </a:endParaRPr>
          </a:p>
        </p:txBody>
      </p:sp>
      <p:sp>
        <p:nvSpPr>
          <p:cNvPr id="70" name="Google Shape;70;p17"/>
          <p:cNvSpPr/>
          <p:nvPr/>
        </p:nvSpPr>
        <p:spPr>
          <a:xfrm>
            <a:off x="2218571" y="4020000"/>
            <a:ext cx="260000" cy="260000"/>
          </a:xfrm>
          <a:prstGeom prst="ellipse">
            <a:avLst/>
          </a:prstGeom>
          <a:solidFill>
            <a:srgbClr val="9E4750"/>
          </a:solidFill>
          <a:ln cap="flat" cmpd="sng" w="28575">
            <a:solidFill>
              <a:srgbClr val="FCF7F4"/>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1" name="Google Shape;71;p17"/>
          <p:cNvCxnSpPr/>
          <p:nvPr/>
        </p:nvCxnSpPr>
        <p:spPr>
          <a:xfrm>
            <a:off x="2348571" y="4280000"/>
            <a:ext cx="0" cy="130000"/>
          </a:xfrm>
          <a:prstGeom prst="straightConnector1">
            <a:avLst/>
          </a:prstGeom>
          <a:noFill/>
          <a:ln cap="flat" cmpd="sng" w="19050">
            <a:solidFill>
              <a:srgbClr val="9E4750"/>
            </a:solidFill>
            <a:prstDash val="solid"/>
            <a:round/>
            <a:headEnd len="sm" w="sm" type="none"/>
            <a:tailEnd len="sm" w="sm" type="none"/>
          </a:ln>
        </p:spPr>
      </p:cxnSp>
      <p:sp>
        <p:nvSpPr>
          <p:cNvPr id="72" name="Google Shape;72;p17"/>
          <p:cNvSpPr/>
          <p:nvPr/>
        </p:nvSpPr>
        <p:spPr>
          <a:xfrm>
            <a:off x="1568571" y="4410000"/>
            <a:ext cx="1560000" cy="22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9E4750"/>
              </a:buClr>
              <a:buSzPts val="1300"/>
              <a:buFont typeface="Calibri"/>
              <a:buNone/>
            </a:pPr>
            <a:r>
              <a:rPr b="1" i="0" lang="en-US" sz="1300" u="none" cap="none" strike="noStrike">
                <a:solidFill>
                  <a:srgbClr val="9E4750"/>
                </a:solidFill>
                <a:latin typeface="Calibri"/>
                <a:ea typeface="Calibri"/>
                <a:cs typeface="Calibri"/>
                <a:sym typeface="Calibri"/>
              </a:rPr>
              <a:t>APRIL - MAY</a:t>
            </a:r>
            <a:endParaRPr b="0" i="0" sz="1300" u="none" cap="none" strike="noStrike">
              <a:solidFill>
                <a:schemeClr val="dk1"/>
              </a:solidFill>
              <a:latin typeface="Calibri"/>
              <a:ea typeface="Calibri"/>
              <a:cs typeface="Calibri"/>
              <a:sym typeface="Calibri"/>
            </a:endParaRPr>
          </a:p>
        </p:txBody>
      </p:sp>
      <p:sp>
        <p:nvSpPr>
          <p:cNvPr id="73" name="Google Shape;73;p17"/>
          <p:cNvSpPr/>
          <p:nvPr/>
        </p:nvSpPr>
        <p:spPr>
          <a:xfrm>
            <a:off x="1568571" y="4720000"/>
            <a:ext cx="1560000" cy="52826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A1F1F"/>
              </a:buClr>
              <a:buSzPts val="1500"/>
              <a:buFont typeface="Cambria"/>
              <a:buNone/>
            </a:pPr>
            <a:r>
              <a:rPr b="1" i="0" lang="en-US" sz="1600" u="none" cap="none" strike="noStrike">
                <a:solidFill>
                  <a:srgbClr val="2A1F1F"/>
                </a:solidFill>
                <a:latin typeface="Cambria"/>
                <a:ea typeface="Cambria"/>
                <a:cs typeface="Cambria"/>
                <a:sym typeface="Cambria"/>
              </a:rPr>
              <a:t>Expert</a:t>
            </a:r>
            <a:r>
              <a:rPr b="1" i="0" lang="en-US" sz="1500" u="none" cap="none" strike="noStrike">
                <a:solidFill>
                  <a:srgbClr val="2A1F1F"/>
                </a:solidFill>
                <a:latin typeface="Cambria"/>
                <a:ea typeface="Cambria"/>
                <a:cs typeface="Cambria"/>
                <a:sym typeface="Cambria"/>
              </a:rPr>
              <a:t> interviews</a:t>
            </a:r>
            <a:endParaRPr b="0" i="0" sz="1500" u="none" cap="none" strike="noStrike">
              <a:solidFill>
                <a:schemeClr val="dk1"/>
              </a:solidFill>
              <a:latin typeface="Calibri"/>
              <a:ea typeface="Calibri"/>
              <a:cs typeface="Calibri"/>
              <a:sym typeface="Calibri"/>
            </a:endParaRPr>
          </a:p>
        </p:txBody>
      </p:sp>
      <p:sp>
        <p:nvSpPr>
          <p:cNvPr id="74" name="Google Shape;74;p17"/>
          <p:cNvSpPr/>
          <p:nvPr/>
        </p:nvSpPr>
        <p:spPr>
          <a:xfrm>
            <a:off x="3717142" y="4020000"/>
            <a:ext cx="260000" cy="260000"/>
          </a:xfrm>
          <a:prstGeom prst="ellipse">
            <a:avLst/>
          </a:prstGeom>
          <a:solidFill>
            <a:srgbClr val="9E4750"/>
          </a:solidFill>
          <a:ln cap="flat" cmpd="sng" w="28575">
            <a:solidFill>
              <a:srgbClr val="FCF7F4"/>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5" name="Google Shape;75;p17"/>
          <p:cNvCxnSpPr/>
          <p:nvPr/>
        </p:nvCxnSpPr>
        <p:spPr>
          <a:xfrm>
            <a:off x="3847142" y="3890000"/>
            <a:ext cx="0" cy="130000"/>
          </a:xfrm>
          <a:prstGeom prst="straightConnector1">
            <a:avLst/>
          </a:prstGeom>
          <a:noFill/>
          <a:ln cap="flat" cmpd="sng" w="19050">
            <a:solidFill>
              <a:srgbClr val="9E4750"/>
            </a:solidFill>
            <a:prstDash val="solid"/>
            <a:round/>
            <a:headEnd len="sm" w="sm" type="none"/>
            <a:tailEnd len="sm" w="sm" type="none"/>
          </a:ln>
        </p:spPr>
      </p:cxnSp>
      <p:sp>
        <p:nvSpPr>
          <p:cNvPr id="76" name="Google Shape;76;p17"/>
          <p:cNvSpPr/>
          <p:nvPr/>
        </p:nvSpPr>
        <p:spPr>
          <a:xfrm>
            <a:off x="3005714" y="2858260"/>
            <a:ext cx="1560000" cy="22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9E4750"/>
              </a:buClr>
              <a:buSzPts val="1300"/>
              <a:buFont typeface="Calibri"/>
              <a:buNone/>
            </a:pPr>
            <a:r>
              <a:rPr b="1" i="0" lang="en-US" sz="1300" u="none" cap="none" strike="noStrike">
                <a:solidFill>
                  <a:srgbClr val="9E4750"/>
                </a:solidFill>
                <a:latin typeface="Calibri"/>
                <a:ea typeface="Calibri"/>
                <a:cs typeface="Calibri"/>
                <a:sym typeface="Calibri"/>
              </a:rPr>
              <a:t>MAY</a:t>
            </a:r>
            <a:endParaRPr b="0" i="0" sz="1300" u="none" cap="none" strike="noStrike">
              <a:solidFill>
                <a:schemeClr val="dk1"/>
              </a:solidFill>
              <a:latin typeface="Calibri"/>
              <a:ea typeface="Calibri"/>
              <a:cs typeface="Calibri"/>
              <a:sym typeface="Calibri"/>
            </a:endParaRPr>
          </a:p>
        </p:txBody>
      </p:sp>
      <p:sp>
        <p:nvSpPr>
          <p:cNvPr id="77" name="Google Shape;77;p17"/>
          <p:cNvSpPr/>
          <p:nvPr/>
        </p:nvSpPr>
        <p:spPr>
          <a:xfrm>
            <a:off x="3033634" y="3337450"/>
            <a:ext cx="1560000" cy="46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A1F1F"/>
              </a:buClr>
              <a:buSzPts val="1500"/>
              <a:buFont typeface="Cambria"/>
              <a:buNone/>
            </a:pPr>
            <a:r>
              <a:rPr b="1" i="0" lang="en-US" sz="1600" u="none" cap="none" strike="noStrike">
                <a:solidFill>
                  <a:srgbClr val="2A1F1F"/>
                </a:solidFill>
                <a:latin typeface="Cambria"/>
                <a:ea typeface="Cambria"/>
                <a:cs typeface="Cambria"/>
                <a:sym typeface="Cambria"/>
              </a:rPr>
              <a:t>Requirements</a:t>
            </a:r>
            <a:endParaRPr b="0" i="0" sz="1500" u="none" cap="none" strike="noStrike">
              <a:solidFill>
                <a:schemeClr val="dk1"/>
              </a:solidFill>
              <a:latin typeface="Calibri"/>
              <a:ea typeface="Calibri"/>
              <a:cs typeface="Calibri"/>
              <a:sym typeface="Calibri"/>
            </a:endParaRPr>
          </a:p>
        </p:txBody>
      </p:sp>
      <p:sp>
        <p:nvSpPr>
          <p:cNvPr id="78" name="Google Shape;78;p17"/>
          <p:cNvSpPr/>
          <p:nvPr/>
        </p:nvSpPr>
        <p:spPr>
          <a:xfrm>
            <a:off x="5215714" y="4020000"/>
            <a:ext cx="260000" cy="260000"/>
          </a:xfrm>
          <a:prstGeom prst="ellipse">
            <a:avLst/>
          </a:prstGeom>
          <a:solidFill>
            <a:srgbClr val="9E4750"/>
          </a:solidFill>
          <a:ln cap="flat" cmpd="sng" w="28575">
            <a:solidFill>
              <a:srgbClr val="FCF7F4"/>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9" name="Google Shape;79;p17"/>
          <p:cNvCxnSpPr/>
          <p:nvPr/>
        </p:nvCxnSpPr>
        <p:spPr>
          <a:xfrm>
            <a:off x="5345714" y="4280000"/>
            <a:ext cx="0" cy="130000"/>
          </a:xfrm>
          <a:prstGeom prst="straightConnector1">
            <a:avLst/>
          </a:prstGeom>
          <a:noFill/>
          <a:ln cap="flat" cmpd="sng" w="19050">
            <a:solidFill>
              <a:srgbClr val="9E4750"/>
            </a:solidFill>
            <a:prstDash val="solid"/>
            <a:round/>
            <a:headEnd len="sm" w="sm" type="none"/>
            <a:tailEnd len="sm" w="sm" type="none"/>
          </a:ln>
        </p:spPr>
      </p:cxnSp>
      <p:sp>
        <p:nvSpPr>
          <p:cNvPr id="80" name="Google Shape;80;p17"/>
          <p:cNvSpPr/>
          <p:nvPr/>
        </p:nvSpPr>
        <p:spPr>
          <a:xfrm>
            <a:off x="4565714" y="4410000"/>
            <a:ext cx="1560000" cy="22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9E4750"/>
              </a:buClr>
              <a:buSzPts val="1300"/>
              <a:buFont typeface="Calibri"/>
              <a:buNone/>
            </a:pPr>
            <a:r>
              <a:rPr b="1" i="0" lang="en-US" sz="1300" u="none" cap="none" strike="noStrike">
                <a:solidFill>
                  <a:srgbClr val="9E4750"/>
                </a:solidFill>
                <a:latin typeface="Calibri"/>
                <a:ea typeface="Calibri"/>
                <a:cs typeface="Calibri"/>
                <a:sym typeface="Calibri"/>
              </a:rPr>
              <a:t>MAY - JUNE</a:t>
            </a:r>
            <a:endParaRPr b="0" i="0" sz="1300" u="none" cap="none" strike="noStrike">
              <a:solidFill>
                <a:schemeClr val="dk1"/>
              </a:solidFill>
              <a:latin typeface="Calibri"/>
              <a:ea typeface="Calibri"/>
              <a:cs typeface="Calibri"/>
              <a:sym typeface="Calibri"/>
            </a:endParaRPr>
          </a:p>
        </p:txBody>
      </p:sp>
      <p:sp>
        <p:nvSpPr>
          <p:cNvPr id="81" name="Google Shape;81;p17"/>
          <p:cNvSpPr/>
          <p:nvPr/>
        </p:nvSpPr>
        <p:spPr>
          <a:xfrm>
            <a:off x="4565714" y="4720000"/>
            <a:ext cx="1560000" cy="46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A1F1F"/>
              </a:buClr>
              <a:buSzPts val="1500"/>
              <a:buFont typeface="Cambria"/>
              <a:buNone/>
            </a:pPr>
            <a:r>
              <a:rPr b="1" i="0" lang="en-US" sz="1600" u="none" cap="none" strike="noStrike">
                <a:solidFill>
                  <a:srgbClr val="2A1F1F"/>
                </a:solidFill>
                <a:latin typeface="Cambria"/>
                <a:ea typeface="Cambria"/>
                <a:cs typeface="Cambria"/>
                <a:sym typeface="Cambria"/>
              </a:rPr>
              <a:t>System</a:t>
            </a:r>
            <a:r>
              <a:rPr b="1" i="0" lang="en-US" sz="1500" u="none" cap="none" strike="noStrike">
                <a:solidFill>
                  <a:srgbClr val="2A1F1F"/>
                </a:solidFill>
                <a:latin typeface="Cambria"/>
                <a:ea typeface="Cambria"/>
                <a:cs typeface="Cambria"/>
                <a:sym typeface="Cambria"/>
              </a:rPr>
              <a:t> design</a:t>
            </a:r>
            <a:endParaRPr b="0" i="0" sz="1500" u="none" cap="none" strike="noStrike">
              <a:solidFill>
                <a:schemeClr val="dk1"/>
              </a:solidFill>
              <a:latin typeface="Calibri"/>
              <a:ea typeface="Calibri"/>
              <a:cs typeface="Calibri"/>
              <a:sym typeface="Calibri"/>
            </a:endParaRPr>
          </a:p>
        </p:txBody>
      </p:sp>
      <p:sp>
        <p:nvSpPr>
          <p:cNvPr id="82" name="Google Shape;82;p17"/>
          <p:cNvSpPr/>
          <p:nvPr/>
        </p:nvSpPr>
        <p:spPr>
          <a:xfrm>
            <a:off x="6714285" y="4020000"/>
            <a:ext cx="260000" cy="260000"/>
          </a:xfrm>
          <a:prstGeom prst="ellipse">
            <a:avLst/>
          </a:prstGeom>
          <a:solidFill>
            <a:srgbClr val="3B6377"/>
          </a:solidFill>
          <a:ln cap="flat" cmpd="sng" w="28575">
            <a:solidFill>
              <a:srgbClr val="FCF7F4"/>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3" name="Google Shape;83;p17"/>
          <p:cNvCxnSpPr/>
          <p:nvPr/>
        </p:nvCxnSpPr>
        <p:spPr>
          <a:xfrm>
            <a:off x="6844285" y="3890000"/>
            <a:ext cx="0" cy="130000"/>
          </a:xfrm>
          <a:prstGeom prst="straightConnector1">
            <a:avLst/>
          </a:prstGeom>
          <a:noFill/>
          <a:ln cap="flat" cmpd="sng" w="19050">
            <a:solidFill>
              <a:srgbClr val="3B6377"/>
            </a:solidFill>
            <a:prstDash val="solid"/>
            <a:round/>
            <a:headEnd len="sm" w="sm" type="none"/>
            <a:tailEnd len="sm" w="sm" type="none"/>
          </a:ln>
        </p:spPr>
      </p:cxnSp>
      <p:sp>
        <p:nvSpPr>
          <p:cNvPr id="84" name="Google Shape;84;p17"/>
          <p:cNvSpPr/>
          <p:nvPr/>
        </p:nvSpPr>
        <p:spPr>
          <a:xfrm>
            <a:off x="6064285" y="2858260"/>
            <a:ext cx="1560000" cy="22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3B6377"/>
              </a:buClr>
              <a:buSzPts val="1300"/>
              <a:buFont typeface="Calibri"/>
              <a:buNone/>
            </a:pPr>
            <a:r>
              <a:rPr b="1" i="0" lang="en-US" sz="1300" u="none" cap="none" strike="noStrike">
                <a:solidFill>
                  <a:srgbClr val="3B6377"/>
                </a:solidFill>
                <a:latin typeface="Calibri"/>
                <a:ea typeface="Calibri"/>
                <a:cs typeface="Calibri"/>
                <a:sym typeface="Calibri"/>
              </a:rPr>
              <a:t>OCTOBER</a:t>
            </a:r>
            <a:endParaRPr b="0" i="0" sz="1300" u="none" cap="none" strike="noStrike">
              <a:solidFill>
                <a:schemeClr val="dk1"/>
              </a:solidFill>
              <a:latin typeface="Calibri"/>
              <a:ea typeface="Calibri"/>
              <a:cs typeface="Calibri"/>
              <a:sym typeface="Calibri"/>
            </a:endParaRPr>
          </a:p>
        </p:txBody>
      </p:sp>
      <p:sp>
        <p:nvSpPr>
          <p:cNvPr id="85" name="Google Shape;85;p17"/>
          <p:cNvSpPr/>
          <p:nvPr/>
        </p:nvSpPr>
        <p:spPr>
          <a:xfrm>
            <a:off x="6064285" y="3218260"/>
            <a:ext cx="1560000" cy="46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A1F1F"/>
              </a:buClr>
              <a:buSzPts val="1500"/>
              <a:buFont typeface="Cambria"/>
              <a:buNone/>
            </a:pPr>
            <a:r>
              <a:rPr b="1" i="0" lang="en-US" sz="1500" u="none" cap="none" strike="noStrike">
                <a:solidFill>
                  <a:srgbClr val="2A1F1F"/>
                </a:solidFill>
                <a:latin typeface="Cambria"/>
                <a:ea typeface="Cambria"/>
                <a:cs typeface="Cambria"/>
                <a:sym typeface="Cambria"/>
              </a:rPr>
              <a:t>React </a:t>
            </a:r>
            <a:r>
              <a:rPr b="1" i="0" lang="en-US" sz="1600" u="none" cap="none" strike="noStrike">
                <a:solidFill>
                  <a:srgbClr val="2A1F1F"/>
                </a:solidFill>
                <a:latin typeface="Cambria"/>
                <a:ea typeface="Cambria"/>
                <a:cs typeface="Cambria"/>
                <a:sym typeface="Cambria"/>
              </a:rPr>
              <a:t>Native</a:t>
            </a:r>
            <a:r>
              <a:rPr b="1" i="0" lang="en-US" sz="1500" u="none" cap="none" strike="noStrike">
                <a:solidFill>
                  <a:srgbClr val="2A1F1F"/>
                </a:solidFill>
                <a:latin typeface="Cambria"/>
                <a:ea typeface="Cambria"/>
                <a:cs typeface="Cambria"/>
                <a:sym typeface="Cambria"/>
              </a:rPr>
              <a:t> build</a:t>
            </a:r>
            <a:endParaRPr b="0" i="0" sz="1500" u="none" cap="none" strike="noStrike">
              <a:solidFill>
                <a:schemeClr val="dk1"/>
              </a:solidFill>
              <a:latin typeface="Calibri"/>
              <a:ea typeface="Calibri"/>
              <a:cs typeface="Calibri"/>
              <a:sym typeface="Calibri"/>
            </a:endParaRPr>
          </a:p>
        </p:txBody>
      </p:sp>
      <p:sp>
        <p:nvSpPr>
          <p:cNvPr id="86" name="Google Shape;86;p17"/>
          <p:cNvSpPr/>
          <p:nvPr/>
        </p:nvSpPr>
        <p:spPr>
          <a:xfrm>
            <a:off x="8212857" y="4020000"/>
            <a:ext cx="260000" cy="260000"/>
          </a:xfrm>
          <a:prstGeom prst="ellipse">
            <a:avLst/>
          </a:prstGeom>
          <a:solidFill>
            <a:srgbClr val="3B6377"/>
          </a:solidFill>
          <a:ln cap="flat" cmpd="sng" w="28575">
            <a:solidFill>
              <a:srgbClr val="FCF7F4"/>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7" name="Google Shape;87;p17"/>
          <p:cNvCxnSpPr/>
          <p:nvPr/>
        </p:nvCxnSpPr>
        <p:spPr>
          <a:xfrm>
            <a:off x="8342857" y="4280000"/>
            <a:ext cx="0" cy="130000"/>
          </a:xfrm>
          <a:prstGeom prst="straightConnector1">
            <a:avLst/>
          </a:prstGeom>
          <a:noFill/>
          <a:ln cap="flat" cmpd="sng" w="19050">
            <a:solidFill>
              <a:srgbClr val="3B6377"/>
            </a:solidFill>
            <a:prstDash val="solid"/>
            <a:round/>
            <a:headEnd len="sm" w="sm" type="none"/>
            <a:tailEnd len="sm" w="sm" type="none"/>
          </a:ln>
        </p:spPr>
      </p:cxnSp>
      <p:sp>
        <p:nvSpPr>
          <p:cNvPr id="88" name="Google Shape;88;p17"/>
          <p:cNvSpPr/>
          <p:nvPr/>
        </p:nvSpPr>
        <p:spPr>
          <a:xfrm>
            <a:off x="7562857" y="4410000"/>
            <a:ext cx="1560000" cy="22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3B6377"/>
              </a:buClr>
              <a:buSzPts val="1300"/>
              <a:buFont typeface="Calibri"/>
              <a:buNone/>
            </a:pPr>
            <a:r>
              <a:rPr b="1" i="0" lang="en-US" sz="1300" u="none" cap="none" strike="noStrike">
                <a:solidFill>
                  <a:srgbClr val="3B6377"/>
                </a:solidFill>
                <a:latin typeface="Calibri"/>
                <a:ea typeface="Calibri"/>
                <a:cs typeface="Calibri"/>
                <a:sym typeface="Calibri"/>
              </a:rPr>
              <a:t>NOVEMBER</a:t>
            </a:r>
            <a:endParaRPr b="0" i="0" sz="1300" u="none" cap="none" strike="noStrike">
              <a:solidFill>
                <a:schemeClr val="dk1"/>
              </a:solidFill>
              <a:latin typeface="Calibri"/>
              <a:ea typeface="Calibri"/>
              <a:cs typeface="Calibri"/>
              <a:sym typeface="Calibri"/>
            </a:endParaRPr>
          </a:p>
        </p:txBody>
      </p:sp>
      <p:sp>
        <p:nvSpPr>
          <p:cNvPr id="89" name="Google Shape;89;p17"/>
          <p:cNvSpPr/>
          <p:nvPr/>
        </p:nvSpPr>
        <p:spPr>
          <a:xfrm>
            <a:off x="7562857" y="4720000"/>
            <a:ext cx="1560000" cy="46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A1F1F"/>
              </a:buClr>
              <a:buSzPts val="1500"/>
              <a:buFont typeface="Cambria"/>
              <a:buNone/>
            </a:pPr>
            <a:r>
              <a:rPr b="1" i="0" lang="en-US" sz="1600" u="none" cap="none" strike="noStrike">
                <a:solidFill>
                  <a:srgbClr val="2A1F1F"/>
                </a:solidFill>
                <a:latin typeface="Cambria"/>
                <a:ea typeface="Cambria"/>
                <a:cs typeface="Cambria"/>
                <a:sym typeface="Cambria"/>
              </a:rPr>
              <a:t>Jewelry</a:t>
            </a:r>
            <a:r>
              <a:rPr b="1" i="0" lang="en-US" sz="1500" u="none" cap="none" strike="noStrike">
                <a:solidFill>
                  <a:srgbClr val="2A1F1F"/>
                </a:solidFill>
                <a:latin typeface="Cambria"/>
                <a:ea typeface="Cambria"/>
                <a:cs typeface="Cambria"/>
                <a:sym typeface="Cambria"/>
              </a:rPr>
              <a:t> integration</a:t>
            </a:r>
            <a:endParaRPr b="0" i="0" sz="1500" u="none" cap="none" strike="noStrike">
              <a:solidFill>
                <a:schemeClr val="dk1"/>
              </a:solidFill>
              <a:latin typeface="Calibri"/>
              <a:ea typeface="Calibri"/>
              <a:cs typeface="Calibri"/>
              <a:sym typeface="Calibri"/>
            </a:endParaRPr>
          </a:p>
        </p:txBody>
      </p:sp>
      <p:sp>
        <p:nvSpPr>
          <p:cNvPr id="90" name="Google Shape;90;p17"/>
          <p:cNvSpPr/>
          <p:nvPr/>
        </p:nvSpPr>
        <p:spPr>
          <a:xfrm>
            <a:off x="9711428" y="4020000"/>
            <a:ext cx="260000" cy="260000"/>
          </a:xfrm>
          <a:prstGeom prst="ellipse">
            <a:avLst/>
          </a:prstGeom>
          <a:solidFill>
            <a:srgbClr val="3B6377"/>
          </a:solidFill>
          <a:ln cap="flat" cmpd="sng" w="28575">
            <a:solidFill>
              <a:srgbClr val="FCF7F4"/>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1" name="Google Shape;91;p17"/>
          <p:cNvCxnSpPr/>
          <p:nvPr/>
        </p:nvCxnSpPr>
        <p:spPr>
          <a:xfrm>
            <a:off x="9841428" y="3890000"/>
            <a:ext cx="0" cy="130000"/>
          </a:xfrm>
          <a:prstGeom prst="straightConnector1">
            <a:avLst/>
          </a:prstGeom>
          <a:noFill/>
          <a:ln cap="flat" cmpd="sng" w="19050">
            <a:solidFill>
              <a:srgbClr val="3B6377"/>
            </a:solidFill>
            <a:prstDash val="solid"/>
            <a:round/>
            <a:headEnd len="sm" w="sm" type="none"/>
            <a:tailEnd len="sm" w="sm" type="none"/>
          </a:ln>
        </p:spPr>
      </p:cxnSp>
      <p:sp>
        <p:nvSpPr>
          <p:cNvPr id="92" name="Google Shape;92;p17"/>
          <p:cNvSpPr/>
          <p:nvPr/>
        </p:nvSpPr>
        <p:spPr>
          <a:xfrm>
            <a:off x="9122856" y="2853486"/>
            <a:ext cx="1560000" cy="22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3B6377"/>
              </a:buClr>
              <a:buSzPts val="1300"/>
              <a:buFont typeface="Calibri"/>
              <a:buNone/>
            </a:pPr>
            <a:r>
              <a:rPr b="1" i="0" lang="en-US" sz="1300" u="none" cap="none" strike="noStrike">
                <a:solidFill>
                  <a:srgbClr val="3B6377"/>
                </a:solidFill>
                <a:latin typeface="Calibri"/>
                <a:ea typeface="Calibri"/>
                <a:cs typeface="Calibri"/>
                <a:sym typeface="Calibri"/>
              </a:rPr>
              <a:t>DECEMBER</a:t>
            </a:r>
            <a:endParaRPr b="0" i="0" sz="1300" u="none" cap="none" strike="noStrike">
              <a:solidFill>
                <a:schemeClr val="dk1"/>
              </a:solidFill>
              <a:latin typeface="Calibri"/>
              <a:ea typeface="Calibri"/>
              <a:cs typeface="Calibri"/>
              <a:sym typeface="Calibri"/>
            </a:endParaRPr>
          </a:p>
        </p:txBody>
      </p:sp>
      <p:sp>
        <p:nvSpPr>
          <p:cNvPr id="93" name="Google Shape;93;p17"/>
          <p:cNvSpPr/>
          <p:nvPr/>
        </p:nvSpPr>
        <p:spPr>
          <a:xfrm>
            <a:off x="9061428" y="3203486"/>
            <a:ext cx="1560000" cy="46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A1F1F"/>
              </a:buClr>
              <a:buSzPts val="1500"/>
              <a:buFont typeface="Cambria"/>
              <a:buNone/>
            </a:pPr>
            <a:r>
              <a:rPr b="1" i="0" lang="en-US" sz="1500" u="none" cap="none" strike="noStrike">
                <a:solidFill>
                  <a:srgbClr val="2A1F1F"/>
                </a:solidFill>
                <a:latin typeface="Cambria"/>
                <a:ea typeface="Cambria"/>
                <a:cs typeface="Cambria"/>
                <a:sym typeface="Cambria"/>
              </a:rPr>
              <a:t>ML-based detection</a:t>
            </a:r>
            <a:endParaRPr b="0" i="0" sz="1500" u="none" cap="none" strike="noStrike">
              <a:solidFill>
                <a:schemeClr val="dk1"/>
              </a:solidFill>
              <a:latin typeface="Calibri"/>
              <a:ea typeface="Calibri"/>
              <a:cs typeface="Calibri"/>
              <a:sym typeface="Calibri"/>
            </a:endParaRPr>
          </a:p>
        </p:txBody>
      </p:sp>
      <p:sp>
        <p:nvSpPr>
          <p:cNvPr id="94" name="Google Shape;94;p17"/>
          <p:cNvSpPr/>
          <p:nvPr/>
        </p:nvSpPr>
        <p:spPr>
          <a:xfrm>
            <a:off x="11210000" y="4020000"/>
            <a:ext cx="260000" cy="260000"/>
          </a:xfrm>
          <a:prstGeom prst="ellipse">
            <a:avLst/>
          </a:prstGeom>
          <a:solidFill>
            <a:srgbClr val="3B6377"/>
          </a:solidFill>
          <a:ln cap="flat" cmpd="sng" w="28575">
            <a:solidFill>
              <a:srgbClr val="FCF7F4"/>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5" name="Google Shape;95;p17"/>
          <p:cNvCxnSpPr/>
          <p:nvPr/>
        </p:nvCxnSpPr>
        <p:spPr>
          <a:xfrm>
            <a:off x="11340000" y="4280000"/>
            <a:ext cx="0" cy="130000"/>
          </a:xfrm>
          <a:prstGeom prst="straightConnector1">
            <a:avLst/>
          </a:prstGeom>
          <a:noFill/>
          <a:ln cap="flat" cmpd="sng" w="19050">
            <a:solidFill>
              <a:srgbClr val="3B6377"/>
            </a:solidFill>
            <a:prstDash val="solid"/>
            <a:round/>
            <a:headEnd len="sm" w="sm" type="none"/>
            <a:tailEnd len="sm" w="sm" type="none"/>
          </a:ln>
        </p:spPr>
      </p:cxnSp>
      <p:sp>
        <p:nvSpPr>
          <p:cNvPr id="96" name="Google Shape;96;p17"/>
          <p:cNvSpPr/>
          <p:nvPr/>
        </p:nvSpPr>
        <p:spPr>
          <a:xfrm>
            <a:off x="10558560" y="4500000"/>
            <a:ext cx="1560000" cy="22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3B6377"/>
              </a:buClr>
              <a:buSzPts val="1300"/>
              <a:buFont typeface="Calibri"/>
              <a:buNone/>
            </a:pPr>
            <a:r>
              <a:rPr b="1" i="0" lang="en-US" sz="1300" u="none" cap="none" strike="noStrike">
                <a:solidFill>
                  <a:srgbClr val="3B6377"/>
                </a:solidFill>
                <a:latin typeface="Calibri"/>
                <a:ea typeface="Calibri"/>
                <a:cs typeface="Calibri"/>
                <a:sym typeface="Calibri"/>
              </a:rPr>
              <a:t>JANUARY</a:t>
            </a:r>
            <a:endParaRPr b="0" i="0" sz="1300" u="none" cap="none" strike="noStrike">
              <a:solidFill>
                <a:schemeClr val="dk1"/>
              </a:solidFill>
              <a:latin typeface="Calibri"/>
              <a:ea typeface="Calibri"/>
              <a:cs typeface="Calibri"/>
              <a:sym typeface="Calibri"/>
            </a:endParaRPr>
          </a:p>
        </p:txBody>
      </p:sp>
      <p:sp>
        <p:nvSpPr>
          <p:cNvPr id="97" name="Google Shape;97;p17"/>
          <p:cNvSpPr/>
          <p:nvPr/>
        </p:nvSpPr>
        <p:spPr>
          <a:xfrm>
            <a:off x="10544475" y="4794348"/>
            <a:ext cx="1560000" cy="4600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A1F1F"/>
              </a:buClr>
              <a:buSzPts val="1500"/>
              <a:buFont typeface="Cambria"/>
              <a:buNone/>
            </a:pPr>
            <a:r>
              <a:rPr b="1" i="0" lang="en-US" sz="1600" u="none" cap="none" strike="noStrike">
                <a:solidFill>
                  <a:srgbClr val="2A1F1F"/>
                </a:solidFill>
                <a:latin typeface="Cambria"/>
                <a:ea typeface="Cambria"/>
                <a:cs typeface="Cambria"/>
                <a:sym typeface="Cambria"/>
              </a:rPr>
              <a:t>User</a:t>
            </a:r>
            <a:r>
              <a:rPr b="1" i="0" lang="en-US" sz="1500" u="none" cap="none" strike="noStrike">
                <a:solidFill>
                  <a:srgbClr val="2A1F1F"/>
                </a:solidFill>
                <a:latin typeface="Cambria"/>
                <a:ea typeface="Cambria"/>
                <a:cs typeface="Cambria"/>
                <a:sym typeface="Cambria"/>
              </a:rPr>
              <a:t> testing</a:t>
            </a:r>
            <a:endParaRPr b="0" i="0" sz="1500" u="none" cap="none" strike="noStrike">
              <a:solidFill>
                <a:schemeClr val="dk1"/>
              </a:solidFill>
              <a:latin typeface="Calibri"/>
              <a:ea typeface="Calibri"/>
              <a:cs typeface="Calibri"/>
              <a:sym typeface="Calibri"/>
            </a:endParaRPr>
          </a:p>
        </p:txBody>
      </p:sp>
      <p:sp>
        <p:nvSpPr>
          <p:cNvPr id="98" name="Google Shape;98;p17"/>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103" name="Shape 103"/>
        <p:cNvGrpSpPr/>
        <p:nvPr/>
      </p:nvGrpSpPr>
      <p:grpSpPr>
        <a:xfrm>
          <a:off x="0" y="0"/>
          <a:ext cx="0" cy="0"/>
          <a:chOff x="0" y="0"/>
          <a:chExt cx="0" cy="0"/>
        </a:xfrm>
      </p:grpSpPr>
      <p:sp>
        <p:nvSpPr>
          <p:cNvPr id="104" name="Google Shape;104;p4"/>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BACKGROUND</a:t>
            </a:r>
            <a:endParaRPr b="0" i="0" sz="1700" u="none" cap="none" strike="noStrike">
              <a:solidFill>
                <a:schemeClr val="dk1"/>
              </a:solidFill>
              <a:latin typeface="Calibri"/>
              <a:ea typeface="Calibri"/>
              <a:cs typeface="Calibri"/>
              <a:sym typeface="Calibri"/>
            </a:endParaRPr>
          </a:p>
        </p:txBody>
      </p:sp>
      <p:sp>
        <p:nvSpPr>
          <p:cNvPr id="105" name="Google Shape;105;p4"/>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Literature review</a:t>
            </a:r>
            <a:endParaRPr b="0" i="0" sz="3200" u="none" cap="none" strike="noStrike">
              <a:solidFill>
                <a:schemeClr val="dk1"/>
              </a:solidFill>
              <a:latin typeface="Calibri"/>
              <a:ea typeface="Calibri"/>
              <a:cs typeface="Calibri"/>
              <a:sym typeface="Calibri"/>
            </a:endParaRPr>
          </a:p>
        </p:txBody>
      </p:sp>
      <p:sp>
        <p:nvSpPr>
          <p:cNvPr id="106" name="Google Shape;106;p4"/>
          <p:cNvSpPr/>
          <p:nvPr/>
        </p:nvSpPr>
        <p:spPr>
          <a:xfrm>
            <a:off x="548640" y="1508760"/>
            <a:ext cx="11091672" cy="1408176"/>
          </a:xfrm>
          <a:prstGeom prst="roundRect">
            <a:avLst>
              <a:gd fmla="val 5844"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
          <p:cNvSpPr/>
          <p:nvPr/>
        </p:nvSpPr>
        <p:spPr>
          <a:xfrm>
            <a:off x="841248" y="1755648"/>
            <a:ext cx="713232" cy="713232"/>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rain_i.png" id="108" name="Google Shape;108;p4"/>
          <p:cNvPicPr preferRelativeResize="0"/>
          <p:nvPr/>
        </p:nvPicPr>
        <p:blipFill rotWithShape="1">
          <a:blip r:embed="rId3">
            <a:alphaModFix/>
          </a:blip>
          <a:srcRect b="0" l="0" r="0" t="0"/>
          <a:stretch/>
        </p:blipFill>
        <p:spPr>
          <a:xfrm>
            <a:off x="1033821" y="1948221"/>
            <a:ext cx="328087" cy="328087"/>
          </a:xfrm>
          <a:prstGeom prst="rect">
            <a:avLst/>
          </a:prstGeom>
          <a:noFill/>
          <a:ln>
            <a:noFill/>
          </a:ln>
        </p:spPr>
      </p:pic>
      <p:sp>
        <p:nvSpPr>
          <p:cNvPr id="109" name="Google Shape;109;p4"/>
          <p:cNvSpPr/>
          <p:nvPr/>
        </p:nvSpPr>
        <p:spPr>
          <a:xfrm>
            <a:off x="1828800" y="1691640"/>
            <a:ext cx="95097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700"/>
              <a:buFont typeface="Cambria"/>
              <a:buNone/>
            </a:pPr>
            <a:r>
              <a:rPr b="1" i="0" lang="en-US" sz="1700" u="none" cap="none" strike="noStrike">
                <a:solidFill>
                  <a:srgbClr val="2A1F1F"/>
                </a:solidFill>
                <a:latin typeface="Cambria"/>
                <a:ea typeface="Cambria"/>
                <a:cs typeface="Cambria"/>
                <a:sym typeface="Cambria"/>
              </a:rPr>
              <a:t>AI and wearables for anxiety detection</a:t>
            </a:r>
            <a:endParaRPr b="0" i="0" sz="1700" u="none" cap="none" strike="noStrike">
              <a:solidFill>
                <a:schemeClr val="dk1"/>
              </a:solidFill>
              <a:latin typeface="Calibri"/>
              <a:ea typeface="Calibri"/>
              <a:cs typeface="Calibri"/>
              <a:sym typeface="Calibri"/>
            </a:endParaRPr>
          </a:p>
        </p:txBody>
      </p:sp>
      <p:sp>
        <p:nvSpPr>
          <p:cNvPr id="110" name="Google Shape;110;p4"/>
          <p:cNvSpPr/>
          <p:nvPr/>
        </p:nvSpPr>
        <p:spPr>
          <a:xfrm>
            <a:off x="1828800" y="2005888"/>
            <a:ext cx="9509760" cy="795528"/>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Castillo Zorro et al. (2026) reviewed 77 studies on physiological and behavioral detection. Alkurdi et al. (2025) showed ML models on ECG and EDA signals achieve reliable real-world performance. Bhimani et al. (2025) demonstrated continuous AI-driven monitoring is highly feasible outside clinical settings.</a:t>
            </a:r>
            <a:endParaRPr b="0" i="0" sz="1700" u="none" cap="none" strike="noStrike">
              <a:solidFill>
                <a:schemeClr val="dk1"/>
              </a:solidFill>
              <a:latin typeface="Calibri"/>
              <a:ea typeface="Calibri"/>
              <a:cs typeface="Calibri"/>
              <a:sym typeface="Calibri"/>
            </a:endParaRPr>
          </a:p>
        </p:txBody>
      </p:sp>
      <p:sp>
        <p:nvSpPr>
          <p:cNvPr id="111" name="Google Shape;111;p4"/>
          <p:cNvSpPr/>
          <p:nvPr/>
        </p:nvSpPr>
        <p:spPr>
          <a:xfrm>
            <a:off x="548640" y="3081528"/>
            <a:ext cx="11091672" cy="1408176"/>
          </a:xfrm>
          <a:prstGeom prst="roundRect">
            <a:avLst>
              <a:gd fmla="val 5844"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4"/>
          <p:cNvSpPr/>
          <p:nvPr/>
        </p:nvSpPr>
        <p:spPr>
          <a:xfrm>
            <a:off x="841248" y="3328416"/>
            <a:ext cx="713232" cy="713232"/>
          </a:xfrm>
          <a:prstGeom prst="ellipse">
            <a:avLst/>
          </a:prstGeom>
          <a:solidFill>
            <a:srgbClr val="DCE9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vibrate_i.png" id="113" name="Google Shape;113;p4"/>
          <p:cNvPicPr preferRelativeResize="0"/>
          <p:nvPr/>
        </p:nvPicPr>
        <p:blipFill rotWithShape="1">
          <a:blip r:embed="rId4">
            <a:alphaModFix/>
          </a:blip>
          <a:srcRect b="0" l="0" r="0" t="0"/>
          <a:stretch/>
        </p:blipFill>
        <p:spPr>
          <a:xfrm>
            <a:off x="1033821" y="3520989"/>
            <a:ext cx="328087" cy="328087"/>
          </a:xfrm>
          <a:prstGeom prst="rect">
            <a:avLst/>
          </a:prstGeom>
          <a:noFill/>
          <a:ln>
            <a:noFill/>
          </a:ln>
        </p:spPr>
      </p:pic>
      <p:sp>
        <p:nvSpPr>
          <p:cNvPr id="114" name="Google Shape;114;p4"/>
          <p:cNvSpPr/>
          <p:nvPr/>
        </p:nvSpPr>
        <p:spPr>
          <a:xfrm>
            <a:off x="1828800" y="3264408"/>
            <a:ext cx="95097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700"/>
              <a:buFont typeface="Cambria"/>
              <a:buNone/>
            </a:pPr>
            <a:r>
              <a:rPr b="1" i="0" lang="en-US" sz="1700" u="none" cap="none" strike="noStrike">
                <a:solidFill>
                  <a:srgbClr val="2A1F1F"/>
                </a:solidFill>
                <a:latin typeface="Cambria"/>
                <a:ea typeface="Cambria"/>
                <a:cs typeface="Cambria"/>
                <a:sym typeface="Cambria"/>
              </a:rPr>
              <a:t>Haptic feedback for intervention</a:t>
            </a:r>
            <a:endParaRPr b="0" i="0" sz="1700" u="none" cap="none" strike="noStrike">
              <a:solidFill>
                <a:schemeClr val="dk1"/>
              </a:solidFill>
              <a:latin typeface="Calibri"/>
              <a:ea typeface="Calibri"/>
              <a:cs typeface="Calibri"/>
              <a:sym typeface="Calibri"/>
            </a:endParaRPr>
          </a:p>
        </p:txBody>
      </p:sp>
      <p:sp>
        <p:nvSpPr>
          <p:cNvPr id="115" name="Google Shape;115;p4"/>
          <p:cNvSpPr/>
          <p:nvPr/>
        </p:nvSpPr>
        <p:spPr>
          <a:xfrm>
            <a:off x="1828800" y="3582723"/>
            <a:ext cx="9509760" cy="795528"/>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Fason et al. (2025) found vibration-based haptic patches significantly reduce anxiety with high user satisfaction. Mishra et al. (2025) built a closed-loop emotionally intelligent system that auto-detects anxiety via EEG and delivers immediate calming feedback.</a:t>
            </a:r>
            <a:endParaRPr b="0" i="0" sz="1700" u="none" cap="none" strike="noStrike">
              <a:solidFill>
                <a:schemeClr val="dk1"/>
              </a:solidFill>
              <a:latin typeface="Calibri"/>
              <a:ea typeface="Calibri"/>
              <a:cs typeface="Calibri"/>
              <a:sym typeface="Calibri"/>
            </a:endParaRPr>
          </a:p>
        </p:txBody>
      </p:sp>
      <p:sp>
        <p:nvSpPr>
          <p:cNvPr id="116" name="Google Shape;116;p4"/>
          <p:cNvSpPr/>
          <p:nvPr/>
        </p:nvSpPr>
        <p:spPr>
          <a:xfrm>
            <a:off x="548640" y="4654296"/>
            <a:ext cx="11091672" cy="1408176"/>
          </a:xfrm>
          <a:prstGeom prst="roundRect">
            <a:avLst>
              <a:gd fmla="val 5844"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4"/>
          <p:cNvSpPr/>
          <p:nvPr/>
        </p:nvSpPr>
        <p:spPr>
          <a:xfrm>
            <a:off x="841248" y="4901184"/>
            <a:ext cx="713232" cy="713232"/>
          </a:xfrm>
          <a:prstGeom prst="ellipse">
            <a:avLst/>
          </a:prstGeom>
          <a:solidFill>
            <a:srgbClr val="F5EA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ink_i.png" id="118" name="Google Shape;118;p4"/>
          <p:cNvPicPr preferRelativeResize="0"/>
          <p:nvPr/>
        </p:nvPicPr>
        <p:blipFill rotWithShape="1">
          <a:blip r:embed="rId5">
            <a:alphaModFix/>
          </a:blip>
          <a:srcRect b="0" l="0" r="0" t="0"/>
          <a:stretch/>
        </p:blipFill>
        <p:spPr>
          <a:xfrm>
            <a:off x="1033821" y="5093757"/>
            <a:ext cx="328087" cy="328087"/>
          </a:xfrm>
          <a:prstGeom prst="rect">
            <a:avLst/>
          </a:prstGeom>
          <a:noFill/>
          <a:ln>
            <a:noFill/>
          </a:ln>
        </p:spPr>
      </p:pic>
      <p:sp>
        <p:nvSpPr>
          <p:cNvPr id="119" name="Google Shape;119;p4"/>
          <p:cNvSpPr/>
          <p:nvPr/>
        </p:nvSpPr>
        <p:spPr>
          <a:xfrm>
            <a:off x="1828800" y="4837176"/>
            <a:ext cx="95097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700"/>
              <a:buFont typeface="Cambria"/>
              <a:buNone/>
            </a:pPr>
            <a:r>
              <a:rPr b="1" i="0" lang="en-US" sz="1700" u="none" cap="none" strike="noStrike">
                <a:solidFill>
                  <a:srgbClr val="2A1F1F"/>
                </a:solidFill>
                <a:latin typeface="Cambria"/>
                <a:ea typeface="Cambria"/>
                <a:cs typeface="Cambria"/>
                <a:sym typeface="Cambria"/>
              </a:rPr>
              <a:t>Integrating wearables and apps in therapy</a:t>
            </a:r>
            <a:endParaRPr b="0" i="0" sz="1700" u="none" cap="none" strike="noStrike">
              <a:solidFill>
                <a:schemeClr val="dk1"/>
              </a:solidFill>
              <a:latin typeface="Calibri"/>
              <a:ea typeface="Calibri"/>
              <a:cs typeface="Calibri"/>
              <a:sym typeface="Calibri"/>
            </a:endParaRPr>
          </a:p>
        </p:txBody>
      </p:sp>
      <p:sp>
        <p:nvSpPr>
          <p:cNvPr id="120" name="Google Shape;120;p4"/>
          <p:cNvSpPr/>
          <p:nvPr/>
        </p:nvSpPr>
        <p:spPr>
          <a:xfrm>
            <a:off x="1828800" y="5221224"/>
            <a:ext cx="9509760" cy="795528"/>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Wang et al. (2026) showed that objective wearable data, combined with subjective mood reports through a mobile app, successfully supports group CBT therapy, validating the holistic approach this project takes.</a:t>
            </a:r>
            <a:endParaRPr b="0" i="0" sz="1700" u="none" cap="none" strike="noStrike">
              <a:solidFill>
                <a:schemeClr val="dk1"/>
              </a:solidFill>
              <a:latin typeface="Calibri"/>
              <a:ea typeface="Calibri"/>
              <a:cs typeface="Calibri"/>
              <a:sym typeface="Calibri"/>
            </a:endParaRPr>
          </a:p>
        </p:txBody>
      </p:sp>
      <p:sp>
        <p:nvSpPr>
          <p:cNvPr id="121" name="Google Shape;121;p4"/>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126" name="Shape 126"/>
        <p:cNvGrpSpPr/>
        <p:nvPr/>
      </p:nvGrpSpPr>
      <p:grpSpPr>
        <a:xfrm>
          <a:off x="0" y="0"/>
          <a:ext cx="0" cy="0"/>
          <a:chOff x="0" y="0"/>
          <a:chExt cx="0" cy="0"/>
        </a:xfrm>
      </p:grpSpPr>
      <p:sp>
        <p:nvSpPr>
          <p:cNvPr id="127" name="Google Shape;127;p16"/>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RESEARCH METHODOLOGY</a:t>
            </a:r>
            <a:endParaRPr b="0" i="0" sz="1700" u="none" cap="none" strike="noStrike">
              <a:solidFill>
                <a:schemeClr val="dk1"/>
              </a:solidFill>
              <a:latin typeface="Calibri"/>
              <a:ea typeface="Calibri"/>
              <a:cs typeface="Calibri"/>
              <a:sym typeface="Calibri"/>
            </a:endParaRPr>
          </a:p>
        </p:txBody>
      </p:sp>
      <p:sp>
        <p:nvSpPr>
          <p:cNvPr id="128" name="Google Shape;128;p16"/>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Recruitment challenges</a:t>
            </a:r>
            <a:endParaRPr b="0" i="0" sz="3200" u="none" cap="none" strike="noStrike">
              <a:solidFill>
                <a:schemeClr val="dk1"/>
              </a:solidFill>
              <a:latin typeface="Calibri"/>
              <a:ea typeface="Calibri"/>
              <a:cs typeface="Calibri"/>
              <a:sym typeface="Calibri"/>
            </a:endParaRPr>
          </a:p>
        </p:txBody>
      </p:sp>
      <p:sp>
        <p:nvSpPr>
          <p:cNvPr id="129" name="Google Shape;129;p16"/>
          <p:cNvSpPr/>
          <p:nvPr/>
        </p:nvSpPr>
        <p:spPr>
          <a:xfrm>
            <a:off x="548640" y="1484908"/>
            <a:ext cx="11091672" cy="1408176"/>
          </a:xfrm>
          <a:prstGeom prst="roundRect">
            <a:avLst>
              <a:gd fmla="val 5844"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6"/>
          <p:cNvSpPr/>
          <p:nvPr/>
        </p:nvSpPr>
        <p:spPr>
          <a:xfrm>
            <a:off x="841248" y="1731796"/>
            <a:ext cx="713232" cy="713232"/>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_doctor_i.png" id="131" name="Google Shape;131;p16"/>
          <p:cNvPicPr preferRelativeResize="0"/>
          <p:nvPr/>
        </p:nvPicPr>
        <p:blipFill rotWithShape="1">
          <a:blip r:embed="rId3">
            <a:alphaModFix/>
          </a:blip>
          <a:srcRect b="0" l="0" r="0" t="0"/>
          <a:stretch/>
        </p:blipFill>
        <p:spPr>
          <a:xfrm>
            <a:off x="1033821" y="1924369"/>
            <a:ext cx="328087" cy="328087"/>
          </a:xfrm>
          <a:prstGeom prst="rect">
            <a:avLst/>
          </a:prstGeom>
          <a:noFill/>
          <a:ln>
            <a:noFill/>
          </a:ln>
        </p:spPr>
      </p:pic>
      <p:sp>
        <p:nvSpPr>
          <p:cNvPr id="132" name="Google Shape;132;p16"/>
          <p:cNvSpPr/>
          <p:nvPr/>
        </p:nvSpPr>
        <p:spPr>
          <a:xfrm>
            <a:off x="1828800" y="1667788"/>
            <a:ext cx="95097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700"/>
              <a:buFont typeface="Cambria"/>
              <a:buNone/>
            </a:pPr>
            <a:r>
              <a:rPr b="1" i="0" lang="en-US" sz="1700" u="none" cap="none" strike="noStrike">
                <a:solidFill>
                  <a:srgbClr val="2A1F1F"/>
                </a:solidFill>
                <a:latin typeface="Cambria"/>
                <a:ea typeface="Cambria"/>
                <a:cs typeface="Cambria"/>
                <a:sym typeface="Cambria"/>
              </a:rPr>
              <a:t>Reaching the right professionals</a:t>
            </a:r>
            <a:endParaRPr b="0" i="0" sz="1700" u="none" cap="none" strike="noStrike">
              <a:solidFill>
                <a:schemeClr val="dk1"/>
              </a:solidFill>
              <a:latin typeface="Calibri"/>
              <a:ea typeface="Calibri"/>
              <a:cs typeface="Calibri"/>
              <a:sym typeface="Calibri"/>
            </a:endParaRPr>
          </a:p>
        </p:txBody>
      </p:sp>
      <p:sp>
        <p:nvSpPr>
          <p:cNvPr id="133" name="Google Shape;133;p16"/>
          <p:cNvSpPr/>
          <p:nvPr/>
        </p:nvSpPr>
        <p:spPr>
          <a:xfrm>
            <a:off x="1828800" y="1982036"/>
            <a:ext cx="9509760" cy="48658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Clinicians and social workers willing to speak candidly about anxiety treatment were hard to find.</a:t>
            </a:r>
            <a:endParaRPr b="0" i="0" sz="1700" u="none" cap="none" strike="noStrike">
              <a:solidFill>
                <a:schemeClr val="dk1"/>
              </a:solidFill>
              <a:latin typeface="Calibri"/>
              <a:ea typeface="Calibri"/>
              <a:cs typeface="Calibri"/>
              <a:sym typeface="Calibri"/>
            </a:endParaRPr>
          </a:p>
        </p:txBody>
      </p:sp>
      <p:sp>
        <p:nvSpPr>
          <p:cNvPr id="134" name="Google Shape;134;p16"/>
          <p:cNvSpPr/>
          <p:nvPr/>
        </p:nvSpPr>
        <p:spPr>
          <a:xfrm>
            <a:off x="548640" y="3135597"/>
            <a:ext cx="11091672" cy="1408176"/>
          </a:xfrm>
          <a:prstGeom prst="roundRect">
            <a:avLst>
              <a:gd fmla="val 5844"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6"/>
          <p:cNvSpPr/>
          <p:nvPr/>
        </p:nvSpPr>
        <p:spPr>
          <a:xfrm>
            <a:off x="841248" y="3382485"/>
            <a:ext cx="713232" cy="713232"/>
          </a:xfrm>
          <a:prstGeom prst="ellipse">
            <a:avLst/>
          </a:prstGeom>
          <a:solidFill>
            <a:srgbClr val="F5EA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riangle_alert_i.png" id="136" name="Google Shape;136;p16"/>
          <p:cNvPicPr preferRelativeResize="0"/>
          <p:nvPr/>
        </p:nvPicPr>
        <p:blipFill rotWithShape="1">
          <a:blip r:embed="rId4">
            <a:alphaModFix/>
          </a:blip>
          <a:srcRect b="0" l="0" r="0" t="0"/>
          <a:stretch/>
        </p:blipFill>
        <p:spPr>
          <a:xfrm>
            <a:off x="1033821" y="3575058"/>
            <a:ext cx="328087" cy="328087"/>
          </a:xfrm>
          <a:prstGeom prst="rect">
            <a:avLst/>
          </a:prstGeom>
          <a:noFill/>
          <a:ln>
            <a:noFill/>
          </a:ln>
        </p:spPr>
      </p:pic>
      <p:sp>
        <p:nvSpPr>
          <p:cNvPr id="137" name="Google Shape;137;p16"/>
          <p:cNvSpPr/>
          <p:nvPr/>
        </p:nvSpPr>
        <p:spPr>
          <a:xfrm>
            <a:off x="1828800" y="3318477"/>
            <a:ext cx="95097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700"/>
              <a:buFont typeface="Cambria"/>
              <a:buNone/>
            </a:pPr>
            <a:r>
              <a:rPr b="1" i="0" lang="en-US" sz="1700" u="none" cap="none" strike="noStrike">
                <a:solidFill>
                  <a:srgbClr val="2A1F1F"/>
                </a:solidFill>
                <a:latin typeface="Cambria"/>
                <a:ea typeface="Cambria"/>
                <a:cs typeface="Cambria"/>
                <a:sym typeface="Cambria"/>
              </a:rPr>
              <a:t>A narrow research window</a:t>
            </a:r>
            <a:endParaRPr b="0" i="0" sz="1700" u="none" cap="none" strike="noStrike">
              <a:solidFill>
                <a:schemeClr val="dk1"/>
              </a:solidFill>
              <a:latin typeface="Calibri"/>
              <a:ea typeface="Calibri"/>
              <a:cs typeface="Calibri"/>
              <a:sym typeface="Calibri"/>
            </a:endParaRPr>
          </a:p>
        </p:txBody>
      </p:sp>
      <p:sp>
        <p:nvSpPr>
          <p:cNvPr id="138" name="Google Shape;138;p16"/>
          <p:cNvSpPr/>
          <p:nvPr/>
        </p:nvSpPr>
        <p:spPr>
          <a:xfrm>
            <a:off x="1828800" y="3702525"/>
            <a:ext cx="9509760" cy="795528"/>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Phase A left only a few weeks to schedule and conduct interviews.</a:t>
            </a:r>
            <a:endParaRPr b="0" i="0" sz="1700" u="none" cap="none" strike="noStrike">
              <a:solidFill>
                <a:schemeClr val="dk1"/>
              </a:solidFill>
              <a:latin typeface="Calibri"/>
              <a:ea typeface="Calibri"/>
              <a:cs typeface="Calibri"/>
              <a:sym typeface="Calibri"/>
            </a:endParaRPr>
          </a:p>
        </p:txBody>
      </p:sp>
      <p:sp>
        <p:nvSpPr>
          <p:cNvPr id="139" name="Google Shape;139;p16"/>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144" name="Shape 144"/>
        <p:cNvGrpSpPr/>
        <p:nvPr/>
      </p:nvGrpSpPr>
      <p:grpSpPr>
        <a:xfrm>
          <a:off x="0" y="0"/>
          <a:ext cx="0" cy="0"/>
          <a:chOff x="0" y="0"/>
          <a:chExt cx="0" cy="0"/>
        </a:xfrm>
      </p:grpSpPr>
      <p:sp>
        <p:nvSpPr>
          <p:cNvPr id="145" name="Google Shape;145;p3"/>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COMPETITIVE LANDSCAPE</a:t>
            </a:r>
            <a:endParaRPr b="0" i="0" sz="1700" u="none" cap="none" strike="noStrike">
              <a:solidFill>
                <a:schemeClr val="dk1"/>
              </a:solidFill>
              <a:latin typeface="Calibri"/>
              <a:ea typeface="Calibri"/>
              <a:cs typeface="Calibri"/>
              <a:sym typeface="Calibri"/>
            </a:endParaRPr>
          </a:p>
        </p:txBody>
      </p:sp>
      <p:sp>
        <p:nvSpPr>
          <p:cNvPr id="146" name="Google Shape;146;p3"/>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Existing solutions and the gap they leave</a:t>
            </a:r>
            <a:endParaRPr b="0" i="0" sz="3200" u="none" cap="none" strike="noStrike">
              <a:solidFill>
                <a:schemeClr val="dk1"/>
              </a:solidFill>
              <a:latin typeface="Calibri"/>
              <a:ea typeface="Calibri"/>
              <a:cs typeface="Calibri"/>
              <a:sym typeface="Calibri"/>
            </a:endParaRPr>
          </a:p>
        </p:txBody>
      </p:sp>
      <p:sp>
        <p:nvSpPr>
          <p:cNvPr id="147" name="Google Shape;147;p3"/>
          <p:cNvSpPr/>
          <p:nvPr/>
        </p:nvSpPr>
        <p:spPr>
          <a:xfrm>
            <a:off x="446730" y="1305289"/>
            <a:ext cx="3549198" cy="2004839"/>
          </a:xfrm>
          <a:prstGeom prst="roundRect">
            <a:avLst>
              <a:gd fmla="val 4865"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
          <p:cNvSpPr/>
          <p:nvPr/>
        </p:nvSpPr>
        <p:spPr>
          <a:xfrm>
            <a:off x="804672" y="1636776"/>
            <a:ext cx="457200" cy="457200"/>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ell_i.png" id="149" name="Google Shape;149;p3"/>
          <p:cNvPicPr preferRelativeResize="0"/>
          <p:nvPr/>
        </p:nvPicPr>
        <p:blipFill rotWithShape="1">
          <a:blip r:embed="rId3">
            <a:alphaModFix/>
          </a:blip>
          <a:srcRect b="0" l="0" r="0" t="0"/>
          <a:stretch/>
        </p:blipFill>
        <p:spPr>
          <a:xfrm>
            <a:off x="928116" y="1760220"/>
            <a:ext cx="210312" cy="210312"/>
          </a:xfrm>
          <a:prstGeom prst="rect">
            <a:avLst/>
          </a:prstGeom>
          <a:noFill/>
          <a:ln>
            <a:noFill/>
          </a:ln>
        </p:spPr>
      </p:pic>
      <p:sp>
        <p:nvSpPr>
          <p:cNvPr id="150" name="Google Shape;150;p3"/>
          <p:cNvSpPr/>
          <p:nvPr/>
        </p:nvSpPr>
        <p:spPr>
          <a:xfrm>
            <a:off x="1417320" y="1636776"/>
            <a:ext cx="232257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50"/>
              <a:buFont typeface="Cambria"/>
              <a:buNone/>
            </a:pPr>
            <a:r>
              <a:rPr b="1" i="0" lang="en-US" sz="1650" u="none" cap="none" strike="noStrike">
                <a:solidFill>
                  <a:srgbClr val="2A1F1F"/>
                </a:solidFill>
                <a:latin typeface="Cambria"/>
                <a:ea typeface="Cambria"/>
                <a:cs typeface="Cambria"/>
                <a:sym typeface="Cambria"/>
              </a:rPr>
              <a:t>Rootd</a:t>
            </a:r>
            <a:endParaRPr b="0" i="0" sz="1650" u="none" cap="none" strike="noStrike">
              <a:solidFill>
                <a:schemeClr val="dk1"/>
              </a:solidFill>
              <a:latin typeface="Calibri"/>
              <a:ea typeface="Calibri"/>
              <a:cs typeface="Calibri"/>
              <a:sym typeface="Calibri"/>
            </a:endParaRPr>
          </a:p>
        </p:txBody>
      </p:sp>
      <p:sp>
        <p:nvSpPr>
          <p:cNvPr id="151" name="Google Shape;151;p3"/>
          <p:cNvSpPr/>
          <p:nvPr/>
        </p:nvSpPr>
        <p:spPr>
          <a:xfrm>
            <a:off x="804672" y="2167128"/>
            <a:ext cx="2907792" cy="7772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53636"/>
              </a:buClr>
              <a:buSzPts val="1250"/>
              <a:buFont typeface="Calibri"/>
              <a:buNone/>
            </a:pPr>
            <a:r>
              <a:rPr b="0" i="0" lang="en-US" sz="1800" u="none" cap="none" strike="noStrike">
                <a:solidFill>
                  <a:srgbClr val="453636"/>
                </a:solidFill>
                <a:latin typeface="Calibri"/>
                <a:ea typeface="Calibri"/>
                <a:cs typeface="Calibri"/>
                <a:sym typeface="Calibri"/>
              </a:rPr>
              <a:t>Panic button for anxiety attacks.</a:t>
            </a:r>
            <a:endParaRPr b="0" i="0" sz="1800" u="none" cap="none" strike="noStrike">
              <a:solidFill>
                <a:schemeClr val="dk1"/>
              </a:solidFill>
              <a:latin typeface="Calibri"/>
              <a:ea typeface="Calibri"/>
              <a:cs typeface="Calibri"/>
              <a:sym typeface="Calibri"/>
            </a:endParaRPr>
          </a:p>
        </p:txBody>
      </p:sp>
      <p:sp>
        <p:nvSpPr>
          <p:cNvPr id="152" name="Google Shape;152;p3"/>
          <p:cNvSpPr/>
          <p:nvPr/>
        </p:nvSpPr>
        <p:spPr>
          <a:xfrm>
            <a:off x="4195770" y="1305289"/>
            <a:ext cx="3549198" cy="2004839"/>
          </a:xfrm>
          <a:prstGeom prst="roundRect">
            <a:avLst>
              <a:gd fmla="val 4865"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
          <p:cNvSpPr/>
          <p:nvPr/>
        </p:nvSpPr>
        <p:spPr>
          <a:xfrm>
            <a:off x="4480560" y="1636776"/>
            <a:ext cx="457200" cy="457200"/>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watch_i.png" id="154" name="Google Shape;154;p3"/>
          <p:cNvPicPr preferRelativeResize="0"/>
          <p:nvPr/>
        </p:nvPicPr>
        <p:blipFill rotWithShape="1">
          <a:blip r:embed="rId4">
            <a:alphaModFix/>
          </a:blip>
          <a:srcRect b="0" l="0" r="0" t="0"/>
          <a:stretch/>
        </p:blipFill>
        <p:spPr>
          <a:xfrm>
            <a:off x="4604004" y="1760220"/>
            <a:ext cx="210312" cy="210312"/>
          </a:xfrm>
          <a:prstGeom prst="rect">
            <a:avLst/>
          </a:prstGeom>
          <a:noFill/>
          <a:ln>
            <a:noFill/>
          </a:ln>
        </p:spPr>
      </p:pic>
      <p:sp>
        <p:nvSpPr>
          <p:cNvPr id="155" name="Google Shape;155;p3"/>
          <p:cNvSpPr/>
          <p:nvPr/>
        </p:nvSpPr>
        <p:spPr>
          <a:xfrm>
            <a:off x="5093208" y="1636776"/>
            <a:ext cx="232257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50"/>
              <a:buFont typeface="Cambria"/>
              <a:buNone/>
            </a:pPr>
            <a:r>
              <a:rPr b="1" i="0" lang="en-US" sz="1650" u="none" cap="none" strike="noStrike">
                <a:solidFill>
                  <a:srgbClr val="2A1F1F"/>
                </a:solidFill>
                <a:latin typeface="Cambria"/>
                <a:ea typeface="Cambria"/>
                <a:cs typeface="Cambria"/>
                <a:sym typeface="Cambria"/>
              </a:rPr>
              <a:t>feeltherapeutics</a:t>
            </a:r>
            <a:endParaRPr b="0" i="0" sz="1650" u="none" cap="none" strike="noStrike">
              <a:solidFill>
                <a:schemeClr val="dk1"/>
              </a:solidFill>
              <a:latin typeface="Calibri"/>
              <a:ea typeface="Calibri"/>
              <a:cs typeface="Calibri"/>
              <a:sym typeface="Calibri"/>
            </a:endParaRPr>
          </a:p>
        </p:txBody>
      </p:sp>
      <p:sp>
        <p:nvSpPr>
          <p:cNvPr id="156" name="Google Shape;156;p3"/>
          <p:cNvSpPr/>
          <p:nvPr/>
        </p:nvSpPr>
        <p:spPr>
          <a:xfrm>
            <a:off x="4480560" y="2167128"/>
            <a:ext cx="2907792" cy="7772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53636"/>
              </a:buClr>
              <a:buSzPts val="1250"/>
              <a:buFont typeface="Calibri"/>
              <a:buNone/>
            </a:pPr>
            <a:r>
              <a:rPr b="0" i="0" lang="en-US" sz="1800" u="none" cap="none" strike="noStrike">
                <a:solidFill>
                  <a:srgbClr val="453636"/>
                </a:solidFill>
                <a:latin typeface="Calibri"/>
                <a:ea typeface="Calibri"/>
                <a:cs typeface="Calibri"/>
                <a:sym typeface="Calibri"/>
              </a:rPr>
              <a:t>Bracelet measuring temperature and heartbeat.</a:t>
            </a:r>
            <a:endParaRPr b="0" i="0" sz="1800" u="none" cap="none" strike="noStrike">
              <a:solidFill>
                <a:schemeClr val="dk1"/>
              </a:solidFill>
              <a:latin typeface="Calibri"/>
              <a:ea typeface="Calibri"/>
              <a:cs typeface="Calibri"/>
              <a:sym typeface="Calibri"/>
            </a:endParaRPr>
          </a:p>
        </p:txBody>
      </p:sp>
      <p:sp>
        <p:nvSpPr>
          <p:cNvPr id="157" name="Google Shape;157;p3"/>
          <p:cNvSpPr/>
          <p:nvPr/>
        </p:nvSpPr>
        <p:spPr>
          <a:xfrm>
            <a:off x="7868412" y="1305289"/>
            <a:ext cx="3470148" cy="2004839"/>
          </a:xfrm>
          <a:prstGeom prst="roundRect">
            <a:avLst>
              <a:gd fmla="val 4865"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
          <p:cNvSpPr/>
          <p:nvPr/>
        </p:nvSpPr>
        <p:spPr>
          <a:xfrm>
            <a:off x="8156448" y="1636776"/>
            <a:ext cx="457200" cy="457200"/>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s_i.png" id="159" name="Google Shape;159;p3"/>
          <p:cNvPicPr preferRelativeResize="0"/>
          <p:nvPr/>
        </p:nvPicPr>
        <p:blipFill rotWithShape="1">
          <a:blip r:embed="rId5">
            <a:alphaModFix/>
          </a:blip>
          <a:srcRect b="0" l="0" r="0" t="0"/>
          <a:stretch/>
        </p:blipFill>
        <p:spPr>
          <a:xfrm>
            <a:off x="8279892" y="1760220"/>
            <a:ext cx="210312" cy="210312"/>
          </a:xfrm>
          <a:prstGeom prst="rect">
            <a:avLst/>
          </a:prstGeom>
          <a:noFill/>
          <a:ln>
            <a:noFill/>
          </a:ln>
        </p:spPr>
      </p:pic>
      <p:sp>
        <p:nvSpPr>
          <p:cNvPr id="160" name="Google Shape;160;p3"/>
          <p:cNvSpPr/>
          <p:nvPr/>
        </p:nvSpPr>
        <p:spPr>
          <a:xfrm>
            <a:off x="8769096" y="1636776"/>
            <a:ext cx="232257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50"/>
              <a:buFont typeface="Cambria"/>
              <a:buNone/>
            </a:pPr>
            <a:r>
              <a:rPr b="1" i="0" lang="en-US" sz="1650" u="none" cap="none" strike="noStrike">
                <a:solidFill>
                  <a:srgbClr val="2A1F1F"/>
                </a:solidFill>
                <a:latin typeface="Cambria"/>
                <a:ea typeface="Cambria"/>
                <a:cs typeface="Cambria"/>
                <a:sym typeface="Cambria"/>
              </a:rPr>
              <a:t>Sanvello</a:t>
            </a:r>
            <a:endParaRPr b="0" i="0" sz="1650" u="none" cap="none" strike="noStrike">
              <a:solidFill>
                <a:schemeClr val="dk1"/>
              </a:solidFill>
              <a:latin typeface="Calibri"/>
              <a:ea typeface="Calibri"/>
              <a:cs typeface="Calibri"/>
              <a:sym typeface="Calibri"/>
            </a:endParaRPr>
          </a:p>
        </p:txBody>
      </p:sp>
      <p:sp>
        <p:nvSpPr>
          <p:cNvPr id="161" name="Google Shape;161;p3"/>
          <p:cNvSpPr/>
          <p:nvPr/>
        </p:nvSpPr>
        <p:spPr>
          <a:xfrm>
            <a:off x="8156448" y="2167128"/>
            <a:ext cx="2907792" cy="7772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53636"/>
              </a:buClr>
              <a:buSzPts val="1250"/>
              <a:buFont typeface="Calibri"/>
              <a:buNone/>
            </a:pPr>
            <a:r>
              <a:rPr b="0" i="0" lang="en-US" sz="1800" u="none" cap="none" strike="noStrike">
                <a:solidFill>
                  <a:srgbClr val="453636"/>
                </a:solidFill>
                <a:latin typeface="Calibri"/>
                <a:ea typeface="Calibri"/>
                <a:cs typeface="Calibri"/>
                <a:sym typeface="Calibri"/>
              </a:rPr>
              <a:t>Community-based app with therapist chat and 1:1 coaching.</a:t>
            </a:r>
            <a:endParaRPr b="0" i="0" sz="1800" u="none" cap="none" strike="noStrike">
              <a:solidFill>
                <a:schemeClr val="dk1"/>
              </a:solidFill>
              <a:latin typeface="Calibri"/>
              <a:ea typeface="Calibri"/>
              <a:cs typeface="Calibri"/>
              <a:sym typeface="Calibri"/>
            </a:endParaRPr>
          </a:p>
        </p:txBody>
      </p:sp>
      <p:sp>
        <p:nvSpPr>
          <p:cNvPr id="162" name="Google Shape;162;p3"/>
          <p:cNvSpPr/>
          <p:nvPr/>
        </p:nvSpPr>
        <p:spPr>
          <a:xfrm>
            <a:off x="548640" y="3310128"/>
            <a:ext cx="54864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400"/>
              <a:buFont typeface="Calibri"/>
              <a:buNone/>
            </a:pPr>
            <a:r>
              <a:rPr b="1" i="0" lang="en-US" sz="1750" u="none" cap="none" strike="noStrike">
                <a:solidFill>
                  <a:srgbClr val="9E4750"/>
                </a:solidFill>
                <a:latin typeface="Calibri"/>
                <a:ea typeface="Calibri"/>
                <a:cs typeface="Calibri"/>
                <a:sym typeface="Calibri"/>
              </a:rPr>
              <a:t>Feature comparison</a:t>
            </a:r>
            <a:endParaRPr b="0" i="0" sz="1750" u="none" cap="none" strike="noStrike">
              <a:solidFill>
                <a:schemeClr val="dk1"/>
              </a:solidFill>
              <a:latin typeface="Calibri"/>
              <a:ea typeface="Calibri"/>
              <a:cs typeface="Calibri"/>
              <a:sym typeface="Calibri"/>
            </a:endParaRPr>
          </a:p>
        </p:txBody>
      </p:sp>
      <p:graphicFrame>
        <p:nvGraphicFramePr>
          <p:cNvPr id="163" name="Google Shape;163;p3"/>
          <p:cNvGraphicFramePr/>
          <p:nvPr/>
        </p:nvGraphicFramePr>
        <p:xfrm>
          <a:off x="548640" y="3675888"/>
          <a:ext cx="3000000" cy="3000000"/>
        </p:xfrm>
        <a:graphic>
          <a:graphicData uri="http://schemas.openxmlformats.org/drawingml/2006/table">
            <a:tbl>
              <a:tblPr>
                <a:noFill/>
                <a:tableStyleId>{89003212-A46F-446A-83AF-891BA12ADF64}</a:tableStyleId>
              </a:tblPr>
              <a:tblGrid>
                <a:gridCol w="3520450"/>
                <a:gridCol w="1783075"/>
                <a:gridCol w="2377450"/>
                <a:gridCol w="1783075"/>
                <a:gridCol w="1627625"/>
              </a:tblGrid>
              <a:tr h="356625">
                <a:tc>
                  <a:txBody>
                    <a:bodyPr/>
                    <a:lstStyle/>
                    <a:p>
                      <a:pPr indent="0" lvl="0" marL="0" marR="0" rtl="0" algn="l">
                        <a:lnSpc>
                          <a:spcPct val="100000"/>
                        </a:lnSpc>
                        <a:spcBef>
                          <a:spcPts val="0"/>
                        </a:spcBef>
                        <a:spcAft>
                          <a:spcPts val="0"/>
                        </a:spcAft>
                        <a:buClr>
                          <a:srgbClr val="FFFFFF"/>
                        </a:buClr>
                        <a:buSzPts val="1300"/>
                        <a:buFont typeface="Calibri"/>
                        <a:buNone/>
                      </a:pPr>
                      <a:r>
                        <a:rPr b="1" lang="en-US" sz="1700" u="none" cap="none" strike="noStrike">
                          <a:solidFill>
                            <a:srgbClr val="FFFFFF"/>
                          </a:solidFill>
                          <a:latin typeface="Calibri"/>
                          <a:ea typeface="Calibri"/>
                          <a:cs typeface="Calibri"/>
                          <a:sym typeface="Calibri"/>
                        </a:rPr>
                        <a:t>Feature</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c>
                  <a:txBody>
                    <a:bodyPr/>
                    <a:lstStyle/>
                    <a:p>
                      <a:pPr indent="0" lvl="0" marL="0" marR="0" rtl="0" algn="ctr">
                        <a:lnSpc>
                          <a:spcPct val="100000"/>
                        </a:lnSpc>
                        <a:spcBef>
                          <a:spcPts val="0"/>
                        </a:spcBef>
                        <a:spcAft>
                          <a:spcPts val="0"/>
                        </a:spcAft>
                        <a:buClr>
                          <a:srgbClr val="FFFFFF"/>
                        </a:buClr>
                        <a:buSzPts val="1300"/>
                        <a:buFont typeface="Calibri"/>
                        <a:buNone/>
                      </a:pPr>
                      <a:r>
                        <a:rPr b="1" lang="en-US" sz="1700" u="none" cap="none" strike="noStrike">
                          <a:solidFill>
                            <a:srgbClr val="FFFFFF"/>
                          </a:solidFill>
                          <a:latin typeface="Calibri"/>
                          <a:ea typeface="Calibri"/>
                          <a:cs typeface="Calibri"/>
                          <a:sym typeface="Calibri"/>
                        </a:rPr>
                        <a:t>Rootd</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c>
                  <a:txBody>
                    <a:bodyPr/>
                    <a:lstStyle/>
                    <a:p>
                      <a:pPr indent="0" lvl="0" marL="0" marR="0" rtl="0" algn="ctr">
                        <a:lnSpc>
                          <a:spcPct val="100000"/>
                        </a:lnSpc>
                        <a:spcBef>
                          <a:spcPts val="0"/>
                        </a:spcBef>
                        <a:spcAft>
                          <a:spcPts val="0"/>
                        </a:spcAft>
                        <a:buClr>
                          <a:srgbClr val="FFFFFF"/>
                        </a:buClr>
                        <a:buSzPts val="1300"/>
                        <a:buFont typeface="Calibri"/>
                        <a:buNone/>
                      </a:pPr>
                      <a:r>
                        <a:rPr b="1" lang="en-US" sz="1700" u="none" cap="none" strike="noStrike">
                          <a:solidFill>
                            <a:srgbClr val="FFFFFF"/>
                          </a:solidFill>
                          <a:latin typeface="Calibri"/>
                          <a:ea typeface="Calibri"/>
                          <a:cs typeface="Calibri"/>
                          <a:sym typeface="Calibri"/>
                        </a:rPr>
                        <a:t>feeltherapeutics</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c>
                  <a:txBody>
                    <a:bodyPr/>
                    <a:lstStyle/>
                    <a:p>
                      <a:pPr indent="0" lvl="0" marL="0" marR="0" rtl="0" algn="ctr">
                        <a:lnSpc>
                          <a:spcPct val="100000"/>
                        </a:lnSpc>
                        <a:spcBef>
                          <a:spcPts val="0"/>
                        </a:spcBef>
                        <a:spcAft>
                          <a:spcPts val="0"/>
                        </a:spcAft>
                        <a:buClr>
                          <a:srgbClr val="FFFFFF"/>
                        </a:buClr>
                        <a:buSzPts val="1300"/>
                        <a:buFont typeface="Calibri"/>
                        <a:buNone/>
                      </a:pPr>
                      <a:r>
                        <a:rPr b="1" lang="en-US" sz="1700" u="none" cap="none" strike="noStrike">
                          <a:solidFill>
                            <a:srgbClr val="FFFFFF"/>
                          </a:solidFill>
                          <a:latin typeface="Calibri"/>
                          <a:ea typeface="Calibri"/>
                          <a:cs typeface="Calibri"/>
                          <a:sym typeface="Calibri"/>
                        </a:rPr>
                        <a:t>Sanvello</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c>
                  <a:txBody>
                    <a:bodyPr/>
                    <a:lstStyle/>
                    <a:p>
                      <a:pPr indent="0" lvl="0" marL="0" marR="0" rtl="0" algn="ctr">
                        <a:lnSpc>
                          <a:spcPct val="100000"/>
                        </a:lnSpc>
                        <a:spcBef>
                          <a:spcPts val="0"/>
                        </a:spcBef>
                        <a:spcAft>
                          <a:spcPts val="0"/>
                        </a:spcAft>
                        <a:buClr>
                          <a:srgbClr val="FFFFFF"/>
                        </a:buClr>
                        <a:buSzPts val="1300"/>
                        <a:buFont typeface="Calibri"/>
                        <a:buNone/>
                      </a:pPr>
                      <a:r>
                        <a:rPr b="1" lang="en-US" sz="1700" u="none" cap="none" strike="noStrike">
                          <a:solidFill>
                            <a:srgbClr val="FFFFFF"/>
                          </a:solidFill>
                          <a:latin typeface="Calibri"/>
                          <a:ea typeface="Calibri"/>
                          <a:cs typeface="Calibri"/>
                          <a:sym typeface="Calibri"/>
                        </a:rPr>
                        <a:t>The gap</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r>
              <a:tr h="356625">
                <a:tc>
                  <a:txBody>
                    <a:bodyPr/>
                    <a:lstStyle/>
                    <a:p>
                      <a:pPr indent="0" lvl="0" marL="0" marR="0" rtl="0" algn="l">
                        <a:lnSpc>
                          <a:spcPct val="100000"/>
                        </a:lnSpc>
                        <a:spcBef>
                          <a:spcPts val="0"/>
                        </a:spcBef>
                        <a:spcAft>
                          <a:spcPts val="0"/>
                        </a:spcAft>
                        <a:buClr>
                          <a:srgbClr val="2A1F1F"/>
                        </a:buClr>
                        <a:buSzPts val="1300"/>
                        <a:buFont typeface="Calibri"/>
                        <a:buNone/>
                      </a:pPr>
                      <a:r>
                        <a:rPr lang="en-US" sz="1700" u="none" cap="none" strike="noStrike">
                          <a:solidFill>
                            <a:srgbClr val="2A1F1F"/>
                          </a:solidFill>
                          <a:latin typeface="Calibri"/>
                          <a:ea typeface="Calibri"/>
                          <a:cs typeface="Calibri"/>
                          <a:sym typeface="Calibri"/>
                        </a:rPr>
                        <a:t>Therapist (professional) side</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b="1"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5DCDD"/>
                    </a:solidFill>
                  </a:tcPr>
                </a:tc>
              </a:tr>
              <a:tr h="356625">
                <a:tc>
                  <a:txBody>
                    <a:bodyPr/>
                    <a:lstStyle/>
                    <a:p>
                      <a:pPr indent="0" lvl="0" marL="0" marR="0" rtl="0" algn="l">
                        <a:lnSpc>
                          <a:spcPct val="100000"/>
                        </a:lnSpc>
                        <a:spcBef>
                          <a:spcPts val="0"/>
                        </a:spcBef>
                        <a:spcAft>
                          <a:spcPts val="0"/>
                        </a:spcAft>
                        <a:buClr>
                          <a:srgbClr val="2A1F1F"/>
                        </a:buClr>
                        <a:buSzPts val="1300"/>
                        <a:buFont typeface="Calibri"/>
                        <a:buNone/>
                      </a:pPr>
                      <a:r>
                        <a:rPr lang="en-US" sz="1700" u="none" cap="none" strike="noStrike">
                          <a:solidFill>
                            <a:srgbClr val="2A1F1F"/>
                          </a:solidFill>
                          <a:latin typeface="Calibri"/>
                          <a:ea typeface="Calibri"/>
                          <a:cs typeface="Calibri"/>
                          <a:sym typeface="Calibri"/>
                        </a:rPr>
                        <a:t>Automatic anxiety detection</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b="1"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5DCDD"/>
                    </a:solidFill>
                  </a:tcPr>
                </a:tc>
              </a:tr>
              <a:tr h="356625">
                <a:tc>
                  <a:txBody>
                    <a:bodyPr/>
                    <a:lstStyle/>
                    <a:p>
                      <a:pPr indent="0" lvl="0" marL="0" marR="0" rtl="0" algn="l">
                        <a:lnSpc>
                          <a:spcPct val="100000"/>
                        </a:lnSpc>
                        <a:spcBef>
                          <a:spcPts val="0"/>
                        </a:spcBef>
                        <a:spcAft>
                          <a:spcPts val="0"/>
                        </a:spcAft>
                        <a:buClr>
                          <a:srgbClr val="2A1F1F"/>
                        </a:buClr>
                        <a:buSzPts val="1300"/>
                        <a:buFont typeface="Calibri"/>
                        <a:buNone/>
                      </a:pPr>
                      <a:r>
                        <a:rPr lang="en-US" sz="1700" u="none" cap="none" strike="noStrike">
                          <a:solidFill>
                            <a:srgbClr val="2A1F1F"/>
                          </a:solidFill>
                          <a:latin typeface="Calibri"/>
                          <a:ea typeface="Calibri"/>
                          <a:cs typeface="Calibri"/>
                          <a:sym typeface="Calibri"/>
                        </a:rPr>
                        <a:t>Documentation experience</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b="1"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5DCDD"/>
                    </a:solidFill>
                  </a:tcPr>
                </a:tc>
              </a:tr>
              <a:tr h="356625">
                <a:tc>
                  <a:txBody>
                    <a:bodyPr/>
                    <a:lstStyle/>
                    <a:p>
                      <a:pPr indent="0" lvl="0" marL="0" marR="0" rtl="0" algn="l">
                        <a:lnSpc>
                          <a:spcPct val="100000"/>
                        </a:lnSpc>
                        <a:spcBef>
                          <a:spcPts val="0"/>
                        </a:spcBef>
                        <a:spcAft>
                          <a:spcPts val="0"/>
                        </a:spcAft>
                        <a:buClr>
                          <a:srgbClr val="2A1F1F"/>
                        </a:buClr>
                        <a:buSzPts val="1300"/>
                        <a:buFont typeface="Calibri"/>
                        <a:buNone/>
                      </a:pPr>
                      <a:r>
                        <a:rPr lang="en-US" sz="1700" u="none" cap="none" strike="noStrike">
                          <a:solidFill>
                            <a:srgbClr val="2A1F1F"/>
                          </a:solidFill>
                          <a:latin typeface="Calibri"/>
                          <a:ea typeface="Calibri"/>
                          <a:cs typeface="Calibri"/>
                          <a:sym typeface="Calibri"/>
                        </a:rPr>
                        <a:t>Chat with AI</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b="1"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5DCDD"/>
                    </a:solidFill>
                  </a:tcPr>
                </a:tc>
              </a:tr>
              <a:tr h="356625">
                <a:tc>
                  <a:txBody>
                    <a:bodyPr/>
                    <a:lstStyle/>
                    <a:p>
                      <a:pPr indent="0" lvl="0" marL="0" marR="0" rtl="0" algn="l">
                        <a:lnSpc>
                          <a:spcPct val="100000"/>
                        </a:lnSpc>
                        <a:spcBef>
                          <a:spcPts val="0"/>
                        </a:spcBef>
                        <a:spcAft>
                          <a:spcPts val="0"/>
                        </a:spcAft>
                        <a:buClr>
                          <a:srgbClr val="2A1F1F"/>
                        </a:buClr>
                        <a:buSzPts val="1300"/>
                        <a:buFont typeface="Calibri"/>
                        <a:buNone/>
                      </a:pPr>
                      <a:r>
                        <a:rPr lang="en-US" sz="1700" u="none" cap="none" strike="noStrike">
                          <a:solidFill>
                            <a:srgbClr val="2A1F1F"/>
                          </a:solidFill>
                          <a:latin typeface="Calibri"/>
                          <a:ea typeface="Calibri"/>
                          <a:cs typeface="Calibri"/>
                          <a:sym typeface="Calibri"/>
                        </a:rPr>
                        <a:t>Connected smart wearable</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b="1"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5DCDD"/>
                    </a:solidFill>
                  </a:tcPr>
                </a:tc>
              </a:tr>
              <a:tr h="356625">
                <a:tc>
                  <a:txBody>
                    <a:bodyPr/>
                    <a:lstStyle/>
                    <a:p>
                      <a:pPr indent="0" lvl="0" marL="0" marR="0" rtl="0" algn="l">
                        <a:lnSpc>
                          <a:spcPct val="100000"/>
                        </a:lnSpc>
                        <a:spcBef>
                          <a:spcPts val="0"/>
                        </a:spcBef>
                        <a:spcAft>
                          <a:spcPts val="0"/>
                        </a:spcAft>
                        <a:buClr>
                          <a:srgbClr val="2A1F1F"/>
                        </a:buClr>
                        <a:buSzPts val="1300"/>
                        <a:buFont typeface="Calibri"/>
                        <a:buNone/>
                      </a:pPr>
                      <a:r>
                        <a:rPr lang="en-US" sz="1700" u="none" cap="none" strike="noStrike">
                          <a:solidFill>
                            <a:srgbClr val="2A1F1F"/>
                          </a:solidFill>
                          <a:latin typeface="Calibri"/>
                          <a:ea typeface="Calibri"/>
                          <a:cs typeface="Calibri"/>
                          <a:sym typeface="Calibri"/>
                        </a:rPr>
                        <a:t>Community support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b="1"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5DCDD"/>
                    </a:solidFill>
                  </a:tcPr>
                </a:tc>
              </a:tr>
              <a:tr h="356625">
                <a:tc>
                  <a:txBody>
                    <a:bodyPr/>
                    <a:lstStyle/>
                    <a:p>
                      <a:pPr indent="0" lvl="0" marL="0" marR="0" rtl="0" algn="l">
                        <a:lnSpc>
                          <a:spcPct val="100000"/>
                        </a:lnSpc>
                        <a:spcBef>
                          <a:spcPts val="0"/>
                        </a:spcBef>
                        <a:spcAft>
                          <a:spcPts val="0"/>
                        </a:spcAft>
                        <a:buClr>
                          <a:srgbClr val="2A1F1F"/>
                        </a:buClr>
                        <a:buSzPts val="1300"/>
                        <a:buFont typeface="Calibri"/>
                        <a:buNone/>
                      </a:pPr>
                      <a:r>
                        <a:rPr lang="en-US" sz="1700" u="none" cap="none" strike="noStrike">
                          <a:solidFill>
                            <a:srgbClr val="2A1F1F"/>
                          </a:solidFill>
                          <a:latin typeface="Calibri"/>
                          <a:ea typeface="Calibri"/>
                          <a:cs typeface="Calibri"/>
                          <a:sym typeface="Calibri"/>
                        </a:rPr>
                        <a:t>Calming music / sounds</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D9C8C6"/>
                        </a:buClr>
                        <a:buSzPts val="1300"/>
                        <a:buFont typeface="Calibri"/>
                        <a:buNone/>
                      </a:pPr>
                      <a:r>
                        <a:rPr lang="en-US" sz="1700" u="none" cap="none" strike="noStrike">
                          <a:solidFill>
                            <a:srgbClr val="D9C8C6"/>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9E4750"/>
                        </a:buClr>
                        <a:buSzPts val="1300"/>
                        <a:buFont typeface="Calibri"/>
                        <a:buNone/>
                      </a:pPr>
                      <a:r>
                        <a:rPr b="1" lang="en-US" sz="1700" u="none" cap="none" strike="noStrike">
                          <a:solidFill>
                            <a:srgbClr val="9E4750"/>
                          </a:solidFill>
                          <a:latin typeface="Calibri"/>
                          <a:ea typeface="Calibri"/>
                          <a:cs typeface="Calibri"/>
                          <a:sym typeface="Calibri"/>
                        </a:rPr>
                        <a:t>✓</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5DCDD"/>
                    </a:solidFill>
                  </a:tcPr>
                </a:tc>
              </a:tr>
            </a:tbl>
          </a:graphicData>
        </a:graphic>
      </p:graphicFrame>
      <p:sp>
        <p:nvSpPr>
          <p:cNvPr id="164" name="Google Shape;164;p3"/>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169" name="Shape 169"/>
        <p:cNvGrpSpPr/>
        <p:nvPr/>
      </p:nvGrpSpPr>
      <p:grpSpPr>
        <a:xfrm>
          <a:off x="0" y="0"/>
          <a:ext cx="0" cy="0"/>
          <a:chOff x="0" y="0"/>
          <a:chExt cx="0" cy="0"/>
        </a:xfrm>
      </p:grpSpPr>
      <p:sp>
        <p:nvSpPr>
          <p:cNvPr id="170" name="Google Shape;170;g3f006001280_1_0"/>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9E4750"/>
              </a:buClr>
              <a:buSzPts val="1700"/>
              <a:buFont typeface="Calibri"/>
              <a:buNone/>
            </a:pPr>
            <a:r>
              <a:rPr b="1" i="0" lang="en-US" sz="1700" u="none" cap="none" strike="noStrike">
                <a:solidFill>
                  <a:srgbClr val="9E4750"/>
                </a:solidFill>
                <a:latin typeface="Calibri"/>
                <a:ea typeface="Calibri"/>
                <a:cs typeface="Calibri"/>
                <a:sym typeface="Calibri"/>
              </a:rPr>
              <a:t>PROJECT CONTEXT</a:t>
            </a:r>
            <a:endParaRPr b="0" i="0" sz="1700" u="none" cap="none" strike="noStrike">
              <a:solidFill>
                <a:schemeClr val="dk1"/>
              </a:solidFill>
              <a:latin typeface="Calibri"/>
              <a:ea typeface="Calibri"/>
              <a:cs typeface="Calibri"/>
              <a:sym typeface="Calibri"/>
            </a:endParaRPr>
          </a:p>
        </p:txBody>
      </p:sp>
      <p:sp>
        <p:nvSpPr>
          <p:cNvPr id="171" name="Google Shape;171;g3f006001280_1_0"/>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Building on what came before</a:t>
            </a:r>
            <a:endParaRPr b="0" i="0" sz="3200" u="none" cap="none" strike="noStrike">
              <a:solidFill>
                <a:schemeClr val="dk1"/>
              </a:solidFill>
              <a:latin typeface="Calibri"/>
              <a:ea typeface="Calibri"/>
              <a:cs typeface="Calibri"/>
              <a:sym typeface="Calibri"/>
            </a:endParaRPr>
          </a:p>
        </p:txBody>
      </p:sp>
      <p:sp>
        <p:nvSpPr>
          <p:cNvPr id="172" name="Google Shape;172;g3f006001280_1_0"/>
          <p:cNvSpPr/>
          <p:nvPr/>
        </p:nvSpPr>
        <p:spPr>
          <a:xfrm>
            <a:off x="548640" y="1650000"/>
            <a:ext cx="5450000" cy="4750000"/>
          </a:xfrm>
          <a:prstGeom prst="roundRect">
            <a:avLst>
              <a:gd fmla="val 1500"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3f006001280_1_0"/>
          <p:cNvSpPr/>
          <p:nvPr/>
        </p:nvSpPr>
        <p:spPr>
          <a:xfrm>
            <a:off x="822960" y="1878600"/>
            <a:ext cx="4901360" cy="32000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9E4750"/>
              </a:buClr>
              <a:buSzPts val="1500"/>
              <a:buFont typeface="Calibri"/>
              <a:buNone/>
            </a:pPr>
            <a:r>
              <a:rPr b="1" i="0" lang="en-US" sz="1500" u="none" cap="none" strike="noStrike">
                <a:solidFill>
                  <a:srgbClr val="9E4750"/>
                </a:solidFill>
                <a:latin typeface="Calibri"/>
                <a:ea typeface="Calibri"/>
                <a:cs typeface="Calibri"/>
                <a:sym typeface="Calibri"/>
              </a:rPr>
              <a:t>BEFORE: COZY SPACE</a:t>
            </a:r>
            <a:endParaRPr b="0" i="0" sz="1500" u="none" cap="none" strike="noStrike">
              <a:solidFill>
                <a:schemeClr val="dk1"/>
              </a:solidFill>
              <a:latin typeface="Calibri"/>
              <a:ea typeface="Calibri"/>
              <a:cs typeface="Calibri"/>
              <a:sym typeface="Calibri"/>
            </a:endParaRPr>
          </a:p>
        </p:txBody>
      </p:sp>
      <p:pic>
        <p:nvPicPr>
          <p:cNvPr descr="screens/cozyspace.png" id="174" name="Google Shape;174;g3f006001280_1_0"/>
          <p:cNvPicPr preferRelativeResize="0"/>
          <p:nvPr/>
        </p:nvPicPr>
        <p:blipFill rotWithShape="1">
          <a:blip r:embed="rId3">
            <a:alphaModFix/>
          </a:blip>
          <a:srcRect b="0" l="0" r="0" t="0"/>
          <a:stretch/>
        </p:blipFill>
        <p:spPr>
          <a:xfrm>
            <a:off x="722527" y="2388014"/>
            <a:ext cx="5042021" cy="3446075"/>
          </a:xfrm>
          <a:prstGeom prst="rect">
            <a:avLst/>
          </a:prstGeom>
          <a:noFill/>
          <a:ln>
            <a:noFill/>
          </a:ln>
        </p:spPr>
      </p:pic>
      <p:sp>
        <p:nvSpPr>
          <p:cNvPr id="175" name="Google Shape;175;g3f006001280_1_0"/>
          <p:cNvSpPr/>
          <p:nvPr/>
        </p:nvSpPr>
        <p:spPr>
          <a:xfrm>
            <a:off x="6273840" y="1650000"/>
            <a:ext cx="5369520" cy="4750000"/>
          </a:xfrm>
          <a:prstGeom prst="roundRect">
            <a:avLst>
              <a:gd fmla="val 1500"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3f006001280_1_0"/>
          <p:cNvSpPr/>
          <p:nvPr/>
        </p:nvSpPr>
        <p:spPr>
          <a:xfrm>
            <a:off x="6548160" y="1878600"/>
            <a:ext cx="4820880" cy="32000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9E4750"/>
              </a:buClr>
              <a:buSzPts val="1500"/>
              <a:buFont typeface="Calibri"/>
              <a:buNone/>
            </a:pPr>
            <a:r>
              <a:rPr b="1" i="0" lang="en-US" sz="1500" u="none" cap="none" strike="noStrike">
                <a:solidFill>
                  <a:srgbClr val="9E4750"/>
                </a:solidFill>
                <a:latin typeface="Calibri"/>
                <a:ea typeface="Calibri"/>
                <a:cs typeface="Calibri"/>
                <a:sym typeface="Calibri"/>
              </a:rPr>
              <a:t>OUR ADDITION</a:t>
            </a:r>
            <a:endParaRPr b="0" i="0" sz="1500" u="none" cap="none" strike="noStrike">
              <a:solidFill>
                <a:schemeClr val="dk1"/>
              </a:solidFill>
              <a:latin typeface="Calibri"/>
              <a:ea typeface="Calibri"/>
              <a:cs typeface="Calibri"/>
              <a:sym typeface="Calibri"/>
            </a:endParaRPr>
          </a:p>
        </p:txBody>
      </p:sp>
      <p:sp>
        <p:nvSpPr>
          <p:cNvPr id="177" name="Google Shape;177;g3f006001280_1_0"/>
          <p:cNvSpPr/>
          <p:nvPr/>
        </p:nvSpPr>
        <p:spPr>
          <a:xfrm>
            <a:off x="6548160" y="2290000"/>
            <a:ext cx="4820880" cy="7000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500"/>
              <a:buFont typeface="Calibri"/>
              <a:buNone/>
            </a:pPr>
            <a:r>
              <a:rPr b="0" i="0" lang="en-US" sz="1500" u="none" cap="none" strike="noStrike">
                <a:solidFill>
                  <a:srgbClr val="453636"/>
                </a:solidFill>
                <a:latin typeface="Calibri"/>
                <a:ea typeface="Calibri"/>
                <a:cs typeface="Calibri"/>
                <a:sym typeface="Calibri"/>
              </a:rPr>
              <a:t>Phase A keeps the validated patient experience and extends it in two directions:</a:t>
            </a:r>
            <a:endParaRPr b="0" i="0" sz="1500" u="none" cap="none" strike="noStrike">
              <a:solidFill>
                <a:schemeClr val="dk1"/>
              </a:solidFill>
              <a:latin typeface="Calibri"/>
              <a:ea typeface="Calibri"/>
              <a:cs typeface="Calibri"/>
              <a:sym typeface="Calibri"/>
            </a:endParaRPr>
          </a:p>
        </p:txBody>
      </p:sp>
      <p:sp>
        <p:nvSpPr>
          <p:cNvPr id="178" name="Google Shape;178;g3f006001280_1_0"/>
          <p:cNvSpPr/>
          <p:nvPr/>
        </p:nvSpPr>
        <p:spPr>
          <a:xfrm>
            <a:off x="6548160" y="3150000"/>
            <a:ext cx="640080" cy="640080"/>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g3f006001280_1_0"/>
          <p:cNvSpPr/>
          <p:nvPr/>
        </p:nvSpPr>
        <p:spPr>
          <a:xfrm>
            <a:off x="7416840" y="3120000"/>
            <a:ext cx="3952200" cy="3200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A1F1F"/>
              </a:buClr>
              <a:buSzPts val="1600"/>
              <a:buFont typeface="Cambria"/>
              <a:buNone/>
            </a:pPr>
            <a:r>
              <a:rPr b="1" i="0" lang="en-US" sz="1600" u="none" cap="none" strike="noStrike">
                <a:solidFill>
                  <a:srgbClr val="2A1F1F"/>
                </a:solidFill>
                <a:latin typeface="Cambria"/>
                <a:ea typeface="Cambria"/>
                <a:cs typeface="Cambria"/>
                <a:sym typeface="Cambria"/>
              </a:rPr>
              <a:t>Smart jewelry hardware</a:t>
            </a:r>
            <a:endParaRPr b="0" i="0" sz="1600" u="none" cap="none" strike="noStrike">
              <a:solidFill>
                <a:schemeClr val="dk1"/>
              </a:solidFill>
              <a:latin typeface="Calibri"/>
              <a:ea typeface="Calibri"/>
              <a:cs typeface="Calibri"/>
              <a:sym typeface="Calibri"/>
            </a:endParaRPr>
          </a:p>
        </p:txBody>
      </p:sp>
      <p:sp>
        <p:nvSpPr>
          <p:cNvPr id="180" name="Google Shape;180;g3f006001280_1_0"/>
          <p:cNvSpPr/>
          <p:nvPr/>
        </p:nvSpPr>
        <p:spPr>
          <a:xfrm>
            <a:off x="7416840" y="3480000"/>
            <a:ext cx="3952200" cy="8000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400"/>
              <a:buFont typeface="Calibri"/>
              <a:buNone/>
            </a:pPr>
            <a:r>
              <a:rPr b="0" i="0" lang="en-US" sz="1400" u="none" cap="none" strike="noStrike">
                <a:solidFill>
                  <a:srgbClr val="453636"/>
                </a:solidFill>
                <a:latin typeface="Calibri"/>
                <a:ea typeface="Calibri"/>
                <a:cs typeface="Calibri"/>
                <a:sym typeface="Calibri"/>
              </a:rPr>
              <a:t>A physical wearable with click &amp; roll input and Bluetooth streaming, replacing the phone-only interface.</a:t>
            </a:r>
            <a:endParaRPr b="0" i="0" sz="1400" u="none" cap="none" strike="noStrike">
              <a:solidFill>
                <a:schemeClr val="dk1"/>
              </a:solidFill>
              <a:latin typeface="Calibri"/>
              <a:ea typeface="Calibri"/>
              <a:cs typeface="Calibri"/>
              <a:sym typeface="Calibri"/>
            </a:endParaRPr>
          </a:p>
        </p:txBody>
      </p:sp>
      <p:sp>
        <p:nvSpPr>
          <p:cNvPr id="181" name="Google Shape;181;g3f006001280_1_0"/>
          <p:cNvSpPr/>
          <p:nvPr/>
        </p:nvSpPr>
        <p:spPr>
          <a:xfrm>
            <a:off x="6548160" y="4650000"/>
            <a:ext cx="640080" cy="640080"/>
          </a:xfrm>
          <a:prstGeom prst="ellipse">
            <a:avLst/>
          </a:prstGeom>
          <a:solidFill>
            <a:srgbClr val="DCE9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s_i.png" id="182" name="Google Shape;182;g3f006001280_1_0"/>
          <p:cNvPicPr preferRelativeResize="0"/>
          <p:nvPr/>
        </p:nvPicPr>
        <p:blipFill rotWithShape="1">
          <a:blip r:embed="rId4">
            <a:alphaModFix/>
          </a:blip>
          <a:srcRect b="0" l="0" r="0" t="0"/>
          <a:stretch/>
        </p:blipFill>
        <p:spPr>
          <a:xfrm>
            <a:off x="6703200" y="4805040"/>
            <a:ext cx="330000" cy="330000"/>
          </a:xfrm>
          <a:prstGeom prst="rect">
            <a:avLst/>
          </a:prstGeom>
          <a:noFill/>
          <a:ln>
            <a:noFill/>
          </a:ln>
        </p:spPr>
      </p:pic>
      <p:sp>
        <p:nvSpPr>
          <p:cNvPr id="183" name="Google Shape;183;g3f006001280_1_0"/>
          <p:cNvSpPr/>
          <p:nvPr/>
        </p:nvSpPr>
        <p:spPr>
          <a:xfrm>
            <a:off x="7416840" y="4620000"/>
            <a:ext cx="3952200" cy="3200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A1F1F"/>
              </a:buClr>
              <a:buSzPts val="1600"/>
              <a:buFont typeface="Cambria"/>
              <a:buNone/>
            </a:pPr>
            <a:r>
              <a:rPr b="1" i="0" lang="en-US" sz="1600" u="none" cap="none" strike="noStrike">
                <a:solidFill>
                  <a:srgbClr val="2A1F1F"/>
                </a:solidFill>
                <a:latin typeface="Cambria"/>
                <a:ea typeface="Cambria"/>
                <a:cs typeface="Cambria"/>
                <a:sym typeface="Cambria"/>
              </a:rPr>
              <a:t>Community &amp; moderation</a:t>
            </a:r>
            <a:endParaRPr b="0" i="0" sz="1600" u="none" cap="none" strike="noStrike">
              <a:solidFill>
                <a:schemeClr val="dk1"/>
              </a:solidFill>
              <a:latin typeface="Calibri"/>
              <a:ea typeface="Calibri"/>
              <a:cs typeface="Calibri"/>
              <a:sym typeface="Calibri"/>
            </a:endParaRPr>
          </a:p>
        </p:txBody>
      </p:sp>
      <p:sp>
        <p:nvSpPr>
          <p:cNvPr id="184" name="Google Shape;184;g3f006001280_1_0"/>
          <p:cNvSpPr/>
          <p:nvPr/>
        </p:nvSpPr>
        <p:spPr>
          <a:xfrm>
            <a:off x="7416840" y="4980000"/>
            <a:ext cx="3952200" cy="8000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400"/>
              <a:buFont typeface="Calibri"/>
              <a:buNone/>
            </a:pPr>
            <a:r>
              <a:rPr b="0" i="0" lang="en-US" sz="1400" u="none" cap="none" strike="noStrike">
                <a:solidFill>
                  <a:srgbClr val="453636"/>
                </a:solidFill>
                <a:latin typeface="Calibri"/>
                <a:ea typeface="Calibri"/>
                <a:cs typeface="Calibri"/>
                <a:sym typeface="Calibri"/>
              </a:rPr>
              <a:t>Anonymous peer support, and a moderated community layer with a dedicated admin web app.</a:t>
            </a:r>
            <a:endParaRPr b="0" i="0" sz="1400" u="none" cap="none" strike="noStrike">
              <a:solidFill>
                <a:schemeClr val="dk1"/>
              </a:solidFill>
              <a:latin typeface="Calibri"/>
              <a:ea typeface="Calibri"/>
              <a:cs typeface="Calibri"/>
              <a:sym typeface="Calibri"/>
            </a:endParaRPr>
          </a:p>
        </p:txBody>
      </p:sp>
      <p:pic>
        <p:nvPicPr>
          <p:cNvPr descr="logos/shenkar.png" id="185" name="Google Shape;185;g3f006001280_1_0"/>
          <p:cNvPicPr preferRelativeResize="0"/>
          <p:nvPr/>
        </p:nvPicPr>
        <p:blipFill rotWithShape="1">
          <a:blip r:embed="rId5">
            <a:alphaModFix/>
          </a:blip>
          <a:srcRect b="0" l="0" r="0" t="0"/>
          <a:stretch/>
        </p:blipFill>
        <p:spPr>
          <a:xfrm>
            <a:off x="9667511" y="5692000"/>
            <a:ext cx="1757370" cy="506376"/>
          </a:xfrm>
          <a:prstGeom prst="rect">
            <a:avLst/>
          </a:prstGeom>
          <a:noFill/>
          <a:ln>
            <a:noFill/>
          </a:ln>
        </p:spPr>
      </p:pic>
      <p:pic>
        <p:nvPicPr>
          <p:cNvPr id="186" name="Google Shape;186;g3f006001280_1_0"/>
          <p:cNvPicPr preferRelativeResize="0"/>
          <p:nvPr/>
        </p:nvPicPr>
        <p:blipFill rotWithShape="1">
          <a:blip r:embed="rId6">
            <a:alphaModFix/>
          </a:blip>
          <a:srcRect b="8675" l="36686" r="35494" t="24644"/>
          <a:stretch/>
        </p:blipFill>
        <p:spPr>
          <a:xfrm>
            <a:off x="6579411" y="3110144"/>
            <a:ext cx="593480" cy="709855"/>
          </a:xfrm>
          <a:prstGeom prst="rect">
            <a:avLst/>
          </a:prstGeom>
          <a:noFill/>
          <a:ln>
            <a:noFill/>
          </a:ln>
        </p:spPr>
      </p:pic>
      <p:sp>
        <p:nvSpPr>
          <p:cNvPr id="187" name="Google Shape;187;g3f006001280_1_0"/>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192" name="Shape 192"/>
        <p:cNvGrpSpPr/>
        <p:nvPr/>
      </p:nvGrpSpPr>
      <p:grpSpPr>
        <a:xfrm>
          <a:off x="0" y="0"/>
          <a:ext cx="0" cy="0"/>
          <a:chOff x="0" y="0"/>
          <a:chExt cx="0" cy="0"/>
        </a:xfrm>
      </p:grpSpPr>
      <p:sp>
        <p:nvSpPr>
          <p:cNvPr id="193" name="Google Shape;193;p5"/>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RESEARCH METHODOLOGY</a:t>
            </a:r>
            <a:endParaRPr b="0" i="0" sz="1700" u="none" cap="none" strike="noStrike">
              <a:solidFill>
                <a:schemeClr val="dk1"/>
              </a:solidFill>
              <a:latin typeface="Calibri"/>
              <a:ea typeface="Calibri"/>
              <a:cs typeface="Calibri"/>
              <a:sym typeface="Calibri"/>
            </a:endParaRPr>
          </a:p>
        </p:txBody>
      </p:sp>
      <p:sp>
        <p:nvSpPr>
          <p:cNvPr id="194" name="Google Shape;194;p5"/>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Grounding the system in clinical practice</a:t>
            </a:r>
            <a:endParaRPr b="0" i="0" sz="3200" u="none" cap="none" strike="noStrike">
              <a:solidFill>
                <a:schemeClr val="dk1"/>
              </a:solidFill>
              <a:latin typeface="Calibri"/>
              <a:ea typeface="Calibri"/>
              <a:cs typeface="Calibri"/>
              <a:sym typeface="Calibri"/>
            </a:endParaRPr>
          </a:p>
        </p:txBody>
      </p:sp>
      <p:sp>
        <p:nvSpPr>
          <p:cNvPr id="195" name="Google Shape;195;p5"/>
          <p:cNvSpPr/>
          <p:nvPr/>
        </p:nvSpPr>
        <p:spPr>
          <a:xfrm>
            <a:off x="548640" y="1592594"/>
            <a:ext cx="3520500" cy="1051500"/>
          </a:xfrm>
          <a:prstGeom prst="roundRect">
            <a:avLst>
              <a:gd fmla="val 7826"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5"/>
          <p:cNvSpPr/>
          <p:nvPr/>
        </p:nvSpPr>
        <p:spPr>
          <a:xfrm>
            <a:off x="777240" y="1793762"/>
            <a:ext cx="640200" cy="640200"/>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psychologist_i.png" id="197" name="Google Shape;197;p5"/>
          <p:cNvPicPr preferRelativeResize="0"/>
          <p:nvPr/>
        </p:nvPicPr>
        <p:blipFill rotWithShape="1">
          <a:blip r:embed="rId3">
            <a:alphaModFix/>
          </a:blip>
          <a:srcRect b="0" l="0" r="0" t="0"/>
          <a:stretch/>
        </p:blipFill>
        <p:spPr>
          <a:xfrm>
            <a:off x="950062" y="1966584"/>
            <a:ext cx="294437" cy="294437"/>
          </a:xfrm>
          <a:prstGeom prst="rect">
            <a:avLst/>
          </a:prstGeom>
          <a:noFill/>
          <a:ln>
            <a:noFill/>
          </a:ln>
        </p:spPr>
      </p:pic>
      <p:sp>
        <p:nvSpPr>
          <p:cNvPr id="198" name="Google Shape;198;p5"/>
          <p:cNvSpPr/>
          <p:nvPr/>
        </p:nvSpPr>
        <p:spPr>
          <a:xfrm>
            <a:off x="1554505" y="1816609"/>
            <a:ext cx="1097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400"/>
              <a:buFont typeface="Cambria"/>
              <a:buNone/>
            </a:pPr>
            <a:r>
              <a:rPr b="1" i="0" lang="en-US" sz="3400" u="none" cap="none" strike="noStrike">
                <a:solidFill>
                  <a:srgbClr val="2A1F1F"/>
                </a:solidFill>
                <a:latin typeface="Cambria"/>
                <a:ea typeface="Cambria"/>
                <a:cs typeface="Cambria"/>
                <a:sym typeface="Cambria"/>
              </a:rPr>
              <a:t>8</a:t>
            </a:r>
            <a:endParaRPr b="0" i="0" sz="3400" u="none" cap="none" strike="noStrike">
              <a:solidFill>
                <a:schemeClr val="dk1"/>
              </a:solidFill>
              <a:latin typeface="Calibri"/>
              <a:ea typeface="Calibri"/>
              <a:cs typeface="Calibri"/>
              <a:sym typeface="Calibri"/>
            </a:endParaRPr>
          </a:p>
        </p:txBody>
      </p:sp>
      <p:sp>
        <p:nvSpPr>
          <p:cNvPr id="199" name="Google Shape;199;p5"/>
          <p:cNvSpPr/>
          <p:nvPr/>
        </p:nvSpPr>
        <p:spPr>
          <a:xfrm>
            <a:off x="2080474" y="1757186"/>
            <a:ext cx="1280100" cy="731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453636"/>
              </a:buClr>
              <a:buSzPts val="1300"/>
              <a:buFont typeface="Calibri"/>
              <a:buNone/>
            </a:pPr>
            <a:r>
              <a:rPr b="0" i="0" lang="en-US" sz="1700" u="none" cap="none" strike="noStrike">
                <a:solidFill>
                  <a:srgbClr val="453636"/>
                </a:solidFill>
                <a:latin typeface="Calibri"/>
                <a:ea typeface="Calibri"/>
                <a:cs typeface="Calibri"/>
                <a:sym typeface="Calibri"/>
              </a:rPr>
              <a:t>Human professionals interviewed</a:t>
            </a:r>
            <a:endParaRPr b="0" i="0" sz="1700" u="none" cap="none" strike="noStrike">
              <a:solidFill>
                <a:schemeClr val="dk1"/>
              </a:solidFill>
              <a:latin typeface="Calibri"/>
              <a:ea typeface="Calibri"/>
              <a:cs typeface="Calibri"/>
              <a:sym typeface="Calibri"/>
            </a:endParaRPr>
          </a:p>
        </p:txBody>
      </p:sp>
      <p:sp>
        <p:nvSpPr>
          <p:cNvPr id="200" name="Google Shape;200;p5"/>
          <p:cNvSpPr/>
          <p:nvPr/>
        </p:nvSpPr>
        <p:spPr>
          <a:xfrm>
            <a:off x="4343400" y="1592594"/>
            <a:ext cx="3520500" cy="1051500"/>
          </a:xfrm>
          <a:prstGeom prst="roundRect">
            <a:avLst>
              <a:gd fmla="val 7826"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5"/>
          <p:cNvSpPr/>
          <p:nvPr/>
        </p:nvSpPr>
        <p:spPr>
          <a:xfrm>
            <a:off x="4572000" y="1793762"/>
            <a:ext cx="640200" cy="640200"/>
          </a:xfrm>
          <a:prstGeom prst="ellipse">
            <a:avLst/>
          </a:prstGeom>
          <a:solidFill>
            <a:srgbClr val="DCE9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omments_i.png" id="202" name="Google Shape;202;p5"/>
          <p:cNvPicPr preferRelativeResize="0"/>
          <p:nvPr/>
        </p:nvPicPr>
        <p:blipFill rotWithShape="1">
          <a:blip r:embed="rId4">
            <a:alphaModFix/>
          </a:blip>
          <a:srcRect b="0" l="0" r="0" t="0"/>
          <a:stretch/>
        </p:blipFill>
        <p:spPr>
          <a:xfrm>
            <a:off x="4744822" y="1966584"/>
            <a:ext cx="294437" cy="294437"/>
          </a:xfrm>
          <a:prstGeom prst="rect">
            <a:avLst/>
          </a:prstGeom>
          <a:noFill/>
          <a:ln>
            <a:noFill/>
          </a:ln>
        </p:spPr>
      </p:pic>
      <p:sp>
        <p:nvSpPr>
          <p:cNvPr id="203" name="Google Shape;203;p5"/>
          <p:cNvSpPr/>
          <p:nvPr/>
        </p:nvSpPr>
        <p:spPr>
          <a:xfrm>
            <a:off x="5349303" y="1816571"/>
            <a:ext cx="1097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400"/>
              <a:buFont typeface="Cambria"/>
              <a:buNone/>
            </a:pPr>
            <a:r>
              <a:rPr b="1" i="0" lang="en-US" sz="3400" u="none" cap="none" strike="noStrike">
                <a:solidFill>
                  <a:srgbClr val="2A1F1F"/>
                </a:solidFill>
                <a:latin typeface="Cambria"/>
                <a:ea typeface="Cambria"/>
                <a:cs typeface="Cambria"/>
                <a:sym typeface="Cambria"/>
              </a:rPr>
              <a:t>2</a:t>
            </a:r>
            <a:endParaRPr b="0" i="0" sz="3400" u="none" cap="none" strike="noStrike">
              <a:solidFill>
                <a:schemeClr val="dk1"/>
              </a:solidFill>
              <a:latin typeface="Calibri"/>
              <a:ea typeface="Calibri"/>
              <a:cs typeface="Calibri"/>
              <a:sym typeface="Calibri"/>
            </a:endParaRPr>
          </a:p>
        </p:txBody>
      </p:sp>
      <p:sp>
        <p:nvSpPr>
          <p:cNvPr id="204" name="Google Shape;204;p5"/>
          <p:cNvSpPr/>
          <p:nvPr/>
        </p:nvSpPr>
        <p:spPr>
          <a:xfrm>
            <a:off x="5862415" y="1757186"/>
            <a:ext cx="1280100" cy="731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453636"/>
              </a:buClr>
              <a:buSzPts val="1300"/>
              <a:buFont typeface="Calibri"/>
              <a:buNone/>
            </a:pPr>
            <a:r>
              <a:rPr b="0" i="0" lang="en-US" sz="1700" u="none" cap="none" strike="noStrike">
                <a:solidFill>
                  <a:srgbClr val="453636"/>
                </a:solidFill>
                <a:latin typeface="Calibri"/>
                <a:ea typeface="Calibri"/>
                <a:cs typeface="Calibri"/>
                <a:sym typeface="Calibri"/>
              </a:rPr>
              <a:t>AI-generated expert personas</a:t>
            </a:r>
            <a:endParaRPr b="0" i="0" sz="1700" u="none" cap="none" strike="noStrike">
              <a:solidFill>
                <a:schemeClr val="dk1"/>
              </a:solidFill>
              <a:latin typeface="Calibri"/>
              <a:ea typeface="Calibri"/>
              <a:cs typeface="Calibri"/>
              <a:sym typeface="Calibri"/>
            </a:endParaRPr>
          </a:p>
        </p:txBody>
      </p:sp>
      <p:sp>
        <p:nvSpPr>
          <p:cNvPr id="205" name="Google Shape;205;p5"/>
          <p:cNvSpPr/>
          <p:nvPr/>
        </p:nvSpPr>
        <p:spPr>
          <a:xfrm>
            <a:off x="8138160" y="1592594"/>
            <a:ext cx="3520500" cy="1051500"/>
          </a:xfrm>
          <a:prstGeom prst="roundRect">
            <a:avLst>
              <a:gd fmla="val 7826"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5"/>
          <p:cNvSpPr/>
          <p:nvPr/>
        </p:nvSpPr>
        <p:spPr>
          <a:xfrm>
            <a:off x="8366760" y="1793762"/>
            <a:ext cx="640200" cy="640200"/>
          </a:xfrm>
          <a:prstGeom prst="ellipse">
            <a:avLst/>
          </a:prstGeom>
          <a:solidFill>
            <a:srgbClr val="F5EA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handshake_i.png" id="207" name="Google Shape;207;p5"/>
          <p:cNvPicPr preferRelativeResize="0"/>
          <p:nvPr/>
        </p:nvPicPr>
        <p:blipFill rotWithShape="1">
          <a:blip r:embed="rId5">
            <a:alphaModFix/>
          </a:blip>
          <a:srcRect b="0" l="0" r="0" t="0"/>
          <a:stretch/>
        </p:blipFill>
        <p:spPr>
          <a:xfrm>
            <a:off x="8539582" y="1966584"/>
            <a:ext cx="294437" cy="294437"/>
          </a:xfrm>
          <a:prstGeom prst="rect">
            <a:avLst/>
          </a:prstGeom>
          <a:noFill/>
          <a:ln>
            <a:noFill/>
          </a:ln>
        </p:spPr>
      </p:pic>
      <p:sp>
        <p:nvSpPr>
          <p:cNvPr id="208" name="Google Shape;208;p5"/>
          <p:cNvSpPr/>
          <p:nvPr/>
        </p:nvSpPr>
        <p:spPr>
          <a:xfrm>
            <a:off x="9144100" y="1821184"/>
            <a:ext cx="1097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400"/>
              <a:buFont typeface="Cambria"/>
              <a:buNone/>
            </a:pPr>
            <a:r>
              <a:rPr b="1" i="0" lang="en-US" sz="3400" u="none" cap="none" strike="noStrike">
                <a:solidFill>
                  <a:srgbClr val="2A1F1F"/>
                </a:solidFill>
                <a:latin typeface="Cambria"/>
                <a:ea typeface="Cambria"/>
                <a:cs typeface="Cambria"/>
                <a:sym typeface="Cambria"/>
              </a:rPr>
              <a:t>4</a:t>
            </a:r>
            <a:endParaRPr b="0" i="0" sz="3400" u="none" cap="none" strike="noStrike">
              <a:solidFill>
                <a:schemeClr val="dk1"/>
              </a:solidFill>
              <a:latin typeface="Calibri"/>
              <a:ea typeface="Calibri"/>
              <a:cs typeface="Calibri"/>
              <a:sym typeface="Calibri"/>
            </a:endParaRPr>
          </a:p>
        </p:txBody>
      </p:sp>
      <p:sp>
        <p:nvSpPr>
          <p:cNvPr id="209" name="Google Shape;209;p5"/>
          <p:cNvSpPr/>
          <p:nvPr/>
        </p:nvSpPr>
        <p:spPr>
          <a:xfrm>
            <a:off x="9605900" y="1757186"/>
            <a:ext cx="1280100" cy="731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453636"/>
              </a:buClr>
              <a:buSzPts val="1300"/>
              <a:buFont typeface="Calibri"/>
              <a:buNone/>
            </a:pPr>
            <a:r>
              <a:rPr b="0" i="0" lang="en-US" sz="1700" u="none" cap="none" strike="noStrike">
                <a:solidFill>
                  <a:srgbClr val="453636"/>
                </a:solidFill>
                <a:latin typeface="Calibri"/>
                <a:ea typeface="Calibri"/>
                <a:cs typeface="Calibri"/>
                <a:sym typeface="Calibri"/>
              </a:rPr>
              <a:t>Sectors represented</a:t>
            </a:r>
            <a:endParaRPr b="0" i="0" sz="1700" u="none" cap="none" strike="noStrike">
              <a:solidFill>
                <a:schemeClr val="dk1"/>
              </a:solidFill>
              <a:latin typeface="Calibri"/>
              <a:ea typeface="Calibri"/>
              <a:cs typeface="Calibri"/>
              <a:sym typeface="Calibri"/>
            </a:endParaRPr>
          </a:p>
        </p:txBody>
      </p:sp>
      <p:graphicFrame>
        <p:nvGraphicFramePr>
          <p:cNvPr id="210" name="Google Shape;210;p5"/>
          <p:cNvGraphicFramePr/>
          <p:nvPr/>
        </p:nvGraphicFramePr>
        <p:xfrm>
          <a:off x="548640" y="2909330"/>
          <a:ext cx="3000000" cy="3000000"/>
        </p:xfrm>
        <a:graphic>
          <a:graphicData uri="http://schemas.openxmlformats.org/drawingml/2006/table">
            <a:tbl>
              <a:tblPr>
                <a:noFill/>
                <a:tableStyleId>{89003212-A46F-446A-83AF-891BA12ADF64}</a:tableStyleId>
              </a:tblPr>
              <a:tblGrid>
                <a:gridCol w="1371600"/>
                <a:gridCol w="3657600"/>
                <a:gridCol w="4233675"/>
                <a:gridCol w="1828800"/>
              </a:tblGrid>
              <a:tr h="512075">
                <a:tc>
                  <a:txBody>
                    <a:bodyPr/>
                    <a:lstStyle/>
                    <a:p>
                      <a:pPr indent="0" lvl="0" marL="0" marR="0" rtl="0" algn="ctr">
                        <a:lnSpc>
                          <a:spcPct val="100000"/>
                        </a:lnSpc>
                        <a:spcBef>
                          <a:spcPts val="0"/>
                        </a:spcBef>
                        <a:spcAft>
                          <a:spcPts val="0"/>
                        </a:spcAft>
                        <a:buClr>
                          <a:srgbClr val="FFFFFF"/>
                        </a:buClr>
                        <a:buSzPts val="1350"/>
                        <a:buFont typeface="Calibri"/>
                        <a:buNone/>
                      </a:pPr>
                      <a:r>
                        <a:rPr b="1" lang="en-US" sz="1700" u="none" cap="none" strike="noStrike">
                          <a:solidFill>
                            <a:srgbClr val="FFFFFF"/>
                          </a:solidFill>
                          <a:latin typeface="Calibri"/>
                          <a:ea typeface="Calibri"/>
                          <a:cs typeface="Calibri"/>
                          <a:sym typeface="Calibri"/>
                        </a:rPr>
                        <a:t>Code</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c>
                  <a:txBody>
                    <a:bodyPr/>
                    <a:lstStyle/>
                    <a:p>
                      <a:pPr indent="0" lvl="0" marL="0" marR="0" rtl="0" algn="l">
                        <a:lnSpc>
                          <a:spcPct val="100000"/>
                        </a:lnSpc>
                        <a:spcBef>
                          <a:spcPts val="0"/>
                        </a:spcBef>
                        <a:spcAft>
                          <a:spcPts val="0"/>
                        </a:spcAft>
                        <a:buClr>
                          <a:srgbClr val="FFFFFF"/>
                        </a:buClr>
                        <a:buSzPts val="1350"/>
                        <a:buFont typeface="Calibri"/>
                        <a:buNone/>
                      </a:pPr>
                      <a:r>
                        <a:rPr b="1" lang="en-US" sz="1700" u="none" cap="none" strike="noStrike">
                          <a:solidFill>
                            <a:srgbClr val="FFFFFF"/>
                          </a:solidFill>
                          <a:latin typeface="Calibri"/>
                          <a:ea typeface="Calibri"/>
                          <a:cs typeface="Calibri"/>
                          <a:sym typeface="Calibri"/>
                        </a:rPr>
                        <a:t>Role</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c>
                  <a:txBody>
                    <a:bodyPr/>
                    <a:lstStyle/>
                    <a:p>
                      <a:pPr indent="0" lvl="0" marL="0" marR="0" rtl="0" algn="l">
                        <a:lnSpc>
                          <a:spcPct val="100000"/>
                        </a:lnSpc>
                        <a:spcBef>
                          <a:spcPts val="0"/>
                        </a:spcBef>
                        <a:spcAft>
                          <a:spcPts val="0"/>
                        </a:spcAft>
                        <a:buClr>
                          <a:srgbClr val="FFFFFF"/>
                        </a:buClr>
                        <a:buSzPts val="1350"/>
                        <a:buFont typeface="Calibri"/>
                        <a:buNone/>
                      </a:pPr>
                      <a:r>
                        <a:rPr b="1" lang="en-US" sz="1700" u="none" cap="none" strike="noStrike">
                          <a:solidFill>
                            <a:srgbClr val="FFFFFF"/>
                          </a:solidFill>
                          <a:latin typeface="Calibri"/>
                          <a:ea typeface="Calibri"/>
                          <a:cs typeface="Calibri"/>
                          <a:sym typeface="Calibri"/>
                        </a:rPr>
                        <a:t>Sector</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c>
                  <a:txBody>
                    <a:bodyPr/>
                    <a:lstStyle/>
                    <a:p>
                      <a:pPr indent="0" lvl="0" marL="0" marR="0" rtl="0" algn="l">
                        <a:lnSpc>
                          <a:spcPct val="100000"/>
                        </a:lnSpc>
                        <a:spcBef>
                          <a:spcPts val="0"/>
                        </a:spcBef>
                        <a:spcAft>
                          <a:spcPts val="0"/>
                        </a:spcAft>
                        <a:buClr>
                          <a:srgbClr val="FFFFFF"/>
                        </a:buClr>
                        <a:buSzPts val="1350"/>
                        <a:buFont typeface="Calibri"/>
                        <a:buNone/>
                      </a:pPr>
                      <a:r>
                        <a:rPr b="1" lang="en-US" sz="1700" u="none" cap="none" strike="noStrike">
                          <a:solidFill>
                            <a:srgbClr val="FFFFFF"/>
                          </a:solidFill>
                          <a:latin typeface="Calibri"/>
                          <a:ea typeface="Calibri"/>
                          <a:cs typeface="Calibri"/>
                          <a:sym typeface="Calibri"/>
                        </a:rPr>
                        <a:t>Experience</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r>
              <a:tr h="512075">
                <a:tc>
                  <a:txBody>
                    <a:bodyPr/>
                    <a:lstStyle/>
                    <a:p>
                      <a:pPr indent="0" lvl="0" marL="0" marR="0" rtl="0" algn="ctr">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P1-P4</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Clinical psychologists / psychotherapists</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Private practice, hospitals, trauma centers, NGOs</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7-20+ years</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r>
              <a:tr h="512075">
                <a:tc>
                  <a:txBody>
                    <a:bodyPr/>
                    <a:lstStyle/>
                    <a:p>
                      <a:pPr indent="0" lvl="0" marL="0" marR="0" rtl="0" algn="ctr">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SW1-SW2</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Hospital social workers</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Public hospitals (Western population)</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5-30 years</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r>
              <a:tr h="512075">
                <a:tc>
                  <a:txBody>
                    <a:bodyPr/>
                    <a:lstStyle/>
                    <a:p>
                      <a:pPr indent="0" lvl="0" marL="0" marR="0" rtl="0" algn="ctr">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W1-W2</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Welfare social workers</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Municipal welfare (non-Western population)</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~2.5-4 years</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r>
              <a:tr h="512075">
                <a:tc>
                  <a:txBody>
                    <a:bodyPr/>
                    <a:lstStyle/>
                    <a:p>
                      <a:pPr indent="0" lvl="0" marL="0" marR="0" rtl="0" algn="ctr">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AI1</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Clinical psychologist persona (Gemini)</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Private clinic</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10 years</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r>
              <a:tr h="512075">
                <a:tc>
                  <a:txBody>
                    <a:bodyPr/>
                    <a:lstStyle/>
                    <a:p>
                      <a:pPr indent="0" lvl="0" marL="0" marR="0" rtl="0" algn="ctr">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AI2</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Social worker persona (Claude)</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Municipal welfare</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350"/>
                        <a:buFont typeface="Calibri"/>
                        <a:buNone/>
                      </a:pPr>
                      <a:r>
                        <a:rPr lang="en-US" sz="1700" u="none" cap="none" strike="noStrike">
                          <a:solidFill>
                            <a:srgbClr val="453636"/>
                          </a:solidFill>
                          <a:latin typeface="Calibri"/>
                          <a:ea typeface="Calibri"/>
                          <a:cs typeface="Calibri"/>
                          <a:sym typeface="Calibri"/>
                        </a:rPr>
                        <a:t>9 years</a:t>
                      </a:r>
                      <a:endParaRPr sz="17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r>
            </a:tbl>
          </a:graphicData>
        </a:graphic>
      </p:graphicFrame>
      <p:sp>
        <p:nvSpPr>
          <p:cNvPr id="211" name="Google Shape;211;p5"/>
          <p:cNvSpPr/>
          <p:nvPr/>
        </p:nvSpPr>
        <p:spPr>
          <a:xfrm>
            <a:off x="11551615" y="6279877"/>
            <a:ext cx="3657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212" name="Google Shape;212;p5"/>
          <p:cNvSpPr txBox="1"/>
          <p:nvPr/>
        </p:nvSpPr>
        <p:spPr>
          <a:xfrm>
            <a:off x="566985" y="6186144"/>
            <a:ext cx="1109167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Unkelos-Shpigel N. &amp; Levy, M. (2026). Biases in Human and AI-Assisted Requirements Elicitation for Mental Health Wearables: An Empirical Analysis. In 2026 IEEE 34rd International Requirements Engineering Conference Workshops (REW) . IEEE.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217" name="Shape 217"/>
        <p:cNvGrpSpPr/>
        <p:nvPr/>
      </p:nvGrpSpPr>
      <p:grpSpPr>
        <a:xfrm>
          <a:off x="0" y="0"/>
          <a:ext cx="0" cy="0"/>
          <a:chOff x="0" y="0"/>
          <a:chExt cx="0" cy="0"/>
        </a:xfrm>
      </p:grpSpPr>
      <p:sp>
        <p:nvSpPr>
          <p:cNvPr id="218" name="Google Shape;218;p6"/>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RESEARCH FINDINGS</a:t>
            </a:r>
            <a:endParaRPr b="0" i="0" sz="1700" u="none" cap="none" strike="noStrike">
              <a:solidFill>
                <a:schemeClr val="dk1"/>
              </a:solidFill>
              <a:latin typeface="Calibri"/>
              <a:ea typeface="Calibri"/>
              <a:cs typeface="Calibri"/>
              <a:sym typeface="Calibri"/>
            </a:endParaRPr>
          </a:p>
        </p:txBody>
      </p:sp>
      <p:sp>
        <p:nvSpPr>
          <p:cNvPr id="219" name="Google Shape;219;p6"/>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Interview insights</a:t>
            </a:r>
            <a:endParaRPr b="0" i="0" sz="3200" u="none" cap="none" strike="noStrike">
              <a:solidFill>
                <a:schemeClr val="dk1"/>
              </a:solidFill>
              <a:latin typeface="Calibri"/>
              <a:ea typeface="Calibri"/>
              <a:cs typeface="Calibri"/>
              <a:sym typeface="Calibri"/>
            </a:endParaRPr>
          </a:p>
        </p:txBody>
      </p:sp>
      <p:sp>
        <p:nvSpPr>
          <p:cNvPr id="220" name="Google Shape;220;p6"/>
          <p:cNvSpPr/>
          <p:nvPr/>
        </p:nvSpPr>
        <p:spPr>
          <a:xfrm>
            <a:off x="548640" y="1508760"/>
            <a:ext cx="3419856" cy="4297680"/>
          </a:xfrm>
          <a:prstGeom prst="roundRect">
            <a:avLst>
              <a:gd fmla="val 2406"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6"/>
          <p:cNvSpPr/>
          <p:nvPr/>
        </p:nvSpPr>
        <p:spPr>
          <a:xfrm>
            <a:off x="822960" y="1801368"/>
            <a:ext cx="621792" cy="621792"/>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heartbeat_i.png" id="222" name="Google Shape;222;p6"/>
          <p:cNvPicPr preferRelativeResize="0"/>
          <p:nvPr/>
        </p:nvPicPr>
        <p:blipFill rotWithShape="1">
          <a:blip r:embed="rId3">
            <a:alphaModFix/>
          </a:blip>
          <a:srcRect b="0" l="0" r="0" t="0"/>
          <a:stretch/>
        </p:blipFill>
        <p:spPr>
          <a:xfrm>
            <a:off x="990844" y="1969252"/>
            <a:ext cx="286024" cy="286024"/>
          </a:xfrm>
          <a:prstGeom prst="rect">
            <a:avLst/>
          </a:prstGeom>
          <a:noFill/>
          <a:ln>
            <a:noFill/>
          </a:ln>
        </p:spPr>
      </p:pic>
      <p:sp>
        <p:nvSpPr>
          <p:cNvPr id="223" name="Google Shape;223;p6"/>
          <p:cNvSpPr/>
          <p:nvPr/>
        </p:nvSpPr>
        <p:spPr>
          <a:xfrm>
            <a:off x="1554480" y="1801368"/>
            <a:ext cx="2139696"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00"/>
              <a:buFont typeface="Cambria"/>
              <a:buNone/>
            </a:pPr>
            <a:r>
              <a:rPr b="1" i="0" lang="en-US" sz="1600" u="none" cap="none" strike="noStrike">
                <a:solidFill>
                  <a:srgbClr val="2A1F1F"/>
                </a:solidFill>
                <a:latin typeface="Cambria"/>
                <a:ea typeface="Cambria"/>
                <a:cs typeface="Cambria"/>
                <a:sym typeface="Cambria"/>
              </a:rPr>
              <a:t>Symptoms &amp; coping</a:t>
            </a:r>
            <a:endParaRPr b="0" i="0" sz="1600" u="none" cap="none" strike="noStrike">
              <a:solidFill>
                <a:schemeClr val="dk1"/>
              </a:solidFill>
              <a:latin typeface="Calibri"/>
              <a:ea typeface="Calibri"/>
              <a:cs typeface="Calibri"/>
              <a:sym typeface="Calibri"/>
            </a:endParaRPr>
          </a:p>
        </p:txBody>
      </p:sp>
      <p:sp>
        <p:nvSpPr>
          <p:cNvPr id="224" name="Google Shape;224;p6"/>
          <p:cNvSpPr/>
          <p:nvPr/>
        </p:nvSpPr>
        <p:spPr>
          <a:xfrm>
            <a:off x="841248" y="2606040"/>
            <a:ext cx="2834640" cy="2971800"/>
          </a:xfrm>
          <a:prstGeom prst="rect">
            <a:avLst/>
          </a:prstGeom>
          <a:noFill/>
          <a:ln>
            <a:noFill/>
          </a:ln>
        </p:spPr>
        <p:txBody>
          <a:bodyPr anchorCtr="0" anchor="t" bIns="0" lIns="0" spcFirstLastPara="1" rIns="0" wrap="square" tIns="0">
            <a:noAutofit/>
          </a:bodyPr>
          <a:lstStyle/>
          <a:p>
            <a:pPr indent="-177800" lvl="0" marL="177800" marR="0" rtl="0" algn="l">
              <a:lnSpc>
                <a:spcPct val="125000"/>
              </a:lnSpc>
              <a:spcBef>
                <a:spcPts val="0"/>
              </a:spcBef>
              <a:spcAft>
                <a:spcPts val="0"/>
              </a:spcAft>
              <a:buClr>
                <a:srgbClr val="453636"/>
              </a:buClr>
              <a:buSzPts val="1400"/>
              <a:buFont typeface="Calibri"/>
              <a:buChar char="●"/>
            </a:pPr>
            <a:r>
              <a:rPr b="0" i="0" lang="en-US" sz="1750" u="none" cap="none" strike="noStrike">
                <a:solidFill>
                  <a:srgbClr val="453636"/>
                </a:solidFill>
                <a:latin typeface="Calibri"/>
                <a:ea typeface="Calibri"/>
                <a:cs typeface="Calibri"/>
                <a:sym typeface="Calibri"/>
              </a:rPr>
              <a:t>Physical, emotional &amp; cognitive symptoms: rapid heartbeat, panic, overthinking</a:t>
            </a:r>
            <a:endParaRPr b="0" i="0" sz="1750" u="none" cap="none" strike="noStrike">
              <a:solidFill>
                <a:schemeClr val="dk1"/>
              </a:solidFill>
              <a:latin typeface="Calibri"/>
              <a:ea typeface="Calibri"/>
              <a:cs typeface="Calibri"/>
              <a:sym typeface="Calibri"/>
            </a:endParaRPr>
          </a:p>
          <a:p>
            <a:pPr indent="-177800" lvl="0" marL="177800" marR="0" rtl="0" algn="l">
              <a:lnSpc>
                <a:spcPct val="125000"/>
              </a:lnSpc>
              <a:spcBef>
                <a:spcPts val="1200"/>
              </a:spcBef>
              <a:spcAft>
                <a:spcPts val="0"/>
              </a:spcAft>
              <a:buClr>
                <a:srgbClr val="453636"/>
              </a:buClr>
              <a:buSzPts val="1400"/>
              <a:buFont typeface="Calibri"/>
              <a:buChar char="●"/>
            </a:pPr>
            <a:r>
              <a:rPr b="0" i="0" lang="en-US" sz="1750" u="none" cap="none" strike="noStrike">
                <a:solidFill>
                  <a:srgbClr val="453636"/>
                </a:solidFill>
                <a:latin typeface="Calibri"/>
                <a:ea typeface="Calibri"/>
                <a:cs typeface="Calibri"/>
                <a:sym typeface="Calibri"/>
              </a:rPr>
              <a:t>Coping tools: breathing, grounding, CBT techniques, talking to trusted people</a:t>
            </a:r>
            <a:endParaRPr b="0" i="0" sz="1750" u="none" cap="none" strike="noStrike">
              <a:solidFill>
                <a:schemeClr val="dk1"/>
              </a:solidFill>
              <a:latin typeface="Calibri"/>
              <a:ea typeface="Calibri"/>
              <a:cs typeface="Calibri"/>
              <a:sym typeface="Calibri"/>
            </a:endParaRPr>
          </a:p>
        </p:txBody>
      </p:sp>
      <p:sp>
        <p:nvSpPr>
          <p:cNvPr id="225" name="Google Shape;225;p6"/>
          <p:cNvSpPr/>
          <p:nvPr/>
        </p:nvSpPr>
        <p:spPr>
          <a:xfrm>
            <a:off x="4224528" y="1508760"/>
            <a:ext cx="3419856" cy="4297680"/>
          </a:xfrm>
          <a:prstGeom prst="roundRect">
            <a:avLst>
              <a:gd fmla="val 2406"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6"/>
          <p:cNvSpPr/>
          <p:nvPr/>
        </p:nvSpPr>
        <p:spPr>
          <a:xfrm>
            <a:off x="4498848" y="1801368"/>
            <a:ext cx="621792" cy="621792"/>
          </a:xfrm>
          <a:prstGeom prst="ellipse">
            <a:avLst/>
          </a:prstGeom>
          <a:solidFill>
            <a:srgbClr val="DCE9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liders_i.png" id="227" name="Google Shape;227;p6"/>
          <p:cNvPicPr preferRelativeResize="0"/>
          <p:nvPr/>
        </p:nvPicPr>
        <p:blipFill rotWithShape="1">
          <a:blip r:embed="rId4">
            <a:alphaModFix/>
          </a:blip>
          <a:srcRect b="0" l="0" r="0" t="0"/>
          <a:stretch/>
        </p:blipFill>
        <p:spPr>
          <a:xfrm>
            <a:off x="4666732" y="1969252"/>
            <a:ext cx="286024" cy="286024"/>
          </a:xfrm>
          <a:prstGeom prst="rect">
            <a:avLst/>
          </a:prstGeom>
          <a:noFill/>
          <a:ln>
            <a:noFill/>
          </a:ln>
        </p:spPr>
      </p:pic>
      <p:sp>
        <p:nvSpPr>
          <p:cNvPr id="228" name="Google Shape;228;p6"/>
          <p:cNvSpPr/>
          <p:nvPr/>
        </p:nvSpPr>
        <p:spPr>
          <a:xfrm>
            <a:off x="5230368" y="1801368"/>
            <a:ext cx="2139696"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00"/>
              <a:buFont typeface="Cambria"/>
              <a:buNone/>
            </a:pPr>
            <a:r>
              <a:rPr b="1" i="0" lang="en-US" sz="1600" u="none" cap="none" strike="noStrike">
                <a:solidFill>
                  <a:srgbClr val="2A1F1F"/>
                </a:solidFill>
                <a:latin typeface="Cambria"/>
                <a:ea typeface="Cambria"/>
                <a:cs typeface="Cambria"/>
                <a:sym typeface="Cambria"/>
              </a:rPr>
              <a:t>Personalization &amp; therapist role</a:t>
            </a:r>
            <a:endParaRPr b="0" i="0" sz="1600" u="none" cap="none" strike="noStrike">
              <a:solidFill>
                <a:schemeClr val="dk1"/>
              </a:solidFill>
              <a:latin typeface="Calibri"/>
              <a:ea typeface="Calibri"/>
              <a:cs typeface="Calibri"/>
              <a:sym typeface="Calibri"/>
            </a:endParaRPr>
          </a:p>
        </p:txBody>
      </p:sp>
      <p:sp>
        <p:nvSpPr>
          <p:cNvPr id="229" name="Google Shape;229;p6"/>
          <p:cNvSpPr/>
          <p:nvPr/>
        </p:nvSpPr>
        <p:spPr>
          <a:xfrm>
            <a:off x="4517136" y="2606040"/>
            <a:ext cx="2834640" cy="2971800"/>
          </a:xfrm>
          <a:prstGeom prst="rect">
            <a:avLst/>
          </a:prstGeom>
          <a:noFill/>
          <a:ln>
            <a:noFill/>
          </a:ln>
        </p:spPr>
        <p:txBody>
          <a:bodyPr anchorCtr="0" anchor="t" bIns="0" lIns="0" spcFirstLastPara="1" rIns="0" wrap="square" tIns="0">
            <a:noAutofit/>
          </a:bodyPr>
          <a:lstStyle/>
          <a:p>
            <a:pPr indent="-177800" lvl="0" marL="177800" marR="0" rtl="0" algn="l">
              <a:lnSpc>
                <a:spcPct val="125000"/>
              </a:lnSpc>
              <a:spcBef>
                <a:spcPts val="0"/>
              </a:spcBef>
              <a:spcAft>
                <a:spcPts val="0"/>
              </a:spcAft>
              <a:buClr>
                <a:srgbClr val="453636"/>
              </a:buClr>
              <a:buSzPts val="1400"/>
              <a:buFont typeface="Calibri"/>
              <a:buChar char="●"/>
            </a:pPr>
            <a:r>
              <a:rPr b="0" i="0" lang="en-US" sz="1750" u="none" cap="none" strike="noStrike">
                <a:solidFill>
                  <a:srgbClr val="453636"/>
                </a:solidFill>
                <a:latin typeface="Calibri"/>
                <a:ea typeface="Calibri"/>
                <a:cs typeface="Calibri"/>
                <a:sym typeface="Calibri"/>
              </a:rPr>
              <a:t>Patients choose tools in advance; therapists tailor techniques to each patient</a:t>
            </a:r>
            <a:endParaRPr b="0" i="0" sz="1750" u="none" cap="none" strike="noStrike">
              <a:solidFill>
                <a:schemeClr val="dk1"/>
              </a:solidFill>
              <a:latin typeface="Calibri"/>
              <a:ea typeface="Calibri"/>
              <a:cs typeface="Calibri"/>
              <a:sym typeface="Calibri"/>
            </a:endParaRPr>
          </a:p>
          <a:p>
            <a:pPr indent="-177800" lvl="0" marL="177800" marR="0" rtl="0" algn="l">
              <a:lnSpc>
                <a:spcPct val="125000"/>
              </a:lnSpc>
              <a:spcBef>
                <a:spcPts val="1200"/>
              </a:spcBef>
              <a:spcAft>
                <a:spcPts val="0"/>
              </a:spcAft>
              <a:buClr>
                <a:srgbClr val="453636"/>
              </a:buClr>
              <a:buSzPts val="1400"/>
              <a:buFont typeface="Calibri"/>
              <a:buChar char="●"/>
            </a:pPr>
            <a:r>
              <a:rPr b="0" i="0" lang="en-US" sz="1750" u="none" cap="none" strike="noStrike">
                <a:solidFill>
                  <a:srgbClr val="453636"/>
                </a:solidFill>
                <a:latin typeface="Calibri"/>
                <a:ea typeface="Calibri"/>
                <a:cs typeface="Calibri"/>
                <a:sym typeface="Calibri"/>
              </a:rPr>
              <a:t>Remote monitoring and progress updates are valued, based on risk level</a:t>
            </a:r>
            <a:endParaRPr b="0" i="0" sz="1750" u="none" cap="none" strike="noStrike">
              <a:solidFill>
                <a:schemeClr val="dk1"/>
              </a:solidFill>
              <a:latin typeface="Calibri"/>
              <a:ea typeface="Calibri"/>
              <a:cs typeface="Calibri"/>
              <a:sym typeface="Calibri"/>
            </a:endParaRPr>
          </a:p>
        </p:txBody>
      </p:sp>
      <p:sp>
        <p:nvSpPr>
          <p:cNvPr id="230" name="Google Shape;230;p6"/>
          <p:cNvSpPr/>
          <p:nvPr/>
        </p:nvSpPr>
        <p:spPr>
          <a:xfrm>
            <a:off x="7900416" y="1508760"/>
            <a:ext cx="3419856" cy="4297680"/>
          </a:xfrm>
          <a:prstGeom prst="roundRect">
            <a:avLst>
              <a:gd fmla="val 2406"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6"/>
          <p:cNvSpPr/>
          <p:nvPr/>
        </p:nvSpPr>
        <p:spPr>
          <a:xfrm>
            <a:off x="8174736" y="1801368"/>
            <a:ext cx="621792" cy="621792"/>
          </a:xfrm>
          <a:prstGeom prst="ellipse">
            <a:avLst/>
          </a:prstGeom>
          <a:solidFill>
            <a:srgbClr val="F5EA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hield_check_i.png" id="232" name="Google Shape;232;p6"/>
          <p:cNvPicPr preferRelativeResize="0"/>
          <p:nvPr/>
        </p:nvPicPr>
        <p:blipFill rotWithShape="1">
          <a:blip r:embed="rId5">
            <a:alphaModFix/>
          </a:blip>
          <a:srcRect b="0" l="0" r="0" t="0"/>
          <a:stretch/>
        </p:blipFill>
        <p:spPr>
          <a:xfrm>
            <a:off x="8342620" y="1969252"/>
            <a:ext cx="286024" cy="286024"/>
          </a:xfrm>
          <a:prstGeom prst="rect">
            <a:avLst/>
          </a:prstGeom>
          <a:noFill/>
          <a:ln>
            <a:noFill/>
          </a:ln>
        </p:spPr>
      </p:pic>
      <p:sp>
        <p:nvSpPr>
          <p:cNvPr id="233" name="Google Shape;233;p6"/>
          <p:cNvSpPr/>
          <p:nvPr/>
        </p:nvSpPr>
        <p:spPr>
          <a:xfrm>
            <a:off x="8906256" y="1801368"/>
            <a:ext cx="2139696"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00"/>
              <a:buFont typeface="Cambria"/>
              <a:buNone/>
            </a:pPr>
            <a:r>
              <a:rPr b="1" i="0" lang="en-US" sz="1600" u="none" cap="none" strike="noStrike">
                <a:solidFill>
                  <a:srgbClr val="2A1F1F"/>
                </a:solidFill>
                <a:latin typeface="Cambria"/>
                <a:ea typeface="Cambria"/>
                <a:cs typeface="Cambria"/>
                <a:sym typeface="Cambria"/>
              </a:rPr>
              <a:t>Safety &amp; community boundaries</a:t>
            </a:r>
            <a:endParaRPr b="0" i="0" sz="1600" u="none" cap="none" strike="noStrike">
              <a:solidFill>
                <a:schemeClr val="dk1"/>
              </a:solidFill>
              <a:latin typeface="Calibri"/>
              <a:ea typeface="Calibri"/>
              <a:cs typeface="Calibri"/>
              <a:sym typeface="Calibri"/>
            </a:endParaRPr>
          </a:p>
        </p:txBody>
      </p:sp>
      <p:sp>
        <p:nvSpPr>
          <p:cNvPr id="234" name="Google Shape;234;p6"/>
          <p:cNvSpPr/>
          <p:nvPr/>
        </p:nvSpPr>
        <p:spPr>
          <a:xfrm>
            <a:off x="8193024" y="2606040"/>
            <a:ext cx="2834640" cy="2971800"/>
          </a:xfrm>
          <a:prstGeom prst="rect">
            <a:avLst/>
          </a:prstGeom>
          <a:noFill/>
          <a:ln>
            <a:noFill/>
          </a:ln>
        </p:spPr>
        <p:txBody>
          <a:bodyPr anchorCtr="0" anchor="t" bIns="0" lIns="0" spcFirstLastPara="1" rIns="0" wrap="square" tIns="0">
            <a:noAutofit/>
          </a:bodyPr>
          <a:lstStyle/>
          <a:p>
            <a:pPr indent="-177800" lvl="0" marL="177800" marR="0" rtl="0" algn="l">
              <a:lnSpc>
                <a:spcPct val="125000"/>
              </a:lnSpc>
              <a:spcBef>
                <a:spcPts val="0"/>
              </a:spcBef>
              <a:spcAft>
                <a:spcPts val="0"/>
              </a:spcAft>
              <a:buClr>
                <a:srgbClr val="453636"/>
              </a:buClr>
              <a:buSzPts val="1400"/>
              <a:buFont typeface="Calibri"/>
              <a:buChar char="●"/>
            </a:pPr>
            <a:r>
              <a:rPr b="0" i="0" lang="en-US" sz="1750" u="none" cap="none" strike="noStrike">
                <a:solidFill>
                  <a:srgbClr val="453636"/>
                </a:solidFill>
                <a:latin typeface="Calibri"/>
                <a:ea typeface="Calibri"/>
                <a:cs typeface="Calibri"/>
                <a:sym typeface="Calibri"/>
              </a:rPr>
              <a:t>Red flag alerts notify the therapist silently, never the patient directly</a:t>
            </a:r>
            <a:endParaRPr b="0" i="0" sz="1750" u="none" cap="none" strike="noStrike">
              <a:solidFill>
                <a:schemeClr val="dk1"/>
              </a:solidFill>
              <a:latin typeface="Calibri"/>
              <a:ea typeface="Calibri"/>
              <a:cs typeface="Calibri"/>
              <a:sym typeface="Calibri"/>
            </a:endParaRPr>
          </a:p>
          <a:p>
            <a:pPr indent="-177800" lvl="0" marL="177800" marR="0" rtl="0" algn="l">
              <a:lnSpc>
                <a:spcPct val="125000"/>
              </a:lnSpc>
              <a:spcBef>
                <a:spcPts val="1200"/>
              </a:spcBef>
              <a:spcAft>
                <a:spcPts val="0"/>
              </a:spcAft>
              <a:buClr>
                <a:srgbClr val="453636"/>
              </a:buClr>
              <a:buSzPts val="1400"/>
              <a:buFont typeface="Calibri"/>
              <a:buChar char="●"/>
            </a:pPr>
            <a:r>
              <a:rPr b="0" i="0" lang="en-US" sz="1750" u="none" cap="none" strike="noStrike">
                <a:solidFill>
                  <a:srgbClr val="453636"/>
                </a:solidFill>
                <a:latin typeface="Calibri"/>
                <a:ea typeface="Calibri"/>
                <a:cs typeface="Calibri"/>
                <a:sym typeface="Calibri"/>
              </a:rPr>
              <a:t>Community support needs moderation and anonymity; it must supplement, never replace, real therapy</a:t>
            </a:r>
            <a:endParaRPr b="0" i="0" sz="1750" u="none" cap="none" strike="noStrike">
              <a:solidFill>
                <a:schemeClr val="dk1"/>
              </a:solidFill>
              <a:latin typeface="Calibri"/>
              <a:ea typeface="Calibri"/>
              <a:cs typeface="Calibri"/>
              <a:sym typeface="Calibri"/>
            </a:endParaRPr>
          </a:p>
        </p:txBody>
      </p:sp>
      <p:sp>
        <p:nvSpPr>
          <p:cNvPr id="235" name="Google Shape;235;p6"/>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240" name="Shape 240"/>
        <p:cNvGrpSpPr/>
        <p:nvPr/>
      </p:nvGrpSpPr>
      <p:grpSpPr>
        <a:xfrm>
          <a:off x="0" y="0"/>
          <a:ext cx="0" cy="0"/>
          <a:chOff x="0" y="0"/>
          <a:chExt cx="0" cy="0"/>
        </a:xfrm>
      </p:grpSpPr>
      <p:sp>
        <p:nvSpPr>
          <p:cNvPr id="241" name="Google Shape;241;p8"/>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SYSTEM DESIGN</a:t>
            </a:r>
            <a:endParaRPr b="0" i="0" sz="1700" u="none" cap="none" strike="noStrike">
              <a:solidFill>
                <a:schemeClr val="dk1"/>
              </a:solidFill>
              <a:latin typeface="Calibri"/>
              <a:ea typeface="Calibri"/>
              <a:cs typeface="Calibri"/>
              <a:sym typeface="Calibri"/>
            </a:endParaRPr>
          </a:p>
        </p:txBody>
      </p:sp>
      <p:sp>
        <p:nvSpPr>
          <p:cNvPr id="242" name="Google Shape;242;p8"/>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Functional requirements</a:t>
            </a:r>
            <a:endParaRPr b="0" i="0" sz="3200" u="none" cap="none" strike="noStrike">
              <a:solidFill>
                <a:schemeClr val="dk1"/>
              </a:solidFill>
              <a:latin typeface="Calibri"/>
              <a:ea typeface="Calibri"/>
              <a:cs typeface="Calibri"/>
              <a:sym typeface="Calibri"/>
            </a:endParaRPr>
          </a:p>
        </p:txBody>
      </p:sp>
      <p:sp>
        <p:nvSpPr>
          <p:cNvPr id="243" name="Google Shape;243;p8"/>
          <p:cNvSpPr/>
          <p:nvPr/>
        </p:nvSpPr>
        <p:spPr>
          <a:xfrm>
            <a:off x="548640" y="1691640"/>
            <a:ext cx="3593592" cy="2240280"/>
          </a:xfrm>
          <a:prstGeom prst="roundRect">
            <a:avLst>
              <a:gd fmla="val 3673"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8"/>
          <p:cNvSpPr/>
          <p:nvPr/>
        </p:nvSpPr>
        <p:spPr>
          <a:xfrm>
            <a:off x="822960" y="1965960"/>
            <a:ext cx="621792" cy="621792"/>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_plus_i.png" id="245" name="Google Shape;245;p8"/>
          <p:cNvPicPr preferRelativeResize="0"/>
          <p:nvPr/>
        </p:nvPicPr>
        <p:blipFill rotWithShape="1">
          <a:blip r:embed="rId3">
            <a:alphaModFix/>
          </a:blip>
          <a:srcRect b="0" l="0" r="0" t="0"/>
          <a:stretch/>
        </p:blipFill>
        <p:spPr>
          <a:xfrm>
            <a:off x="990844" y="2133844"/>
            <a:ext cx="286024" cy="286024"/>
          </a:xfrm>
          <a:prstGeom prst="rect">
            <a:avLst/>
          </a:prstGeom>
          <a:noFill/>
          <a:ln>
            <a:noFill/>
          </a:ln>
        </p:spPr>
      </p:pic>
      <p:sp>
        <p:nvSpPr>
          <p:cNvPr id="246" name="Google Shape;246;p8"/>
          <p:cNvSpPr/>
          <p:nvPr/>
        </p:nvSpPr>
        <p:spPr>
          <a:xfrm>
            <a:off x="841248" y="2743200"/>
            <a:ext cx="3008376"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50"/>
              <a:buFont typeface="Cambria"/>
              <a:buNone/>
            </a:pPr>
            <a:r>
              <a:rPr b="1" i="0" lang="en-US" sz="1650" u="none" cap="none" strike="noStrike">
                <a:solidFill>
                  <a:srgbClr val="2A1F1F"/>
                </a:solidFill>
                <a:latin typeface="Cambria"/>
                <a:ea typeface="Cambria"/>
                <a:cs typeface="Cambria"/>
                <a:sym typeface="Cambria"/>
              </a:rPr>
              <a:t>Registration &amp; login</a:t>
            </a:r>
            <a:endParaRPr b="0" i="0" sz="1650" u="none" cap="none" strike="noStrike">
              <a:solidFill>
                <a:schemeClr val="dk1"/>
              </a:solidFill>
              <a:latin typeface="Calibri"/>
              <a:ea typeface="Calibri"/>
              <a:cs typeface="Calibri"/>
              <a:sym typeface="Calibri"/>
            </a:endParaRPr>
          </a:p>
        </p:txBody>
      </p:sp>
      <p:sp>
        <p:nvSpPr>
          <p:cNvPr id="247" name="Google Shape;247;p8"/>
          <p:cNvSpPr/>
          <p:nvPr/>
        </p:nvSpPr>
        <p:spPr>
          <a:xfrm>
            <a:off x="841248" y="3227832"/>
            <a:ext cx="3008376" cy="54864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Role-based login for patients and therapists</a:t>
            </a:r>
            <a:endParaRPr b="0" i="0" sz="1700" u="none" cap="none" strike="noStrike">
              <a:solidFill>
                <a:schemeClr val="dk1"/>
              </a:solidFill>
              <a:latin typeface="Calibri"/>
              <a:ea typeface="Calibri"/>
              <a:cs typeface="Calibri"/>
              <a:sym typeface="Calibri"/>
            </a:endParaRPr>
          </a:p>
        </p:txBody>
      </p:sp>
      <p:sp>
        <p:nvSpPr>
          <p:cNvPr id="248" name="Google Shape;248;p8"/>
          <p:cNvSpPr/>
          <p:nvPr/>
        </p:nvSpPr>
        <p:spPr>
          <a:xfrm>
            <a:off x="4343400" y="1691640"/>
            <a:ext cx="3593592" cy="2240280"/>
          </a:xfrm>
          <a:prstGeom prst="roundRect">
            <a:avLst>
              <a:gd fmla="val 3673"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8"/>
          <p:cNvSpPr/>
          <p:nvPr/>
        </p:nvSpPr>
        <p:spPr>
          <a:xfrm>
            <a:off x="4617720" y="1965960"/>
            <a:ext cx="621792" cy="621792"/>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liders_i.png" id="250" name="Google Shape;250;p8"/>
          <p:cNvPicPr preferRelativeResize="0"/>
          <p:nvPr/>
        </p:nvPicPr>
        <p:blipFill rotWithShape="1">
          <a:blip r:embed="rId4">
            <a:alphaModFix/>
          </a:blip>
          <a:srcRect b="0" l="0" r="0" t="0"/>
          <a:stretch/>
        </p:blipFill>
        <p:spPr>
          <a:xfrm>
            <a:off x="4785604" y="2133844"/>
            <a:ext cx="286024" cy="286024"/>
          </a:xfrm>
          <a:prstGeom prst="rect">
            <a:avLst/>
          </a:prstGeom>
          <a:noFill/>
          <a:ln>
            <a:noFill/>
          </a:ln>
        </p:spPr>
      </p:pic>
      <p:sp>
        <p:nvSpPr>
          <p:cNvPr id="251" name="Google Shape;251;p8"/>
          <p:cNvSpPr/>
          <p:nvPr/>
        </p:nvSpPr>
        <p:spPr>
          <a:xfrm>
            <a:off x="4636008" y="2743200"/>
            <a:ext cx="3008376"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50"/>
              <a:buFont typeface="Cambria"/>
              <a:buNone/>
            </a:pPr>
            <a:r>
              <a:rPr b="1" i="0" lang="en-US" sz="1650" u="none" cap="none" strike="noStrike">
                <a:solidFill>
                  <a:srgbClr val="2A1F1F"/>
                </a:solidFill>
                <a:latin typeface="Cambria"/>
                <a:ea typeface="Cambria"/>
                <a:cs typeface="Cambria"/>
                <a:sym typeface="Cambria"/>
              </a:rPr>
              <a:t>Initial patient setup</a:t>
            </a:r>
            <a:endParaRPr b="0" i="0" sz="1650" u="none" cap="none" strike="noStrike">
              <a:solidFill>
                <a:schemeClr val="dk1"/>
              </a:solidFill>
              <a:latin typeface="Calibri"/>
              <a:ea typeface="Calibri"/>
              <a:cs typeface="Calibri"/>
              <a:sym typeface="Calibri"/>
            </a:endParaRPr>
          </a:p>
        </p:txBody>
      </p:sp>
      <p:sp>
        <p:nvSpPr>
          <p:cNvPr id="252" name="Google Shape;252;p8"/>
          <p:cNvSpPr/>
          <p:nvPr/>
        </p:nvSpPr>
        <p:spPr>
          <a:xfrm>
            <a:off x="4636008" y="3227832"/>
            <a:ext cx="3008376" cy="54864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Choose therapist, notification style, calming actions</a:t>
            </a:r>
            <a:endParaRPr b="0" i="0" sz="1700" u="none" cap="none" strike="noStrike">
              <a:solidFill>
                <a:schemeClr val="dk1"/>
              </a:solidFill>
              <a:latin typeface="Calibri"/>
              <a:ea typeface="Calibri"/>
              <a:cs typeface="Calibri"/>
              <a:sym typeface="Calibri"/>
            </a:endParaRPr>
          </a:p>
        </p:txBody>
      </p:sp>
      <p:sp>
        <p:nvSpPr>
          <p:cNvPr id="253" name="Google Shape;253;p8"/>
          <p:cNvSpPr/>
          <p:nvPr/>
        </p:nvSpPr>
        <p:spPr>
          <a:xfrm>
            <a:off x="8138160" y="1691640"/>
            <a:ext cx="3593592" cy="2240280"/>
          </a:xfrm>
          <a:prstGeom prst="roundRect">
            <a:avLst>
              <a:gd fmla="val 3673"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8"/>
          <p:cNvSpPr/>
          <p:nvPr/>
        </p:nvSpPr>
        <p:spPr>
          <a:xfrm>
            <a:off x="8412480" y="1965960"/>
            <a:ext cx="621792" cy="621792"/>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atellite_i.png" id="255" name="Google Shape;255;p8"/>
          <p:cNvPicPr preferRelativeResize="0"/>
          <p:nvPr/>
        </p:nvPicPr>
        <p:blipFill rotWithShape="1">
          <a:blip r:embed="rId5">
            <a:alphaModFix/>
          </a:blip>
          <a:srcRect b="0" l="0" r="0" t="0"/>
          <a:stretch/>
        </p:blipFill>
        <p:spPr>
          <a:xfrm>
            <a:off x="8580364" y="2133844"/>
            <a:ext cx="286024" cy="286024"/>
          </a:xfrm>
          <a:prstGeom prst="rect">
            <a:avLst/>
          </a:prstGeom>
          <a:noFill/>
          <a:ln>
            <a:noFill/>
          </a:ln>
        </p:spPr>
      </p:pic>
      <p:sp>
        <p:nvSpPr>
          <p:cNvPr id="256" name="Google Shape;256;p8"/>
          <p:cNvSpPr/>
          <p:nvPr/>
        </p:nvSpPr>
        <p:spPr>
          <a:xfrm>
            <a:off x="8430768" y="2743200"/>
            <a:ext cx="3008376"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50"/>
              <a:buFont typeface="Cambria"/>
              <a:buNone/>
            </a:pPr>
            <a:r>
              <a:rPr b="1" i="0" lang="en-US" sz="1650" u="none" cap="none" strike="noStrike">
                <a:solidFill>
                  <a:srgbClr val="2A1F1F"/>
                </a:solidFill>
                <a:latin typeface="Cambria"/>
                <a:ea typeface="Cambria"/>
                <a:cs typeface="Cambria"/>
                <a:sym typeface="Cambria"/>
              </a:rPr>
              <a:t>Anxiety detection</a:t>
            </a:r>
            <a:endParaRPr b="0" i="0" sz="1650" u="none" cap="none" strike="noStrike">
              <a:solidFill>
                <a:schemeClr val="dk1"/>
              </a:solidFill>
              <a:latin typeface="Calibri"/>
              <a:ea typeface="Calibri"/>
              <a:cs typeface="Calibri"/>
              <a:sym typeface="Calibri"/>
            </a:endParaRPr>
          </a:p>
        </p:txBody>
      </p:sp>
      <p:sp>
        <p:nvSpPr>
          <p:cNvPr id="257" name="Google Shape;257;p8"/>
          <p:cNvSpPr/>
          <p:nvPr/>
        </p:nvSpPr>
        <p:spPr>
          <a:xfrm>
            <a:off x="8430768" y="3227832"/>
            <a:ext cx="3008376" cy="54864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Detects attacks from jewelry sensor data</a:t>
            </a:r>
            <a:endParaRPr b="0" i="0" sz="1700" u="none" cap="none" strike="noStrike">
              <a:solidFill>
                <a:schemeClr val="dk1"/>
              </a:solidFill>
              <a:latin typeface="Calibri"/>
              <a:ea typeface="Calibri"/>
              <a:cs typeface="Calibri"/>
              <a:sym typeface="Calibri"/>
            </a:endParaRPr>
          </a:p>
        </p:txBody>
      </p:sp>
      <p:sp>
        <p:nvSpPr>
          <p:cNvPr id="258" name="Google Shape;258;p8"/>
          <p:cNvSpPr/>
          <p:nvPr/>
        </p:nvSpPr>
        <p:spPr>
          <a:xfrm>
            <a:off x="548640" y="4160520"/>
            <a:ext cx="3593592" cy="2240280"/>
          </a:xfrm>
          <a:prstGeom prst="roundRect">
            <a:avLst>
              <a:gd fmla="val 3673"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8"/>
          <p:cNvSpPr/>
          <p:nvPr/>
        </p:nvSpPr>
        <p:spPr>
          <a:xfrm>
            <a:off x="822960" y="4434840"/>
            <a:ext cx="621792" cy="621792"/>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music_i.png" id="260" name="Google Shape;260;p8"/>
          <p:cNvPicPr preferRelativeResize="0"/>
          <p:nvPr/>
        </p:nvPicPr>
        <p:blipFill rotWithShape="1">
          <a:blip r:embed="rId6">
            <a:alphaModFix/>
          </a:blip>
          <a:srcRect b="0" l="0" r="0" t="0"/>
          <a:stretch/>
        </p:blipFill>
        <p:spPr>
          <a:xfrm>
            <a:off x="990844" y="4602724"/>
            <a:ext cx="286024" cy="286024"/>
          </a:xfrm>
          <a:prstGeom prst="rect">
            <a:avLst/>
          </a:prstGeom>
          <a:noFill/>
          <a:ln>
            <a:noFill/>
          </a:ln>
        </p:spPr>
      </p:pic>
      <p:sp>
        <p:nvSpPr>
          <p:cNvPr id="261" name="Google Shape;261;p8"/>
          <p:cNvSpPr/>
          <p:nvPr/>
        </p:nvSpPr>
        <p:spPr>
          <a:xfrm>
            <a:off x="841248" y="5212080"/>
            <a:ext cx="3008376"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50"/>
              <a:buFont typeface="Cambria"/>
              <a:buNone/>
            </a:pPr>
            <a:r>
              <a:rPr b="1" i="0" lang="en-US" sz="1650" u="none" cap="none" strike="noStrike">
                <a:solidFill>
                  <a:srgbClr val="2A1F1F"/>
                </a:solidFill>
                <a:latin typeface="Cambria"/>
                <a:ea typeface="Cambria"/>
                <a:cs typeface="Cambria"/>
                <a:sym typeface="Cambria"/>
              </a:rPr>
              <a:t>Calming actions</a:t>
            </a:r>
            <a:endParaRPr b="0" i="0" sz="1650" u="none" cap="none" strike="noStrike">
              <a:solidFill>
                <a:schemeClr val="dk1"/>
              </a:solidFill>
              <a:latin typeface="Calibri"/>
              <a:ea typeface="Calibri"/>
              <a:cs typeface="Calibri"/>
              <a:sym typeface="Calibri"/>
            </a:endParaRPr>
          </a:p>
        </p:txBody>
      </p:sp>
      <p:sp>
        <p:nvSpPr>
          <p:cNvPr id="262" name="Google Shape;262;p8"/>
          <p:cNvSpPr/>
          <p:nvPr/>
        </p:nvSpPr>
        <p:spPr>
          <a:xfrm>
            <a:off x="841248" y="5696712"/>
            <a:ext cx="3008376" cy="54864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Music, breathing, grounding, AI chatbot</a:t>
            </a:r>
            <a:endParaRPr b="0" i="0" sz="1700" u="none" cap="none" strike="noStrike">
              <a:solidFill>
                <a:schemeClr val="dk1"/>
              </a:solidFill>
              <a:latin typeface="Calibri"/>
              <a:ea typeface="Calibri"/>
              <a:cs typeface="Calibri"/>
              <a:sym typeface="Calibri"/>
            </a:endParaRPr>
          </a:p>
        </p:txBody>
      </p:sp>
      <p:sp>
        <p:nvSpPr>
          <p:cNvPr id="263" name="Google Shape;263;p8"/>
          <p:cNvSpPr/>
          <p:nvPr/>
        </p:nvSpPr>
        <p:spPr>
          <a:xfrm>
            <a:off x="4343400" y="4160520"/>
            <a:ext cx="3593592" cy="2240280"/>
          </a:xfrm>
          <a:prstGeom prst="roundRect">
            <a:avLst>
              <a:gd fmla="val 3673"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8"/>
          <p:cNvSpPr/>
          <p:nvPr/>
        </p:nvSpPr>
        <p:spPr>
          <a:xfrm>
            <a:off x="4617720" y="4434840"/>
            <a:ext cx="621792" cy="621792"/>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notebook_i.png" id="265" name="Google Shape;265;p8"/>
          <p:cNvPicPr preferRelativeResize="0"/>
          <p:nvPr/>
        </p:nvPicPr>
        <p:blipFill rotWithShape="1">
          <a:blip r:embed="rId7">
            <a:alphaModFix/>
          </a:blip>
          <a:srcRect b="0" l="0" r="0" t="0"/>
          <a:stretch/>
        </p:blipFill>
        <p:spPr>
          <a:xfrm>
            <a:off x="4785604" y="4602724"/>
            <a:ext cx="286024" cy="286024"/>
          </a:xfrm>
          <a:prstGeom prst="rect">
            <a:avLst/>
          </a:prstGeom>
          <a:noFill/>
          <a:ln>
            <a:noFill/>
          </a:ln>
        </p:spPr>
      </p:pic>
      <p:sp>
        <p:nvSpPr>
          <p:cNvPr id="266" name="Google Shape;266;p8"/>
          <p:cNvSpPr/>
          <p:nvPr/>
        </p:nvSpPr>
        <p:spPr>
          <a:xfrm>
            <a:off x="4636008" y="5212080"/>
            <a:ext cx="3008376"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50"/>
              <a:buFont typeface="Cambria"/>
              <a:buNone/>
            </a:pPr>
            <a:r>
              <a:rPr b="1" i="0" lang="en-US" sz="1650" u="none" cap="none" strike="noStrike">
                <a:solidFill>
                  <a:srgbClr val="2A1F1F"/>
                </a:solidFill>
                <a:latin typeface="Cambria"/>
                <a:ea typeface="Cambria"/>
                <a:cs typeface="Cambria"/>
                <a:sym typeface="Cambria"/>
              </a:rPr>
              <a:t>Documentation</a:t>
            </a:r>
            <a:endParaRPr b="0" i="0" sz="1650" u="none" cap="none" strike="noStrike">
              <a:solidFill>
                <a:schemeClr val="dk1"/>
              </a:solidFill>
              <a:latin typeface="Calibri"/>
              <a:ea typeface="Calibri"/>
              <a:cs typeface="Calibri"/>
              <a:sym typeface="Calibri"/>
            </a:endParaRPr>
          </a:p>
        </p:txBody>
      </p:sp>
      <p:sp>
        <p:nvSpPr>
          <p:cNvPr id="267" name="Google Shape;267;p8"/>
          <p:cNvSpPr/>
          <p:nvPr/>
        </p:nvSpPr>
        <p:spPr>
          <a:xfrm>
            <a:off x="4636008" y="5696712"/>
            <a:ext cx="3008376" cy="54864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Notes, voice recordings, severity graphs</a:t>
            </a:r>
            <a:endParaRPr b="0" i="0" sz="1700" u="none" cap="none" strike="noStrike">
              <a:solidFill>
                <a:schemeClr val="dk1"/>
              </a:solidFill>
              <a:latin typeface="Calibri"/>
              <a:ea typeface="Calibri"/>
              <a:cs typeface="Calibri"/>
              <a:sym typeface="Calibri"/>
            </a:endParaRPr>
          </a:p>
        </p:txBody>
      </p:sp>
      <p:sp>
        <p:nvSpPr>
          <p:cNvPr id="268" name="Google Shape;268;p8"/>
          <p:cNvSpPr/>
          <p:nvPr/>
        </p:nvSpPr>
        <p:spPr>
          <a:xfrm>
            <a:off x="8138160" y="4160520"/>
            <a:ext cx="3593592" cy="2240280"/>
          </a:xfrm>
          <a:prstGeom prst="roundRect">
            <a:avLst>
              <a:gd fmla="val 3673"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8"/>
          <p:cNvSpPr/>
          <p:nvPr/>
        </p:nvSpPr>
        <p:spPr>
          <a:xfrm>
            <a:off x="8412480" y="4434840"/>
            <a:ext cx="621792" cy="621792"/>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rophy_i.png" id="270" name="Google Shape;270;p8"/>
          <p:cNvPicPr preferRelativeResize="0"/>
          <p:nvPr/>
        </p:nvPicPr>
        <p:blipFill rotWithShape="1">
          <a:blip r:embed="rId8">
            <a:alphaModFix/>
          </a:blip>
          <a:srcRect b="0" l="0" r="0" t="0"/>
          <a:stretch/>
        </p:blipFill>
        <p:spPr>
          <a:xfrm>
            <a:off x="8580364" y="4602724"/>
            <a:ext cx="286024" cy="286024"/>
          </a:xfrm>
          <a:prstGeom prst="rect">
            <a:avLst/>
          </a:prstGeom>
          <a:noFill/>
          <a:ln>
            <a:noFill/>
          </a:ln>
        </p:spPr>
      </p:pic>
      <p:sp>
        <p:nvSpPr>
          <p:cNvPr id="271" name="Google Shape;271;p8"/>
          <p:cNvSpPr/>
          <p:nvPr/>
        </p:nvSpPr>
        <p:spPr>
          <a:xfrm>
            <a:off x="8430768" y="5212080"/>
            <a:ext cx="3008376"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650"/>
              <a:buFont typeface="Cambria"/>
              <a:buNone/>
            </a:pPr>
            <a:r>
              <a:rPr b="1" i="0" lang="en-US" sz="1650" u="none" cap="none" strike="noStrike">
                <a:solidFill>
                  <a:srgbClr val="2A1F1F"/>
                </a:solidFill>
                <a:latin typeface="Cambria"/>
                <a:ea typeface="Cambria"/>
                <a:cs typeface="Cambria"/>
                <a:sym typeface="Cambria"/>
              </a:rPr>
              <a:t>Community</a:t>
            </a:r>
            <a:endParaRPr b="0" i="0" sz="1650" u="none" cap="none" strike="noStrike">
              <a:solidFill>
                <a:schemeClr val="dk1"/>
              </a:solidFill>
              <a:latin typeface="Calibri"/>
              <a:ea typeface="Calibri"/>
              <a:cs typeface="Calibri"/>
              <a:sym typeface="Calibri"/>
            </a:endParaRPr>
          </a:p>
        </p:txBody>
      </p:sp>
      <p:sp>
        <p:nvSpPr>
          <p:cNvPr id="272" name="Google Shape;272;p8"/>
          <p:cNvSpPr/>
          <p:nvPr/>
        </p:nvSpPr>
        <p:spPr>
          <a:xfrm>
            <a:off x="8430768" y="5696712"/>
            <a:ext cx="3008376" cy="54864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Anonymous posts, peer support</a:t>
            </a:r>
            <a:endParaRPr b="0" i="0" sz="1700" u="none" cap="none" strike="noStrike">
              <a:solidFill>
                <a:schemeClr val="dk1"/>
              </a:solidFill>
              <a:latin typeface="Calibri"/>
              <a:ea typeface="Calibri"/>
              <a:cs typeface="Calibri"/>
              <a:sym typeface="Calibri"/>
            </a:endParaRPr>
          </a:p>
        </p:txBody>
      </p:sp>
      <p:sp>
        <p:nvSpPr>
          <p:cNvPr id="273" name="Google Shape;273;p8"/>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278" name="Shape 278"/>
        <p:cNvGrpSpPr/>
        <p:nvPr/>
      </p:nvGrpSpPr>
      <p:grpSpPr>
        <a:xfrm>
          <a:off x="0" y="0"/>
          <a:ext cx="0" cy="0"/>
          <a:chOff x="0" y="0"/>
          <a:chExt cx="0" cy="0"/>
        </a:xfrm>
      </p:grpSpPr>
      <p:sp>
        <p:nvSpPr>
          <p:cNvPr id="279" name="Google Shape;279;p9"/>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SYSTEM DESIGN</a:t>
            </a:r>
            <a:endParaRPr b="0" i="0" sz="1700" u="none" cap="none" strike="noStrike">
              <a:solidFill>
                <a:schemeClr val="dk1"/>
              </a:solidFill>
              <a:latin typeface="Calibri"/>
              <a:ea typeface="Calibri"/>
              <a:cs typeface="Calibri"/>
              <a:sym typeface="Calibri"/>
            </a:endParaRPr>
          </a:p>
        </p:txBody>
      </p:sp>
      <p:sp>
        <p:nvSpPr>
          <p:cNvPr id="280" name="Google Shape;280;p9"/>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Non-functional requirements</a:t>
            </a:r>
            <a:endParaRPr b="0" i="0" sz="3200" u="none" cap="none" strike="noStrike">
              <a:solidFill>
                <a:schemeClr val="dk1"/>
              </a:solidFill>
              <a:latin typeface="Calibri"/>
              <a:ea typeface="Calibri"/>
              <a:cs typeface="Calibri"/>
              <a:sym typeface="Calibri"/>
            </a:endParaRPr>
          </a:p>
        </p:txBody>
      </p:sp>
      <p:graphicFrame>
        <p:nvGraphicFramePr>
          <p:cNvPr id="281" name="Google Shape;281;p9"/>
          <p:cNvGraphicFramePr/>
          <p:nvPr/>
        </p:nvGraphicFramePr>
        <p:xfrm>
          <a:off x="548640" y="1456414"/>
          <a:ext cx="3000000" cy="3000000"/>
        </p:xfrm>
        <a:graphic>
          <a:graphicData uri="http://schemas.openxmlformats.org/drawingml/2006/table">
            <a:tbl>
              <a:tblPr>
                <a:noFill/>
                <a:tableStyleId>{89003212-A46F-446A-83AF-891BA12ADF64}</a:tableStyleId>
              </a:tblPr>
              <a:tblGrid>
                <a:gridCol w="2377450"/>
                <a:gridCol w="4206250"/>
                <a:gridCol w="4508000"/>
              </a:tblGrid>
              <a:tr h="566925">
                <a:tc>
                  <a:txBody>
                    <a:bodyPr/>
                    <a:lstStyle/>
                    <a:p>
                      <a:pPr indent="0" lvl="0" marL="0" marR="0" rtl="0" algn="l">
                        <a:lnSpc>
                          <a:spcPct val="100000"/>
                        </a:lnSpc>
                        <a:spcBef>
                          <a:spcPts val="0"/>
                        </a:spcBef>
                        <a:spcAft>
                          <a:spcPts val="0"/>
                        </a:spcAft>
                        <a:buClr>
                          <a:srgbClr val="FFFFFF"/>
                        </a:buClr>
                        <a:buSzPts val="1500"/>
                        <a:buFont typeface="Calibri"/>
                        <a:buNone/>
                      </a:pPr>
                      <a:r>
                        <a:rPr b="1" lang="en-US" sz="1800" u="none" cap="none" strike="noStrike">
                          <a:solidFill>
                            <a:srgbClr val="FFFFFF"/>
                          </a:solidFill>
                          <a:latin typeface="Calibri"/>
                          <a:ea typeface="Calibri"/>
                          <a:cs typeface="Calibri"/>
                          <a:sym typeface="Calibri"/>
                        </a:rPr>
                        <a:t>Category</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c>
                  <a:txBody>
                    <a:bodyPr/>
                    <a:lstStyle/>
                    <a:p>
                      <a:pPr indent="0" lvl="0" marL="0" marR="0" rtl="0" algn="l">
                        <a:lnSpc>
                          <a:spcPct val="100000"/>
                        </a:lnSpc>
                        <a:spcBef>
                          <a:spcPts val="0"/>
                        </a:spcBef>
                        <a:spcAft>
                          <a:spcPts val="0"/>
                        </a:spcAft>
                        <a:buClr>
                          <a:srgbClr val="FFFFFF"/>
                        </a:buClr>
                        <a:buSzPts val="1500"/>
                        <a:buFont typeface="Calibri"/>
                        <a:buNone/>
                      </a:pPr>
                      <a:r>
                        <a:rPr b="1" lang="en-US" sz="1800" u="none" cap="none" strike="noStrike">
                          <a:solidFill>
                            <a:srgbClr val="FFFFFF"/>
                          </a:solidFill>
                          <a:latin typeface="Calibri"/>
                          <a:ea typeface="Calibri"/>
                          <a:cs typeface="Calibri"/>
                          <a:sym typeface="Calibri"/>
                        </a:rPr>
                        <a:t>Requirement</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c>
                  <a:txBody>
                    <a:bodyPr/>
                    <a:lstStyle/>
                    <a:p>
                      <a:pPr indent="0" lvl="0" marL="0" marR="0" rtl="0" algn="l">
                        <a:lnSpc>
                          <a:spcPct val="100000"/>
                        </a:lnSpc>
                        <a:spcBef>
                          <a:spcPts val="0"/>
                        </a:spcBef>
                        <a:spcAft>
                          <a:spcPts val="0"/>
                        </a:spcAft>
                        <a:buClr>
                          <a:srgbClr val="FFFFFF"/>
                        </a:buClr>
                        <a:buSzPts val="1500"/>
                        <a:buFont typeface="Calibri"/>
                        <a:buNone/>
                      </a:pPr>
                      <a:r>
                        <a:rPr b="1" lang="en-US" sz="1800" u="none" cap="none" strike="noStrike">
                          <a:solidFill>
                            <a:srgbClr val="FFFFFF"/>
                          </a:solidFill>
                          <a:latin typeface="Calibri"/>
                          <a:ea typeface="Calibri"/>
                          <a:cs typeface="Calibri"/>
                          <a:sym typeface="Calibri"/>
                        </a:rPr>
                        <a:t>Metric</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9E4750"/>
                    </a:solidFill>
                  </a:tcPr>
                </a:tc>
              </a:tr>
              <a:tr h="566925">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Security / privacy</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User anonymity in community</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100% of posts shown without personal data</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r>
              <a:tr h="566925">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Safety</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Content moderation</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95%+ of reported content reviewed within 24h</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r>
              <a:tr h="566925">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Performance</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System responsiveness</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Requests answered within 3 seconds</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FFFFF"/>
                    </a:solidFill>
                  </a:tcPr>
                </a:tc>
              </a:tr>
              <a:tr h="566925">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Availability</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System uptime</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c>
                  <a:txBody>
                    <a:bodyPr/>
                    <a:lstStyle/>
                    <a:p>
                      <a:pPr indent="0" lvl="0" marL="0" marR="0" rtl="0" algn="l">
                        <a:lnSpc>
                          <a:spcPct val="100000"/>
                        </a:lnSpc>
                        <a:spcBef>
                          <a:spcPts val="0"/>
                        </a:spcBef>
                        <a:spcAft>
                          <a:spcPts val="0"/>
                        </a:spcAft>
                        <a:buClr>
                          <a:srgbClr val="453636"/>
                        </a:buClr>
                        <a:buSzPts val="1500"/>
                        <a:buFont typeface="Calibri"/>
                        <a:buNone/>
                      </a:pPr>
                      <a:r>
                        <a:rPr lang="en-US" sz="1800" u="none" cap="none" strike="noStrike">
                          <a:solidFill>
                            <a:srgbClr val="453636"/>
                          </a:solidFill>
                          <a:latin typeface="Calibri"/>
                          <a:ea typeface="Calibri"/>
                          <a:cs typeface="Calibri"/>
                          <a:sym typeface="Calibri"/>
                        </a:rPr>
                        <a:t>99%+ annual uptime</a:t>
                      </a:r>
                      <a:endParaRPr sz="1800" u="none" cap="none" strike="noStrike">
                        <a:latin typeface="Calibri"/>
                        <a:ea typeface="Calibri"/>
                        <a:cs typeface="Calibri"/>
                        <a:sym typeface="Calibri"/>
                      </a:endParaRPr>
                    </a:p>
                  </a:txBody>
                  <a:tcPr marT="45725" marB="45725" marR="91450" marL="91450" anchor="ctr">
                    <a:lnL cap="flat" cmpd="sng" w="9525">
                      <a:solidFill>
                        <a:srgbClr val="DEC1C0"/>
                      </a:solidFill>
                      <a:prstDash val="solid"/>
                      <a:round/>
                      <a:headEnd len="sm" w="sm" type="none"/>
                      <a:tailEnd len="sm" w="sm" type="none"/>
                    </a:lnL>
                    <a:lnR cap="flat" cmpd="sng" w="9525">
                      <a:solidFill>
                        <a:srgbClr val="DEC1C0"/>
                      </a:solidFill>
                      <a:prstDash val="solid"/>
                      <a:round/>
                      <a:headEnd len="sm" w="sm" type="none"/>
                      <a:tailEnd len="sm" w="sm" type="none"/>
                    </a:lnR>
                    <a:lnT cap="flat" cmpd="sng" w="9525">
                      <a:solidFill>
                        <a:srgbClr val="DEC1C0"/>
                      </a:solidFill>
                      <a:prstDash val="solid"/>
                      <a:round/>
                      <a:headEnd len="sm" w="sm" type="none"/>
                      <a:tailEnd len="sm" w="sm" type="none"/>
                    </a:lnT>
                    <a:lnB cap="flat" cmpd="sng" w="9525">
                      <a:solidFill>
                        <a:srgbClr val="DEC1C0"/>
                      </a:solidFill>
                      <a:prstDash val="solid"/>
                      <a:round/>
                      <a:headEnd len="sm" w="sm" type="none"/>
                      <a:tailEnd len="sm" w="sm" type="none"/>
                    </a:lnB>
                    <a:solidFill>
                      <a:srgbClr val="F0CBCD"/>
                    </a:solidFill>
                  </a:tcPr>
                </a:tc>
              </a:tr>
            </a:tbl>
          </a:graphicData>
        </a:graphic>
      </p:graphicFrame>
      <p:sp>
        <p:nvSpPr>
          <p:cNvPr id="282" name="Google Shape;282;p9"/>
          <p:cNvSpPr/>
          <p:nvPr/>
        </p:nvSpPr>
        <p:spPr>
          <a:xfrm>
            <a:off x="548640" y="4565374"/>
            <a:ext cx="2606040" cy="1005840"/>
          </a:xfrm>
          <a:prstGeom prst="roundRect">
            <a:avLst>
              <a:gd fmla="val 8182"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9"/>
          <p:cNvSpPr/>
          <p:nvPr/>
        </p:nvSpPr>
        <p:spPr>
          <a:xfrm>
            <a:off x="749808" y="4812262"/>
            <a:ext cx="512064" cy="512064"/>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ock_i.png" id="284" name="Google Shape;284;p9"/>
          <p:cNvPicPr preferRelativeResize="0"/>
          <p:nvPr/>
        </p:nvPicPr>
        <p:blipFill rotWithShape="1">
          <a:blip r:embed="rId3">
            <a:alphaModFix/>
          </a:blip>
          <a:srcRect b="0" l="0" r="0" t="0"/>
          <a:stretch/>
        </p:blipFill>
        <p:spPr>
          <a:xfrm>
            <a:off x="888065" y="4950519"/>
            <a:ext cx="235549" cy="235549"/>
          </a:xfrm>
          <a:prstGeom prst="rect">
            <a:avLst/>
          </a:prstGeom>
          <a:noFill/>
          <a:ln>
            <a:noFill/>
          </a:ln>
        </p:spPr>
      </p:pic>
      <p:sp>
        <p:nvSpPr>
          <p:cNvPr id="285" name="Google Shape;285;p9"/>
          <p:cNvSpPr/>
          <p:nvPr/>
        </p:nvSpPr>
        <p:spPr>
          <a:xfrm>
            <a:off x="1371600" y="4565374"/>
            <a:ext cx="1600200" cy="10058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A1F1F"/>
              </a:buClr>
              <a:buSzPts val="1350"/>
              <a:buFont typeface="Calibri"/>
              <a:buNone/>
            </a:pPr>
            <a:r>
              <a:rPr b="1" i="0" lang="en-US" sz="1700" u="none" cap="none" strike="noStrike">
                <a:solidFill>
                  <a:srgbClr val="2A1F1F"/>
                </a:solidFill>
                <a:latin typeface="Calibri"/>
                <a:ea typeface="Calibri"/>
                <a:cs typeface="Calibri"/>
                <a:sym typeface="Calibri"/>
              </a:rPr>
              <a:t>Privacy by design</a:t>
            </a:r>
            <a:endParaRPr b="0" i="0" sz="1700" u="none" cap="none" strike="noStrike">
              <a:solidFill>
                <a:schemeClr val="dk1"/>
              </a:solidFill>
              <a:latin typeface="Calibri"/>
              <a:ea typeface="Calibri"/>
              <a:cs typeface="Calibri"/>
              <a:sym typeface="Calibri"/>
            </a:endParaRPr>
          </a:p>
        </p:txBody>
      </p:sp>
      <p:sp>
        <p:nvSpPr>
          <p:cNvPr id="286" name="Google Shape;286;p9"/>
          <p:cNvSpPr/>
          <p:nvPr/>
        </p:nvSpPr>
        <p:spPr>
          <a:xfrm>
            <a:off x="3337560" y="4565374"/>
            <a:ext cx="2606040" cy="1005840"/>
          </a:xfrm>
          <a:prstGeom prst="roundRect">
            <a:avLst>
              <a:gd fmla="val 8182"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9"/>
          <p:cNvSpPr/>
          <p:nvPr/>
        </p:nvSpPr>
        <p:spPr>
          <a:xfrm>
            <a:off x="3538728" y="4812262"/>
            <a:ext cx="512064" cy="512064"/>
          </a:xfrm>
          <a:prstGeom prst="ellipse">
            <a:avLst/>
          </a:prstGeom>
          <a:solidFill>
            <a:srgbClr val="DCE9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hield_check_i.png" id="288" name="Google Shape;288;p9"/>
          <p:cNvPicPr preferRelativeResize="0"/>
          <p:nvPr/>
        </p:nvPicPr>
        <p:blipFill rotWithShape="1">
          <a:blip r:embed="rId4">
            <a:alphaModFix/>
          </a:blip>
          <a:srcRect b="0" l="0" r="0" t="0"/>
          <a:stretch/>
        </p:blipFill>
        <p:spPr>
          <a:xfrm>
            <a:off x="3676985" y="4950519"/>
            <a:ext cx="235549" cy="235549"/>
          </a:xfrm>
          <a:prstGeom prst="rect">
            <a:avLst/>
          </a:prstGeom>
          <a:noFill/>
          <a:ln>
            <a:noFill/>
          </a:ln>
        </p:spPr>
      </p:pic>
      <p:sp>
        <p:nvSpPr>
          <p:cNvPr id="289" name="Google Shape;289;p9"/>
          <p:cNvSpPr/>
          <p:nvPr/>
        </p:nvSpPr>
        <p:spPr>
          <a:xfrm>
            <a:off x="4160520" y="4565374"/>
            <a:ext cx="1600200" cy="10058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A1F1F"/>
              </a:buClr>
              <a:buSzPts val="1350"/>
              <a:buFont typeface="Calibri"/>
              <a:buNone/>
            </a:pPr>
            <a:r>
              <a:rPr b="1" i="0" lang="en-US" sz="1700" u="none" cap="none" strike="noStrike">
                <a:solidFill>
                  <a:srgbClr val="2A1F1F"/>
                </a:solidFill>
                <a:latin typeface="Calibri"/>
                <a:ea typeface="Calibri"/>
                <a:cs typeface="Calibri"/>
                <a:sym typeface="Calibri"/>
              </a:rPr>
              <a:t>Active moderation</a:t>
            </a:r>
            <a:endParaRPr b="0" i="0" sz="1700" u="none" cap="none" strike="noStrike">
              <a:solidFill>
                <a:schemeClr val="dk1"/>
              </a:solidFill>
              <a:latin typeface="Calibri"/>
              <a:ea typeface="Calibri"/>
              <a:cs typeface="Calibri"/>
              <a:sym typeface="Calibri"/>
            </a:endParaRPr>
          </a:p>
        </p:txBody>
      </p:sp>
      <p:sp>
        <p:nvSpPr>
          <p:cNvPr id="290" name="Google Shape;290;p9"/>
          <p:cNvSpPr/>
          <p:nvPr/>
        </p:nvSpPr>
        <p:spPr>
          <a:xfrm>
            <a:off x="6126480" y="4565374"/>
            <a:ext cx="2606040" cy="1005840"/>
          </a:xfrm>
          <a:prstGeom prst="roundRect">
            <a:avLst>
              <a:gd fmla="val 8182"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9"/>
          <p:cNvSpPr/>
          <p:nvPr/>
        </p:nvSpPr>
        <p:spPr>
          <a:xfrm>
            <a:off x="6327648" y="4812262"/>
            <a:ext cx="512064" cy="512064"/>
          </a:xfrm>
          <a:prstGeom prst="ellipse">
            <a:avLst/>
          </a:prstGeom>
          <a:solidFill>
            <a:srgbClr val="F5EA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hart_line_i.png" id="292" name="Google Shape;292;p9"/>
          <p:cNvPicPr preferRelativeResize="0"/>
          <p:nvPr/>
        </p:nvPicPr>
        <p:blipFill rotWithShape="1">
          <a:blip r:embed="rId5">
            <a:alphaModFix/>
          </a:blip>
          <a:srcRect b="0" l="0" r="0" t="0"/>
          <a:stretch/>
        </p:blipFill>
        <p:spPr>
          <a:xfrm>
            <a:off x="6465905" y="4950519"/>
            <a:ext cx="235549" cy="235549"/>
          </a:xfrm>
          <a:prstGeom prst="rect">
            <a:avLst/>
          </a:prstGeom>
          <a:noFill/>
          <a:ln>
            <a:noFill/>
          </a:ln>
        </p:spPr>
      </p:pic>
      <p:sp>
        <p:nvSpPr>
          <p:cNvPr id="293" name="Google Shape;293;p9"/>
          <p:cNvSpPr/>
          <p:nvPr/>
        </p:nvSpPr>
        <p:spPr>
          <a:xfrm>
            <a:off x="6949440" y="4565374"/>
            <a:ext cx="1600200" cy="10058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A1F1F"/>
              </a:buClr>
              <a:buSzPts val="1350"/>
              <a:buFont typeface="Calibri"/>
              <a:buNone/>
            </a:pPr>
            <a:r>
              <a:rPr b="1" i="0" lang="en-US" sz="1700" u="none" cap="none" strike="noStrike">
                <a:solidFill>
                  <a:srgbClr val="2A1F1F"/>
                </a:solidFill>
                <a:latin typeface="Calibri"/>
                <a:ea typeface="Calibri"/>
                <a:cs typeface="Calibri"/>
                <a:sym typeface="Calibri"/>
              </a:rPr>
              <a:t>Fast &amp; responsive</a:t>
            </a:r>
            <a:endParaRPr b="0" i="0" sz="1700" u="none" cap="none" strike="noStrike">
              <a:solidFill>
                <a:schemeClr val="dk1"/>
              </a:solidFill>
              <a:latin typeface="Calibri"/>
              <a:ea typeface="Calibri"/>
              <a:cs typeface="Calibri"/>
              <a:sym typeface="Calibri"/>
            </a:endParaRPr>
          </a:p>
        </p:txBody>
      </p:sp>
      <p:sp>
        <p:nvSpPr>
          <p:cNvPr id="294" name="Google Shape;294;p9"/>
          <p:cNvSpPr/>
          <p:nvPr/>
        </p:nvSpPr>
        <p:spPr>
          <a:xfrm>
            <a:off x="8915400" y="4565374"/>
            <a:ext cx="2606040" cy="1005840"/>
          </a:xfrm>
          <a:prstGeom prst="roundRect">
            <a:avLst>
              <a:gd fmla="val 8182"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9"/>
          <p:cNvSpPr/>
          <p:nvPr/>
        </p:nvSpPr>
        <p:spPr>
          <a:xfrm>
            <a:off x="9116568" y="4812262"/>
            <a:ext cx="512064" cy="512064"/>
          </a:xfrm>
          <a:prstGeom prst="ellipse">
            <a:avLst/>
          </a:prstGeom>
          <a:solidFill>
            <a:srgbClr val="DFEB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erver_scale_i.png" id="296" name="Google Shape;296;p9"/>
          <p:cNvPicPr preferRelativeResize="0"/>
          <p:nvPr/>
        </p:nvPicPr>
        <p:blipFill rotWithShape="1">
          <a:blip r:embed="rId6">
            <a:alphaModFix/>
          </a:blip>
          <a:srcRect b="0" l="0" r="0" t="0"/>
          <a:stretch/>
        </p:blipFill>
        <p:spPr>
          <a:xfrm>
            <a:off x="9254825" y="4950519"/>
            <a:ext cx="235549" cy="235549"/>
          </a:xfrm>
          <a:prstGeom prst="rect">
            <a:avLst/>
          </a:prstGeom>
          <a:noFill/>
          <a:ln>
            <a:noFill/>
          </a:ln>
        </p:spPr>
      </p:pic>
      <p:sp>
        <p:nvSpPr>
          <p:cNvPr id="297" name="Google Shape;297;p9"/>
          <p:cNvSpPr/>
          <p:nvPr/>
        </p:nvSpPr>
        <p:spPr>
          <a:xfrm>
            <a:off x="9738360" y="4565374"/>
            <a:ext cx="1600200" cy="10058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A1F1F"/>
              </a:buClr>
              <a:buSzPts val="1350"/>
              <a:buFont typeface="Calibri"/>
              <a:buNone/>
            </a:pPr>
            <a:r>
              <a:rPr b="1" i="0" lang="en-US" sz="1700" u="none" cap="none" strike="noStrike">
                <a:solidFill>
                  <a:srgbClr val="2A1F1F"/>
                </a:solidFill>
                <a:latin typeface="Calibri"/>
                <a:ea typeface="Calibri"/>
                <a:cs typeface="Calibri"/>
                <a:sym typeface="Calibri"/>
              </a:rPr>
              <a:t>Built to scale</a:t>
            </a:r>
            <a:endParaRPr b="0" i="0" sz="1700" u="none" cap="none" strike="noStrike">
              <a:solidFill>
                <a:schemeClr val="dk1"/>
              </a:solidFill>
              <a:latin typeface="Calibri"/>
              <a:ea typeface="Calibri"/>
              <a:cs typeface="Calibri"/>
              <a:sym typeface="Calibri"/>
            </a:endParaRPr>
          </a:p>
        </p:txBody>
      </p:sp>
      <p:sp>
        <p:nvSpPr>
          <p:cNvPr id="298" name="Google Shape;298;p9"/>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303" name="Shape 303"/>
        <p:cNvGrpSpPr/>
        <p:nvPr/>
      </p:nvGrpSpPr>
      <p:grpSpPr>
        <a:xfrm>
          <a:off x="0" y="0"/>
          <a:ext cx="0" cy="0"/>
          <a:chOff x="0" y="0"/>
          <a:chExt cx="0" cy="0"/>
        </a:xfrm>
      </p:grpSpPr>
      <p:sp>
        <p:nvSpPr>
          <p:cNvPr id="304" name="Google Shape;304;p11"/>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IMPLEMENTATION</a:t>
            </a:r>
            <a:endParaRPr b="0" i="0" sz="1700" u="none" cap="none" strike="noStrike">
              <a:solidFill>
                <a:schemeClr val="dk1"/>
              </a:solidFill>
              <a:latin typeface="Calibri"/>
              <a:ea typeface="Calibri"/>
              <a:cs typeface="Calibri"/>
              <a:sym typeface="Calibri"/>
            </a:endParaRPr>
          </a:p>
        </p:txBody>
      </p:sp>
      <p:sp>
        <p:nvSpPr>
          <p:cNvPr id="305" name="Google Shape;305;p11"/>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System architecture</a:t>
            </a:r>
            <a:endParaRPr b="0" i="0" sz="3200" u="none" cap="none" strike="noStrike">
              <a:solidFill>
                <a:schemeClr val="dk1"/>
              </a:solidFill>
              <a:latin typeface="Calibri"/>
              <a:ea typeface="Calibri"/>
              <a:cs typeface="Calibri"/>
              <a:sym typeface="Calibri"/>
            </a:endParaRPr>
          </a:p>
        </p:txBody>
      </p:sp>
      <p:sp>
        <p:nvSpPr>
          <p:cNvPr id="306" name="Google Shape;306;p11"/>
          <p:cNvSpPr/>
          <p:nvPr/>
        </p:nvSpPr>
        <p:spPr>
          <a:xfrm>
            <a:off x="548640" y="1128128"/>
            <a:ext cx="4434840" cy="5409832"/>
          </a:xfrm>
          <a:prstGeom prst="roundRect">
            <a:avLst>
              <a:gd fmla="val 1856"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1"/>
          <p:cNvSpPr/>
          <p:nvPr/>
        </p:nvSpPr>
        <p:spPr>
          <a:xfrm>
            <a:off x="722376" y="1239012"/>
            <a:ext cx="3200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500"/>
              <a:buFont typeface="Calibri"/>
              <a:buNone/>
            </a:pPr>
            <a:r>
              <a:rPr b="1" i="0" lang="en-US" sz="1800" u="none" cap="none" strike="noStrike">
                <a:solidFill>
                  <a:srgbClr val="9E4750"/>
                </a:solidFill>
                <a:latin typeface="Calibri"/>
                <a:ea typeface="Calibri"/>
                <a:cs typeface="Calibri"/>
                <a:sym typeface="Calibri"/>
              </a:rPr>
              <a:t>CLIENT SIDE</a:t>
            </a:r>
            <a:endParaRPr b="0" i="0" sz="1800" u="none" cap="none" strike="noStrike">
              <a:solidFill>
                <a:schemeClr val="dk1"/>
              </a:solidFill>
              <a:latin typeface="Calibri"/>
              <a:ea typeface="Calibri"/>
              <a:cs typeface="Calibri"/>
              <a:sym typeface="Calibri"/>
            </a:endParaRPr>
          </a:p>
        </p:txBody>
      </p:sp>
      <p:sp>
        <p:nvSpPr>
          <p:cNvPr id="308" name="Google Shape;308;p11"/>
          <p:cNvSpPr/>
          <p:nvPr/>
        </p:nvSpPr>
        <p:spPr>
          <a:xfrm>
            <a:off x="1783080" y="1904538"/>
            <a:ext cx="1965960" cy="1371600"/>
          </a:xfrm>
          <a:prstGeom prst="roundRect">
            <a:avLst>
              <a:gd fmla="val 6000" name="adj"/>
            </a:avLst>
          </a:prstGeom>
          <a:solidFill>
            <a:srgbClr val="F5DCDD"/>
          </a:solidFill>
          <a:ln cap="flat" cmpd="sng" w="9525">
            <a:solidFill>
              <a:srgbClr val="CC828A"/>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1"/>
          <p:cNvSpPr/>
          <p:nvPr/>
        </p:nvSpPr>
        <p:spPr>
          <a:xfrm>
            <a:off x="548640" y="2892090"/>
            <a:ext cx="443484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1400"/>
              <a:buFont typeface="Cambria"/>
              <a:buNone/>
            </a:pPr>
            <a:r>
              <a:rPr b="1" i="0" lang="en-US" sz="1750" u="none" cap="none" strike="noStrike">
                <a:solidFill>
                  <a:srgbClr val="2A1F1F"/>
                </a:solidFill>
                <a:latin typeface="Cambria"/>
                <a:ea typeface="Cambria"/>
                <a:cs typeface="Cambria"/>
                <a:sym typeface="Cambria"/>
              </a:rPr>
              <a:t>Smart jewelry</a:t>
            </a:r>
            <a:endParaRPr b="0" i="0" sz="1750" u="none" cap="none" strike="noStrike">
              <a:solidFill>
                <a:schemeClr val="dk1"/>
              </a:solidFill>
              <a:latin typeface="Calibri"/>
              <a:ea typeface="Calibri"/>
              <a:cs typeface="Calibri"/>
              <a:sym typeface="Calibri"/>
            </a:endParaRPr>
          </a:p>
        </p:txBody>
      </p:sp>
      <p:cxnSp>
        <p:nvCxnSpPr>
          <p:cNvPr id="310" name="Google Shape;310;p11"/>
          <p:cNvCxnSpPr>
            <a:stCxn id="308" idx="2"/>
            <a:endCxn id="311" idx="0"/>
          </p:cNvCxnSpPr>
          <p:nvPr/>
        </p:nvCxnSpPr>
        <p:spPr>
          <a:xfrm>
            <a:off x="2766060" y="3276138"/>
            <a:ext cx="0" cy="322500"/>
          </a:xfrm>
          <a:prstGeom prst="straightConnector1">
            <a:avLst/>
          </a:prstGeom>
          <a:noFill/>
          <a:ln cap="flat" cmpd="sng" w="19050">
            <a:solidFill>
              <a:srgbClr val="2A1F1F"/>
            </a:solidFill>
            <a:prstDash val="solid"/>
            <a:round/>
            <a:headEnd len="sm" w="sm" type="none"/>
            <a:tailEnd len="sm" w="sm" type="none"/>
          </a:ln>
        </p:spPr>
      </p:cxnSp>
      <p:sp>
        <p:nvSpPr>
          <p:cNvPr id="311" name="Google Shape;311;p11"/>
          <p:cNvSpPr/>
          <p:nvPr/>
        </p:nvSpPr>
        <p:spPr>
          <a:xfrm>
            <a:off x="1143000" y="3598620"/>
            <a:ext cx="3246120" cy="868680"/>
          </a:xfrm>
          <a:prstGeom prst="roundRect">
            <a:avLst>
              <a:gd fmla="val 9474" name="adj"/>
            </a:avLst>
          </a:prstGeom>
          <a:solidFill>
            <a:srgbClr val="DCE9EE"/>
          </a:solidFill>
          <a:ln cap="flat" cmpd="sng" w="9525">
            <a:solidFill>
              <a:srgbClr val="76A0B5"/>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liders_w.png" id="312" name="Google Shape;312;p11"/>
          <p:cNvPicPr preferRelativeResize="0"/>
          <p:nvPr/>
        </p:nvPicPr>
        <p:blipFill rotWithShape="1">
          <a:blip r:embed="rId3">
            <a:alphaModFix/>
          </a:blip>
          <a:srcRect b="0" l="0" r="0" t="0"/>
          <a:stretch/>
        </p:blipFill>
        <p:spPr>
          <a:xfrm>
            <a:off x="2564892" y="3690060"/>
            <a:ext cx="402336" cy="402336"/>
          </a:xfrm>
          <a:prstGeom prst="rect">
            <a:avLst/>
          </a:prstGeom>
          <a:noFill/>
          <a:ln>
            <a:noFill/>
          </a:ln>
        </p:spPr>
      </p:pic>
      <p:sp>
        <p:nvSpPr>
          <p:cNvPr id="313" name="Google Shape;313;p11"/>
          <p:cNvSpPr/>
          <p:nvPr/>
        </p:nvSpPr>
        <p:spPr>
          <a:xfrm>
            <a:off x="1143000" y="4128972"/>
            <a:ext cx="32461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1150"/>
              <a:buFont typeface="Calibri"/>
              <a:buNone/>
            </a:pPr>
            <a:r>
              <a:rPr b="1" i="0" lang="en-US" sz="1600" u="none" cap="none" strike="noStrike">
                <a:solidFill>
                  <a:srgbClr val="2A1F1F"/>
                </a:solidFill>
                <a:latin typeface="Calibri"/>
                <a:ea typeface="Calibri"/>
                <a:cs typeface="Calibri"/>
                <a:sym typeface="Calibri"/>
              </a:rPr>
              <a:t>Click &amp; roll input</a:t>
            </a:r>
            <a:endParaRPr b="0" i="0" sz="1600" u="none" cap="none" strike="noStrike">
              <a:solidFill>
                <a:schemeClr val="dk1"/>
              </a:solidFill>
              <a:latin typeface="Calibri"/>
              <a:ea typeface="Calibri"/>
              <a:cs typeface="Calibri"/>
              <a:sym typeface="Calibri"/>
            </a:endParaRPr>
          </a:p>
        </p:txBody>
      </p:sp>
      <p:sp>
        <p:nvSpPr>
          <p:cNvPr id="314" name="Google Shape;314;p11"/>
          <p:cNvSpPr/>
          <p:nvPr/>
        </p:nvSpPr>
        <p:spPr>
          <a:xfrm>
            <a:off x="2704802" y="4545803"/>
            <a:ext cx="1384668" cy="28956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34F4F"/>
              </a:buClr>
              <a:buSzPts val="1200"/>
              <a:buFont typeface="Calibri"/>
              <a:buNone/>
            </a:pPr>
            <a:r>
              <a:rPr b="0" i="1" lang="en-US" sz="1600" u="none" cap="none" strike="noStrike">
                <a:solidFill>
                  <a:srgbClr val="634F4F"/>
                </a:solidFill>
                <a:latin typeface="Calibri"/>
                <a:ea typeface="Calibri"/>
                <a:cs typeface="Calibri"/>
                <a:sym typeface="Calibri"/>
              </a:rPr>
              <a:t>Bluetooth</a:t>
            </a:r>
            <a:endParaRPr b="0" i="0" sz="1600" u="none" cap="none" strike="noStrike">
              <a:solidFill>
                <a:schemeClr val="dk1"/>
              </a:solidFill>
              <a:latin typeface="Calibri"/>
              <a:ea typeface="Calibri"/>
              <a:cs typeface="Calibri"/>
              <a:sym typeface="Calibri"/>
            </a:endParaRPr>
          </a:p>
        </p:txBody>
      </p:sp>
      <p:cxnSp>
        <p:nvCxnSpPr>
          <p:cNvPr id="315" name="Google Shape;315;p11"/>
          <p:cNvCxnSpPr/>
          <p:nvPr/>
        </p:nvCxnSpPr>
        <p:spPr>
          <a:xfrm>
            <a:off x="2766060" y="4460320"/>
            <a:ext cx="0" cy="411480"/>
          </a:xfrm>
          <a:prstGeom prst="straightConnector1">
            <a:avLst/>
          </a:prstGeom>
          <a:noFill/>
          <a:ln cap="flat" cmpd="sng" w="25400">
            <a:solidFill>
              <a:srgbClr val="9E4750"/>
            </a:solidFill>
            <a:prstDash val="dash"/>
            <a:round/>
            <a:headEnd len="sm" w="sm" type="none"/>
            <a:tailEnd len="med" w="med" type="triangle"/>
          </a:ln>
        </p:spPr>
      </p:cxnSp>
      <p:sp>
        <p:nvSpPr>
          <p:cNvPr id="316" name="Google Shape;316;p11"/>
          <p:cNvSpPr/>
          <p:nvPr/>
        </p:nvSpPr>
        <p:spPr>
          <a:xfrm>
            <a:off x="960120" y="4925200"/>
            <a:ext cx="3611880" cy="914400"/>
          </a:xfrm>
          <a:prstGeom prst="roundRect">
            <a:avLst>
              <a:gd fmla="val 9000" name="adj"/>
            </a:avLst>
          </a:prstGeom>
          <a:solidFill>
            <a:srgbClr val="3B6377"/>
          </a:solidFill>
          <a:ln cap="flat" cmpd="sng" w="9525">
            <a:solidFill>
              <a:srgbClr val="3B6377"/>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s/react_native.png" id="317" name="Google Shape;317;p11"/>
          <p:cNvPicPr preferRelativeResize="0"/>
          <p:nvPr/>
        </p:nvPicPr>
        <p:blipFill rotWithShape="1">
          <a:blip r:embed="rId4">
            <a:alphaModFix/>
          </a:blip>
          <a:srcRect b="0" l="0" r="0" t="0"/>
          <a:stretch/>
        </p:blipFill>
        <p:spPr>
          <a:xfrm>
            <a:off x="1143000" y="5181232"/>
            <a:ext cx="402336" cy="402336"/>
          </a:xfrm>
          <a:prstGeom prst="rect">
            <a:avLst/>
          </a:prstGeom>
          <a:noFill/>
          <a:ln>
            <a:noFill/>
          </a:ln>
        </p:spPr>
      </p:pic>
      <p:sp>
        <p:nvSpPr>
          <p:cNvPr id="318" name="Google Shape;318;p11"/>
          <p:cNvSpPr/>
          <p:nvPr/>
        </p:nvSpPr>
        <p:spPr>
          <a:xfrm>
            <a:off x="1691640" y="5071504"/>
            <a:ext cx="2971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React Native</a:t>
            </a:r>
            <a:endParaRPr b="0" i="0" sz="1700" u="none" cap="none" strike="noStrike">
              <a:solidFill>
                <a:schemeClr val="dk1"/>
              </a:solidFill>
              <a:latin typeface="Calibri"/>
              <a:ea typeface="Calibri"/>
              <a:cs typeface="Calibri"/>
              <a:sym typeface="Calibri"/>
            </a:endParaRPr>
          </a:p>
        </p:txBody>
      </p:sp>
      <p:sp>
        <p:nvSpPr>
          <p:cNvPr id="319" name="Google Shape;319;p11"/>
          <p:cNvSpPr/>
          <p:nvPr/>
        </p:nvSpPr>
        <p:spPr>
          <a:xfrm>
            <a:off x="1691640" y="5437264"/>
            <a:ext cx="2971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EAF0"/>
              </a:buClr>
              <a:buSzPts val="1150"/>
              <a:buFont typeface="Calibri"/>
              <a:buNone/>
            </a:pPr>
            <a:r>
              <a:rPr b="0" i="0" lang="en-US" sz="1600" u="none" cap="none" strike="noStrike">
                <a:solidFill>
                  <a:srgbClr val="DCEAF0"/>
                </a:solidFill>
                <a:latin typeface="Calibri"/>
                <a:ea typeface="Calibri"/>
                <a:cs typeface="Calibri"/>
                <a:sym typeface="Calibri"/>
              </a:rPr>
              <a:t>Patient &amp; therapist mobile app</a:t>
            </a:r>
            <a:endParaRPr b="0" i="0" sz="1600" u="none" cap="none" strike="noStrike">
              <a:solidFill>
                <a:schemeClr val="dk1"/>
              </a:solidFill>
              <a:latin typeface="Calibri"/>
              <a:ea typeface="Calibri"/>
              <a:cs typeface="Calibri"/>
              <a:sym typeface="Calibri"/>
            </a:endParaRPr>
          </a:p>
        </p:txBody>
      </p:sp>
      <p:sp>
        <p:nvSpPr>
          <p:cNvPr id="320" name="Google Shape;320;p11"/>
          <p:cNvSpPr/>
          <p:nvPr/>
        </p:nvSpPr>
        <p:spPr>
          <a:xfrm>
            <a:off x="960120" y="6017060"/>
            <a:ext cx="3611880" cy="350520"/>
          </a:xfrm>
          <a:prstGeom prst="roundRect">
            <a:avLst>
              <a:gd fmla="val 20000" name="adj"/>
            </a:avLst>
          </a:prstGeom>
          <a:solidFill>
            <a:srgbClr val="F5DCDD"/>
          </a:solidFill>
          <a:ln cap="flat" cmpd="sng" w="9525">
            <a:solidFill>
              <a:srgbClr val="DEC1C0"/>
            </a:solidFill>
            <a:prstDash val="solid"/>
            <a:round/>
            <a:headEnd len="sm" w="sm" type="none"/>
            <a:tailEnd len="sm" w="sm" type="none"/>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s/react.png" id="321" name="Google Shape;321;p11"/>
          <p:cNvPicPr preferRelativeResize="0"/>
          <p:nvPr/>
        </p:nvPicPr>
        <p:blipFill rotWithShape="1">
          <a:blip r:embed="rId5">
            <a:alphaModFix/>
          </a:blip>
          <a:srcRect b="0" l="0" r="0" t="0"/>
          <a:stretch/>
        </p:blipFill>
        <p:spPr>
          <a:xfrm>
            <a:off x="1051560" y="6087800"/>
            <a:ext cx="209040" cy="209040"/>
          </a:xfrm>
          <a:prstGeom prst="rect">
            <a:avLst/>
          </a:prstGeom>
          <a:noFill/>
          <a:ln>
            <a:noFill/>
          </a:ln>
        </p:spPr>
      </p:pic>
      <p:sp>
        <p:nvSpPr>
          <p:cNvPr id="322" name="Google Shape;322;p11"/>
          <p:cNvSpPr/>
          <p:nvPr/>
        </p:nvSpPr>
        <p:spPr>
          <a:xfrm>
            <a:off x="1351280" y="6017060"/>
            <a:ext cx="3130680" cy="350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1300"/>
              <a:buFont typeface="Calibri"/>
              <a:buNone/>
            </a:pPr>
            <a:r>
              <a:rPr b="1" i="0" lang="en-US" sz="1400" u="none" cap="none" strike="noStrike">
                <a:solidFill>
                  <a:srgbClr val="2A1F1F"/>
                </a:solidFill>
                <a:latin typeface="Calibri"/>
                <a:ea typeface="Calibri"/>
                <a:cs typeface="Calibri"/>
                <a:sym typeface="Calibri"/>
              </a:rPr>
              <a:t>React — admin web app for managers</a:t>
            </a:r>
            <a:endParaRPr b="0" i="0" sz="1400" u="none" cap="none" strike="noStrike">
              <a:solidFill>
                <a:schemeClr val="dk1"/>
              </a:solidFill>
              <a:latin typeface="Calibri"/>
              <a:ea typeface="Calibri"/>
              <a:cs typeface="Calibri"/>
              <a:sym typeface="Calibri"/>
            </a:endParaRPr>
          </a:p>
        </p:txBody>
      </p:sp>
      <p:sp>
        <p:nvSpPr>
          <p:cNvPr id="323" name="Google Shape;323;p11"/>
          <p:cNvSpPr/>
          <p:nvPr/>
        </p:nvSpPr>
        <p:spPr>
          <a:xfrm>
            <a:off x="5257800" y="1128128"/>
            <a:ext cx="6382512" cy="5409832"/>
          </a:xfrm>
          <a:prstGeom prst="roundRect">
            <a:avLst>
              <a:gd fmla="val 1593"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1"/>
          <p:cNvSpPr/>
          <p:nvPr/>
        </p:nvSpPr>
        <p:spPr>
          <a:xfrm>
            <a:off x="5486395" y="1239794"/>
            <a:ext cx="5029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500"/>
              <a:buFont typeface="Calibri"/>
              <a:buNone/>
            </a:pPr>
            <a:r>
              <a:rPr b="1" i="0" lang="en-US" sz="1800" u="none" cap="none" strike="noStrike">
                <a:solidFill>
                  <a:srgbClr val="9E4750"/>
                </a:solidFill>
                <a:latin typeface="Calibri"/>
                <a:ea typeface="Calibri"/>
                <a:cs typeface="Calibri"/>
                <a:sym typeface="Calibri"/>
              </a:rPr>
              <a:t>SERVER SIDE </a:t>
            </a:r>
            <a:endParaRPr b="0" i="0" sz="1800" u="none" cap="none" strike="noStrike">
              <a:solidFill>
                <a:schemeClr val="dk1"/>
              </a:solidFill>
              <a:latin typeface="Calibri"/>
              <a:ea typeface="Calibri"/>
              <a:cs typeface="Calibri"/>
              <a:sym typeface="Calibri"/>
            </a:endParaRPr>
          </a:p>
        </p:txBody>
      </p:sp>
      <p:sp>
        <p:nvSpPr>
          <p:cNvPr id="325" name="Google Shape;325;p11"/>
          <p:cNvSpPr/>
          <p:nvPr/>
        </p:nvSpPr>
        <p:spPr>
          <a:xfrm>
            <a:off x="5577840" y="2148840"/>
            <a:ext cx="2756916" cy="1417320"/>
          </a:xfrm>
          <a:prstGeom prst="roundRect">
            <a:avLst>
              <a:gd fmla="val 5806" name="adj"/>
            </a:avLst>
          </a:prstGeom>
          <a:solidFill>
            <a:srgbClr val="9E4750"/>
          </a:solidFill>
          <a:ln cap="flat" cmpd="sng" w="9525">
            <a:solidFill>
              <a:srgbClr val="9E475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1"/>
          <p:cNvSpPr/>
          <p:nvPr/>
        </p:nvSpPr>
        <p:spPr>
          <a:xfrm>
            <a:off x="5833872" y="2926080"/>
            <a:ext cx="2244852"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50"/>
              <a:buFont typeface="Cambria"/>
              <a:buNone/>
            </a:pPr>
            <a:r>
              <a:rPr b="1" i="0" lang="en-US" sz="1800" u="none" cap="none" strike="noStrike">
                <a:solidFill>
                  <a:srgbClr val="FFFFFF"/>
                </a:solidFill>
                <a:latin typeface="Cambria"/>
                <a:ea typeface="Cambria"/>
                <a:cs typeface="Cambria"/>
                <a:sym typeface="Cambria"/>
              </a:rPr>
              <a:t>Firestore</a:t>
            </a:r>
            <a:endParaRPr b="0" i="0" sz="1800" u="none" cap="none" strike="noStrike">
              <a:solidFill>
                <a:schemeClr val="dk1"/>
              </a:solidFill>
              <a:latin typeface="Calibri"/>
              <a:ea typeface="Calibri"/>
              <a:cs typeface="Calibri"/>
              <a:sym typeface="Calibri"/>
            </a:endParaRPr>
          </a:p>
        </p:txBody>
      </p:sp>
      <p:sp>
        <p:nvSpPr>
          <p:cNvPr id="327" name="Google Shape;327;p11"/>
          <p:cNvSpPr/>
          <p:nvPr/>
        </p:nvSpPr>
        <p:spPr>
          <a:xfrm>
            <a:off x="5833872" y="3246120"/>
            <a:ext cx="224485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E0E0"/>
              </a:buClr>
              <a:buSzPts val="1150"/>
              <a:buFont typeface="Calibri"/>
              <a:buNone/>
            </a:pPr>
            <a:r>
              <a:rPr b="0" i="0" lang="en-US" sz="1600" u="none" cap="none" strike="noStrike">
                <a:solidFill>
                  <a:srgbClr val="F0E0E0"/>
                </a:solidFill>
                <a:latin typeface="Calibri"/>
                <a:ea typeface="Calibri"/>
                <a:cs typeface="Calibri"/>
                <a:sym typeface="Calibri"/>
              </a:rPr>
              <a:t>Profiles, posts, anxiety logs</a:t>
            </a:r>
            <a:endParaRPr b="0" i="0" sz="1600" u="none" cap="none" strike="noStrike">
              <a:solidFill>
                <a:schemeClr val="dk1"/>
              </a:solidFill>
              <a:latin typeface="Calibri"/>
              <a:ea typeface="Calibri"/>
              <a:cs typeface="Calibri"/>
              <a:sym typeface="Calibri"/>
            </a:endParaRPr>
          </a:p>
        </p:txBody>
      </p:sp>
      <p:sp>
        <p:nvSpPr>
          <p:cNvPr id="328" name="Google Shape;328;p11"/>
          <p:cNvSpPr/>
          <p:nvPr/>
        </p:nvSpPr>
        <p:spPr>
          <a:xfrm>
            <a:off x="8563356" y="2148840"/>
            <a:ext cx="2756916" cy="1417320"/>
          </a:xfrm>
          <a:prstGeom prst="roundRect">
            <a:avLst>
              <a:gd fmla="val 5806" name="adj"/>
            </a:avLst>
          </a:prstGeom>
          <a:solidFill>
            <a:srgbClr val="3B6377"/>
          </a:solidFill>
          <a:ln cap="flat" cmpd="sng" w="9525">
            <a:solidFill>
              <a:srgbClr val="3B6377"/>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key_w.png" id="329" name="Google Shape;329;p11"/>
          <p:cNvPicPr preferRelativeResize="0"/>
          <p:nvPr/>
        </p:nvPicPr>
        <p:blipFill rotWithShape="1">
          <a:blip r:embed="rId6">
            <a:alphaModFix/>
          </a:blip>
          <a:srcRect b="0" l="0" r="0" t="0"/>
          <a:stretch/>
        </p:blipFill>
        <p:spPr>
          <a:xfrm>
            <a:off x="8819388" y="2377440"/>
            <a:ext cx="457200" cy="457200"/>
          </a:xfrm>
          <a:prstGeom prst="rect">
            <a:avLst/>
          </a:prstGeom>
          <a:noFill/>
          <a:ln>
            <a:noFill/>
          </a:ln>
        </p:spPr>
      </p:pic>
      <p:sp>
        <p:nvSpPr>
          <p:cNvPr id="330" name="Google Shape;330;p11"/>
          <p:cNvSpPr/>
          <p:nvPr/>
        </p:nvSpPr>
        <p:spPr>
          <a:xfrm>
            <a:off x="8819388" y="2926080"/>
            <a:ext cx="2244852"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50"/>
              <a:buFont typeface="Cambria"/>
              <a:buNone/>
            </a:pPr>
            <a:r>
              <a:rPr b="1" i="0" lang="en-US" sz="1800" u="none" cap="none" strike="noStrike">
                <a:solidFill>
                  <a:srgbClr val="FFFFFF"/>
                </a:solidFill>
                <a:latin typeface="Cambria"/>
                <a:ea typeface="Cambria"/>
                <a:cs typeface="Cambria"/>
                <a:sym typeface="Cambria"/>
              </a:rPr>
              <a:t>Authentication</a:t>
            </a:r>
            <a:endParaRPr b="0" i="0" sz="1800" u="none" cap="none" strike="noStrike">
              <a:solidFill>
                <a:schemeClr val="dk1"/>
              </a:solidFill>
              <a:latin typeface="Calibri"/>
              <a:ea typeface="Calibri"/>
              <a:cs typeface="Calibri"/>
              <a:sym typeface="Calibri"/>
            </a:endParaRPr>
          </a:p>
        </p:txBody>
      </p:sp>
      <p:sp>
        <p:nvSpPr>
          <p:cNvPr id="331" name="Google Shape;331;p11"/>
          <p:cNvSpPr/>
          <p:nvPr/>
        </p:nvSpPr>
        <p:spPr>
          <a:xfrm>
            <a:off x="8819388" y="3246120"/>
            <a:ext cx="224485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E0E0"/>
              </a:buClr>
              <a:buSzPts val="1150"/>
              <a:buFont typeface="Calibri"/>
              <a:buNone/>
            </a:pPr>
            <a:r>
              <a:rPr b="0" i="0" lang="en-US" sz="1600" u="none" cap="none" strike="noStrike">
                <a:solidFill>
                  <a:srgbClr val="F0E0E0"/>
                </a:solidFill>
                <a:latin typeface="Calibri"/>
                <a:ea typeface="Calibri"/>
                <a:cs typeface="Calibri"/>
                <a:sym typeface="Calibri"/>
              </a:rPr>
              <a:t>Patient &amp; therapist roles</a:t>
            </a:r>
            <a:endParaRPr b="0" i="0" sz="1600" u="none" cap="none" strike="noStrike">
              <a:solidFill>
                <a:schemeClr val="dk1"/>
              </a:solidFill>
              <a:latin typeface="Calibri"/>
              <a:ea typeface="Calibri"/>
              <a:cs typeface="Calibri"/>
              <a:sym typeface="Calibri"/>
            </a:endParaRPr>
          </a:p>
        </p:txBody>
      </p:sp>
      <p:sp>
        <p:nvSpPr>
          <p:cNvPr id="332" name="Google Shape;332;p11"/>
          <p:cNvSpPr/>
          <p:nvPr/>
        </p:nvSpPr>
        <p:spPr>
          <a:xfrm>
            <a:off x="5577840" y="3749040"/>
            <a:ext cx="2756916" cy="1417320"/>
          </a:xfrm>
          <a:prstGeom prst="roundRect">
            <a:avLst>
              <a:gd fmla="val 5806" name="adj"/>
            </a:avLst>
          </a:prstGeom>
          <a:solidFill>
            <a:srgbClr val="84621F"/>
          </a:solidFill>
          <a:ln cap="flat" cmpd="sng" w="9525">
            <a:solidFill>
              <a:srgbClr val="84621F"/>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ears_w.png" id="333" name="Google Shape;333;p11"/>
          <p:cNvPicPr preferRelativeResize="0"/>
          <p:nvPr/>
        </p:nvPicPr>
        <p:blipFill rotWithShape="1">
          <a:blip r:embed="rId7">
            <a:alphaModFix/>
          </a:blip>
          <a:srcRect b="0" l="0" r="0" t="0"/>
          <a:stretch/>
        </p:blipFill>
        <p:spPr>
          <a:xfrm>
            <a:off x="5833872" y="3977640"/>
            <a:ext cx="457200" cy="457200"/>
          </a:xfrm>
          <a:prstGeom prst="rect">
            <a:avLst/>
          </a:prstGeom>
          <a:noFill/>
          <a:ln>
            <a:noFill/>
          </a:ln>
        </p:spPr>
      </p:pic>
      <p:sp>
        <p:nvSpPr>
          <p:cNvPr id="334" name="Google Shape;334;p11"/>
          <p:cNvSpPr/>
          <p:nvPr/>
        </p:nvSpPr>
        <p:spPr>
          <a:xfrm>
            <a:off x="5833872" y="4526280"/>
            <a:ext cx="2244852"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50"/>
              <a:buFont typeface="Cambria"/>
              <a:buNone/>
            </a:pPr>
            <a:r>
              <a:rPr b="1" i="0" lang="en-US" sz="1800" u="none" cap="none" strike="noStrike">
                <a:solidFill>
                  <a:srgbClr val="FFFFFF"/>
                </a:solidFill>
                <a:latin typeface="Cambria"/>
                <a:ea typeface="Cambria"/>
                <a:cs typeface="Cambria"/>
                <a:sym typeface="Cambria"/>
              </a:rPr>
              <a:t>Cloud Functions</a:t>
            </a:r>
            <a:endParaRPr b="0" i="0" sz="1800" u="none" cap="none" strike="noStrike">
              <a:solidFill>
                <a:schemeClr val="dk1"/>
              </a:solidFill>
              <a:latin typeface="Calibri"/>
              <a:ea typeface="Calibri"/>
              <a:cs typeface="Calibri"/>
              <a:sym typeface="Calibri"/>
            </a:endParaRPr>
          </a:p>
        </p:txBody>
      </p:sp>
      <p:sp>
        <p:nvSpPr>
          <p:cNvPr id="335" name="Google Shape;335;p11"/>
          <p:cNvSpPr/>
          <p:nvPr/>
        </p:nvSpPr>
        <p:spPr>
          <a:xfrm>
            <a:off x="5833872" y="4846320"/>
            <a:ext cx="224485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E0E0"/>
              </a:buClr>
              <a:buSzPts val="1150"/>
              <a:buFont typeface="Calibri"/>
              <a:buNone/>
            </a:pPr>
            <a:r>
              <a:rPr b="0" i="0" lang="en-US" sz="1600" u="none" cap="none" strike="noStrike">
                <a:solidFill>
                  <a:srgbClr val="F0E0E0"/>
                </a:solidFill>
                <a:latin typeface="Calibri"/>
                <a:ea typeface="Calibri"/>
                <a:cs typeface="Calibri"/>
                <a:sym typeface="Calibri"/>
              </a:rPr>
              <a:t>Triggered server logic</a:t>
            </a:r>
            <a:endParaRPr b="0" i="0" sz="1600" u="none" cap="none" strike="noStrike">
              <a:solidFill>
                <a:schemeClr val="dk1"/>
              </a:solidFill>
              <a:latin typeface="Calibri"/>
              <a:ea typeface="Calibri"/>
              <a:cs typeface="Calibri"/>
              <a:sym typeface="Calibri"/>
            </a:endParaRPr>
          </a:p>
        </p:txBody>
      </p:sp>
      <p:sp>
        <p:nvSpPr>
          <p:cNvPr id="336" name="Google Shape;336;p11"/>
          <p:cNvSpPr/>
          <p:nvPr/>
        </p:nvSpPr>
        <p:spPr>
          <a:xfrm>
            <a:off x="8563356" y="3749040"/>
            <a:ext cx="2756916" cy="1417320"/>
          </a:xfrm>
          <a:prstGeom prst="roundRect">
            <a:avLst>
              <a:gd fmla="val 5806" name="adj"/>
            </a:avLst>
          </a:prstGeom>
          <a:solidFill>
            <a:srgbClr val="476642"/>
          </a:solidFill>
          <a:ln cap="flat" cmpd="sng" w="9525">
            <a:solidFill>
              <a:srgbClr val="476642"/>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paper_plane_w.png" id="337" name="Google Shape;337;p11"/>
          <p:cNvPicPr preferRelativeResize="0"/>
          <p:nvPr/>
        </p:nvPicPr>
        <p:blipFill rotWithShape="1">
          <a:blip r:embed="rId8">
            <a:alphaModFix/>
          </a:blip>
          <a:srcRect b="0" l="0" r="0" t="0"/>
          <a:stretch/>
        </p:blipFill>
        <p:spPr>
          <a:xfrm>
            <a:off x="8819388" y="3977640"/>
            <a:ext cx="457200" cy="457200"/>
          </a:xfrm>
          <a:prstGeom prst="rect">
            <a:avLst/>
          </a:prstGeom>
          <a:noFill/>
          <a:ln>
            <a:noFill/>
          </a:ln>
        </p:spPr>
      </p:pic>
      <p:sp>
        <p:nvSpPr>
          <p:cNvPr id="338" name="Google Shape;338;p11"/>
          <p:cNvSpPr/>
          <p:nvPr/>
        </p:nvSpPr>
        <p:spPr>
          <a:xfrm>
            <a:off x="8819388" y="4526280"/>
            <a:ext cx="2244852"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50"/>
              <a:buFont typeface="Cambria"/>
              <a:buNone/>
            </a:pPr>
            <a:r>
              <a:rPr b="1" i="0" lang="en-US" sz="1800" u="none" cap="none" strike="noStrike">
                <a:solidFill>
                  <a:srgbClr val="FFFFFF"/>
                </a:solidFill>
                <a:latin typeface="Cambria"/>
                <a:ea typeface="Cambria"/>
                <a:cs typeface="Cambria"/>
                <a:sym typeface="Cambria"/>
              </a:rPr>
              <a:t>Cloud Messaging</a:t>
            </a:r>
            <a:endParaRPr b="0" i="0" sz="1800" u="none" cap="none" strike="noStrike">
              <a:solidFill>
                <a:schemeClr val="dk1"/>
              </a:solidFill>
              <a:latin typeface="Calibri"/>
              <a:ea typeface="Calibri"/>
              <a:cs typeface="Calibri"/>
              <a:sym typeface="Calibri"/>
            </a:endParaRPr>
          </a:p>
        </p:txBody>
      </p:sp>
      <p:sp>
        <p:nvSpPr>
          <p:cNvPr id="339" name="Google Shape;339;p11"/>
          <p:cNvSpPr/>
          <p:nvPr/>
        </p:nvSpPr>
        <p:spPr>
          <a:xfrm>
            <a:off x="8819388" y="4846320"/>
            <a:ext cx="224485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E0E0"/>
              </a:buClr>
              <a:buSzPts val="1150"/>
              <a:buFont typeface="Calibri"/>
              <a:buNone/>
            </a:pPr>
            <a:r>
              <a:rPr b="0" i="0" lang="en-US" sz="1600" u="none" cap="none" strike="noStrike">
                <a:solidFill>
                  <a:srgbClr val="F0E0E0"/>
                </a:solidFill>
                <a:latin typeface="Calibri"/>
                <a:ea typeface="Calibri"/>
                <a:cs typeface="Calibri"/>
                <a:sym typeface="Calibri"/>
              </a:rPr>
              <a:t>Push notifications</a:t>
            </a:r>
            <a:endParaRPr b="0" i="0" sz="1600" u="none" cap="none" strike="noStrike">
              <a:solidFill>
                <a:schemeClr val="dk1"/>
              </a:solidFill>
              <a:latin typeface="Calibri"/>
              <a:ea typeface="Calibri"/>
              <a:cs typeface="Calibri"/>
              <a:sym typeface="Calibri"/>
            </a:endParaRPr>
          </a:p>
        </p:txBody>
      </p:sp>
      <p:sp>
        <p:nvSpPr>
          <p:cNvPr id="340" name="Google Shape;340;p11"/>
          <p:cNvSpPr/>
          <p:nvPr/>
        </p:nvSpPr>
        <p:spPr>
          <a:xfrm>
            <a:off x="5577840" y="5440680"/>
            <a:ext cx="5742432" cy="822960"/>
          </a:xfrm>
          <a:prstGeom prst="roundRect">
            <a:avLst>
              <a:gd fmla="val 10000" name="adj"/>
            </a:avLst>
          </a:prstGeom>
          <a:solidFill>
            <a:srgbClr val="CC828A"/>
          </a:solidFill>
          <a:ln cap="flat" cmpd="sng" w="9525">
            <a:solidFill>
              <a:srgbClr val="CC828A"/>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erver_i.png" id="341" name="Google Shape;341;p11"/>
          <p:cNvPicPr preferRelativeResize="0"/>
          <p:nvPr/>
        </p:nvPicPr>
        <p:blipFill rotWithShape="1">
          <a:blip r:embed="rId9">
            <a:alphaModFix/>
          </a:blip>
          <a:srcRect b="0" l="0" r="0" t="0"/>
          <a:stretch/>
        </p:blipFill>
        <p:spPr>
          <a:xfrm>
            <a:off x="5806440" y="5641848"/>
            <a:ext cx="420624" cy="420624"/>
          </a:xfrm>
          <a:prstGeom prst="rect">
            <a:avLst/>
          </a:prstGeom>
          <a:noFill/>
          <a:ln>
            <a:noFill/>
          </a:ln>
        </p:spPr>
      </p:pic>
      <p:sp>
        <p:nvSpPr>
          <p:cNvPr id="342" name="Google Shape;342;p11"/>
          <p:cNvSpPr/>
          <p:nvPr/>
        </p:nvSpPr>
        <p:spPr>
          <a:xfrm>
            <a:off x="6400800" y="5559552"/>
            <a:ext cx="4828032"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50"/>
              <a:buFont typeface="Cambria"/>
              <a:buNone/>
            </a:pPr>
            <a:r>
              <a:rPr b="1" i="0" lang="en-US" sz="1800" u="none" cap="none" strike="noStrike">
                <a:solidFill>
                  <a:srgbClr val="FFFFFF"/>
                </a:solidFill>
                <a:latin typeface="Cambria"/>
                <a:ea typeface="Cambria"/>
                <a:cs typeface="Cambria"/>
                <a:sym typeface="Cambria"/>
              </a:rPr>
              <a:t>Cloud Storage</a:t>
            </a:r>
            <a:endParaRPr b="0" i="0" sz="1800" u="none" cap="none" strike="noStrike">
              <a:solidFill>
                <a:schemeClr val="dk1"/>
              </a:solidFill>
              <a:latin typeface="Calibri"/>
              <a:ea typeface="Calibri"/>
              <a:cs typeface="Calibri"/>
              <a:sym typeface="Calibri"/>
            </a:endParaRPr>
          </a:p>
        </p:txBody>
      </p:sp>
      <p:sp>
        <p:nvSpPr>
          <p:cNvPr id="343" name="Google Shape;343;p11"/>
          <p:cNvSpPr/>
          <p:nvPr/>
        </p:nvSpPr>
        <p:spPr>
          <a:xfrm>
            <a:off x="6400800" y="5897880"/>
            <a:ext cx="482803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E4E5"/>
              </a:buClr>
              <a:buSzPts val="1150"/>
              <a:buFont typeface="Calibri"/>
              <a:buNone/>
            </a:pPr>
            <a:r>
              <a:rPr b="0" i="0" lang="en-US" sz="1600" u="none" cap="none" strike="noStrike">
                <a:solidFill>
                  <a:srgbClr val="F5E4E5"/>
                </a:solidFill>
                <a:latin typeface="Calibri"/>
                <a:ea typeface="Calibri"/>
                <a:cs typeface="Calibri"/>
                <a:sym typeface="Calibri"/>
              </a:rPr>
              <a:t>Voice recordings &amp; shared media</a:t>
            </a:r>
            <a:endParaRPr b="0" i="0" sz="1600" u="none" cap="none" strike="noStrike">
              <a:solidFill>
                <a:schemeClr val="dk1"/>
              </a:solidFill>
              <a:latin typeface="Calibri"/>
              <a:ea typeface="Calibri"/>
              <a:cs typeface="Calibri"/>
              <a:sym typeface="Calibri"/>
            </a:endParaRPr>
          </a:p>
        </p:txBody>
      </p:sp>
      <p:sp>
        <p:nvSpPr>
          <p:cNvPr id="344" name="Google Shape;344;p11"/>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pic>
        <p:nvPicPr>
          <p:cNvPr descr="Firebase Logo Icon 72678006 PNG" id="345" name="Google Shape;345;p11"/>
          <p:cNvPicPr preferRelativeResize="0"/>
          <p:nvPr/>
        </p:nvPicPr>
        <p:blipFill rotWithShape="1">
          <a:blip r:embed="rId10">
            <a:alphaModFix/>
          </a:blip>
          <a:srcRect b="0" l="0" r="0" t="0"/>
          <a:stretch/>
        </p:blipFill>
        <p:spPr>
          <a:xfrm>
            <a:off x="5732762" y="2167128"/>
            <a:ext cx="763419" cy="763419"/>
          </a:xfrm>
          <a:prstGeom prst="rect">
            <a:avLst/>
          </a:prstGeom>
          <a:noFill/>
          <a:ln>
            <a:noFill/>
          </a:ln>
        </p:spPr>
      </p:pic>
      <p:sp>
        <p:nvSpPr>
          <p:cNvPr id="346" name="Google Shape;346;p11"/>
          <p:cNvSpPr/>
          <p:nvPr/>
        </p:nvSpPr>
        <p:spPr>
          <a:xfrm>
            <a:off x="6970034" y="1402347"/>
            <a:ext cx="2885944" cy="520000"/>
          </a:xfrm>
          <a:prstGeom prst="roundRect">
            <a:avLst>
              <a:gd fmla="val 900" name="adj"/>
            </a:avLst>
          </a:prstGeom>
          <a:solidFill>
            <a:srgbClr val="2A1F1F"/>
          </a:solidFill>
          <a:ln cap="flat" cmpd="sng" w="9525">
            <a:solidFill>
              <a:srgbClr val="2A1F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s/nextjs.png" id="347" name="Google Shape;347;p11"/>
          <p:cNvPicPr preferRelativeResize="0"/>
          <p:nvPr/>
        </p:nvPicPr>
        <p:blipFill rotWithShape="1">
          <a:blip r:embed="rId11">
            <a:alphaModFix/>
          </a:blip>
          <a:srcRect b="0" l="0" r="0" t="0"/>
          <a:stretch/>
        </p:blipFill>
        <p:spPr>
          <a:xfrm>
            <a:off x="7121514" y="1536919"/>
            <a:ext cx="260000" cy="260000"/>
          </a:xfrm>
          <a:prstGeom prst="rect">
            <a:avLst/>
          </a:prstGeom>
          <a:noFill/>
          <a:ln>
            <a:noFill/>
          </a:ln>
        </p:spPr>
      </p:pic>
      <p:pic>
        <p:nvPicPr>
          <p:cNvPr descr="logos/express.png" id="348" name="Google Shape;348;p11"/>
          <p:cNvPicPr preferRelativeResize="0"/>
          <p:nvPr/>
        </p:nvPicPr>
        <p:blipFill rotWithShape="1">
          <a:blip r:embed="rId12">
            <a:alphaModFix/>
          </a:blip>
          <a:srcRect b="0" l="0" r="0" t="0"/>
          <a:stretch/>
        </p:blipFill>
        <p:spPr>
          <a:xfrm>
            <a:off x="7534978" y="1522704"/>
            <a:ext cx="260000" cy="260000"/>
          </a:xfrm>
          <a:prstGeom prst="rect">
            <a:avLst/>
          </a:prstGeom>
          <a:noFill/>
          <a:ln>
            <a:noFill/>
          </a:ln>
        </p:spPr>
      </p:pic>
      <p:sp>
        <p:nvSpPr>
          <p:cNvPr id="349" name="Google Shape;349;p11"/>
          <p:cNvSpPr/>
          <p:nvPr/>
        </p:nvSpPr>
        <p:spPr>
          <a:xfrm>
            <a:off x="7970034" y="1495146"/>
            <a:ext cx="1669559" cy="31341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Next.js + Express</a:t>
            </a:r>
            <a:endParaRPr b="0" i="0" sz="1600" u="none" cap="none" strike="noStrike">
              <a:solidFill>
                <a:schemeClr val="dk1"/>
              </a:solidFill>
              <a:latin typeface="Calibri"/>
              <a:ea typeface="Calibri"/>
              <a:cs typeface="Calibri"/>
              <a:sym typeface="Calibri"/>
            </a:endParaRPr>
          </a:p>
        </p:txBody>
      </p:sp>
      <p:sp>
        <p:nvSpPr>
          <p:cNvPr id="350" name="Google Shape;350;p11"/>
          <p:cNvSpPr/>
          <p:nvPr/>
        </p:nvSpPr>
        <p:spPr>
          <a:xfrm>
            <a:off x="5486400" y="1937024"/>
            <a:ext cx="5833872" cy="24000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Clr>
                <a:srgbClr val="D6B355"/>
              </a:buClr>
              <a:buSzPts val="1200"/>
              <a:buFont typeface="Calibri"/>
              <a:buNone/>
            </a:pPr>
            <a:r>
              <a:rPr b="1" i="1" lang="en-US" sz="1200" u="none" cap="none" strike="noStrike">
                <a:solidFill>
                  <a:srgbClr val="D6B355"/>
                </a:solidFill>
                <a:latin typeface="Calibri"/>
                <a:ea typeface="Calibri"/>
                <a:cs typeface="Calibri"/>
                <a:sym typeface="Calibri"/>
              </a:rPr>
              <a:t>Firebase Admin SDK</a:t>
            </a:r>
            <a:endParaRPr b="0" i="0" sz="1200" u="none" cap="none" strike="noStrike">
              <a:solidFill>
                <a:schemeClr val="dk1"/>
              </a:solidFill>
              <a:latin typeface="Calibri"/>
              <a:ea typeface="Calibri"/>
              <a:cs typeface="Calibri"/>
              <a:sym typeface="Calibri"/>
            </a:endParaRPr>
          </a:p>
        </p:txBody>
      </p:sp>
      <p:cxnSp>
        <p:nvCxnSpPr>
          <p:cNvPr id="351" name="Google Shape;351;p11"/>
          <p:cNvCxnSpPr/>
          <p:nvPr/>
        </p:nvCxnSpPr>
        <p:spPr>
          <a:xfrm>
            <a:off x="7381514" y="1947128"/>
            <a:ext cx="0" cy="220000"/>
          </a:xfrm>
          <a:prstGeom prst="straightConnector1">
            <a:avLst/>
          </a:prstGeom>
          <a:noFill/>
          <a:ln cap="flat" cmpd="sng" w="22225">
            <a:solidFill>
              <a:srgbClr val="D6B355"/>
            </a:solidFill>
            <a:prstDash val="solid"/>
            <a:round/>
            <a:headEnd len="sm" w="sm" type="none"/>
            <a:tailEnd len="med" w="med" type="triangle"/>
          </a:ln>
        </p:spPr>
      </p:cxnSp>
      <p:cxnSp>
        <p:nvCxnSpPr>
          <p:cNvPr id="352" name="Google Shape;352;p11"/>
          <p:cNvCxnSpPr/>
          <p:nvPr/>
        </p:nvCxnSpPr>
        <p:spPr>
          <a:xfrm>
            <a:off x="9425535" y="1922347"/>
            <a:ext cx="0" cy="220000"/>
          </a:xfrm>
          <a:prstGeom prst="straightConnector1">
            <a:avLst/>
          </a:prstGeom>
          <a:noFill/>
          <a:ln cap="flat" cmpd="sng" w="22225">
            <a:solidFill>
              <a:srgbClr val="D6B355"/>
            </a:solidFill>
            <a:prstDash val="solid"/>
            <a:round/>
            <a:headEnd len="sm" w="sm" type="none"/>
            <a:tailEnd len="med" w="med" type="triangle"/>
          </a:ln>
        </p:spPr>
      </p:cxnSp>
      <p:cxnSp>
        <p:nvCxnSpPr>
          <p:cNvPr id="353" name="Google Shape;353;p11"/>
          <p:cNvCxnSpPr/>
          <p:nvPr/>
        </p:nvCxnSpPr>
        <p:spPr>
          <a:xfrm>
            <a:off x="6864748" y="3573420"/>
            <a:ext cx="0" cy="220000"/>
          </a:xfrm>
          <a:prstGeom prst="straightConnector1">
            <a:avLst/>
          </a:prstGeom>
          <a:noFill/>
          <a:ln cap="flat" cmpd="sng" w="19050">
            <a:solidFill>
              <a:srgbClr val="9E4750"/>
            </a:solidFill>
            <a:prstDash val="solid"/>
            <a:round/>
            <a:headEnd len="sm" w="sm" type="none"/>
            <a:tailEnd len="med" w="med" type="triangle"/>
          </a:ln>
        </p:spPr>
      </p:cxnSp>
      <p:sp>
        <p:nvSpPr>
          <p:cNvPr id="354" name="Google Shape;354;p11"/>
          <p:cNvSpPr/>
          <p:nvPr/>
        </p:nvSpPr>
        <p:spPr>
          <a:xfrm>
            <a:off x="6904748" y="3598420"/>
            <a:ext cx="900000" cy="2200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9E4750"/>
              </a:buClr>
              <a:buSzPts val="1100"/>
              <a:buFont typeface="Calibri"/>
              <a:buNone/>
            </a:pPr>
            <a:r>
              <a:rPr b="1" i="1" lang="en-US" sz="1100" u="none" cap="none" strike="noStrike">
                <a:solidFill>
                  <a:srgbClr val="9E4750"/>
                </a:solidFill>
                <a:latin typeface="Calibri"/>
                <a:ea typeface="Calibri"/>
                <a:cs typeface="Calibri"/>
                <a:sym typeface="Calibri"/>
              </a:rPr>
              <a:t>on write</a:t>
            </a:r>
            <a:endParaRPr b="0" i="0" sz="1100" u="none" cap="none" strike="noStrike">
              <a:solidFill>
                <a:schemeClr val="dk1"/>
              </a:solidFill>
              <a:latin typeface="Calibri"/>
              <a:ea typeface="Calibri"/>
              <a:cs typeface="Calibri"/>
              <a:sym typeface="Calibri"/>
            </a:endParaRPr>
          </a:p>
        </p:txBody>
      </p:sp>
      <p:cxnSp>
        <p:nvCxnSpPr>
          <p:cNvPr id="355" name="Google Shape;355;p11"/>
          <p:cNvCxnSpPr/>
          <p:nvPr/>
        </p:nvCxnSpPr>
        <p:spPr>
          <a:xfrm>
            <a:off x="8309056" y="4440000"/>
            <a:ext cx="280000" cy="0"/>
          </a:xfrm>
          <a:prstGeom prst="straightConnector1">
            <a:avLst/>
          </a:prstGeom>
          <a:noFill/>
          <a:ln cap="flat" cmpd="sng" w="19050">
            <a:solidFill>
              <a:srgbClr val="476642"/>
            </a:solidFill>
            <a:prstDash val="solid"/>
            <a:round/>
            <a:headEnd len="sm" w="sm" type="none"/>
            <a:tailEnd len="med" w="med" type="triangle"/>
          </a:ln>
        </p:spPr>
      </p:cxnSp>
      <p:cxnSp>
        <p:nvCxnSpPr>
          <p:cNvPr id="356" name="Google Shape;356;p11"/>
          <p:cNvCxnSpPr/>
          <p:nvPr/>
        </p:nvCxnSpPr>
        <p:spPr>
          <a:xfrm rot="10800000">
            <a:off x="4709160" y="4056690"/>
            <a:ext cx="822960" cy="0"/>
          </a:xfrm>
          <a:prstGeom prst="straightConnector1">
            <a:avLst/>
          </a:prstGeom>
          <a:noFill/>
          <a:ln cap="flat" cmpd="sng" w="19050">
            <a:solidFill>
              <a:srgbClr val="9E4750"/>
            </a:solidFill>
            <a:prstDash val="solid"/>
            <a:round/>
            <a:headEnd len="sm" w="sm" type="none"/>
            <a:tailEnd len="med" w="med" type="triangle"/>
          </a:ln>
        </p:spPr>
      </p:cxnSp>
      <p:sp>
        <p:nvSpPr>
          <p:cNvPr id="357" name="Google Shape;357;p11"/>
          <p:cNvSpPr/>
          <p:nvPr/>
        </p:nvSpPr>
        <p:spPr>
          <a:xfrm>
            <a:off x="4799160" y="3736690"/>
            <a:ext cx="900000" cy="2600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9E4750"/>
              </a:buClr>
              <a:buSzPts val="1150"/>
              <a:buFont typeface="Calibri"/>
              <a:buNone/>
            </a:pPr>
            <a:r>
              <a:rPr b="1" i="0" lang="en-US" sz="1150" u="none" cap="none" strike="noStrike">
                <a:solidFill>
                  <a:srgbClr val="9E4750"/>
                </a:solidFill>
                <a:latin typeface="Calibri"/>
                <a:ea typeface="Calibri"/>
                <a:cs typeface="Calibri"/>
                <a:sym typeface="Calibri"/>
              </a:rPr>
              <a:t>REST API</a:t>
            </a:r>
            <a:endParaRPr b="0" i="0" sz="1150" u="none" cap="none" strike="noStrike">
              <a:solidFill>
                <a:schemeClr val="dk1"/>
              </a:solidFill>
              <a:latin typeface="Calibri"/>
              <a:ea typeface="Calibri"/>
              <a:cs typeface="Calibri"/>
              <a:sym typeface="Calibri"/>
            </a:endParaRPr>
          </a:p>
        </p:txBody>
      </p:sp>
      <p:cxnSp>
        <p:nvCxnSpPr>
          <p:cNvPr id="358" name="Google Shape;358;p11"/>
          <p:cNvCxnSpPr/>
          <p:nvPr/>
        </p:nvCxnSpPr>
        <p:spPr>
          <a:xfrm flipH="1" rot="10800000">
            <a:off x="4709160" y="4196690"/>
            <a:ext cx="822960" cy="480000"/>
          </a:xfrm>
          <a:prstGeom prst="straightConnector1">
            <a:avLst/>
          </a:prstGeom>
          <a:noFill/>
          <a:ln cap="flat" cmpd="sng" w="15875">
            <a:solidFill>
              <a:srgbClr val="9E4750"/>
            </a:solidFill>
            <a:prstDash val="dash"/>
            <a:round/>
            <a:headEnd len="sm" w="sm" type="none"/>
            <a:tailEnd len="med" w="med" type="triangle"/>
          </a:ln>
        </p:spPr>
      </p:cxnSp>
      <p:sp>
        <p:nvSpPr>
          <p:cNvPr id="359" name="Google Shape;359;p11"/>
          <p:cNvSpPr/>
          <p:nvPr/>
        </p:nvSpPr>
        <p:spPr>
          <a:xfrm>
            <a:off x="4799160" y="4686690"/>
            <a:ext cx="1000000" cy="2500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9E4750"/>
              </a:buClr>
              <a:buSzPts val="1100"/>
              <a:buFont typeface="Calibri"/>
              <a:buNone/>
            </a:pPr>
            <a:r>
              <a:rPr b="1" i="1" lang="en-US" sz="1100" u="none" cap="none" strike="noStrike">
                <a:solidFill>
                  <a:srgbClr val="9E4750"/>
                </a:solidFill>
                <a:latin typeface="Calibri"/>
                <a:ea typeface="Calibri"/>
                <a:cs typeface="Calibri"/>
                <a:sym typeface="Calibri"/>
              </a:rPr>
              <a:t>REST API</a:t>
            </a:r>
            <a:endParaRPr b="0" i="0" sz="1100" u="none" cap="none" strike="noStrike">
              <a:solidFill>
                <a:schemeClr val="dk1"/>
              </a:solidFill>
              <a:latin typeface="Calibri"/>
              <a:ea typeface="Calibri"/>
              <a:cs typeface="Calibri"/>
              <a:sym typeface="Calibri"/>
            </a:endParaRPr>
          </a:p>
        </p:txBody>
      </p:sp>
      <p:pic>
        <p:nvPicPr>
          <p:cNvPr id="360" name="Google Shape;360;p11"/>
          <p:cNvPicPr preferRelativeResize="0"/>
          <p:nvPr/>
        </p:nvPicPr>
        <p:blipFill rotWithShape="1">
          <a:blip r:embed="rId13">
            <a:alphaModFix/>
          </a:blip>
          <a:srcRect b="8675" l="36686" r="35494" t="24644"/>
          <a:stretch/>
        </p:blipFill>
        <p:spPr>
          <a:xfrm>
            <a:off x="2269885" y="1884498"/>
            <a:ext cx="943895" cy="112898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365" name="Shape 365"/>
        <p:cNvGrpSpPr/>
        <p:nvPr/>
      </p:nvGrpSpPr>
      <p:grpSpPr>
        <a:xfrm>
          <a:off x="0" y="0"/>
          <a:ext cx="0" cy="0"/>
          <a:chOff x="0" y="0"/>
          <a:chExt cx="0" cy="0"/>
        </a:xfrm>
      </p:grpSpPr>
      <p:sp>
        <p:nvSpPr>
          <p:cNvPr id="366" name="Google Shape;366;p12"/>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SYSTEM DESIGN</a:t>
            </a:r>
            <a:endParaRPr b="0" i="0" sz="1700" u="none" cap="none" strike="noStrike">
              <a:solidFill>
                <a:schemeClr val="dk1"/>
              </a:solidFill>
              <a:latin typeface="Calibri"/>
              <a:ea typeface="Calibri"/>
              <a:cs typeface="Calibri"/>
              <a:sym typeface="Calibri"/>
            </a:endParaRPr>
          </a:p>
        </p:txBody>
      </p:sp>
      <p:sp>
        <p:nvSpPr>
          <p:cNvPr id="367" name="Google Shape;367;p12"/>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Who uses the system, and how</a:t>
            </a:r>
            <a:endParaRPr b="0" i="0" sz="3200" u="none" cap="none" strike="noStrike">
              <a:solidFill>
                <a:schemeClr val="dk1"/>
              </a:solidFill>
              <a:latin typeface="Calibri"/>
              <a:ea typeface="Calibri"/>
              <a:cs typeface="Calibri"/>
              <a:sym typeface="Calibri"/>
            </a:endParaRPr>
          </a:p>
        </p:txBody>
      </p:sp>
      <p:sp>
        <p:nvSpPr>
          <p:cNvPr id="368" name="Google Shape;368;p12"/>
          <p:cNvSpPr/>
          <p:nvPr/>
        </p:nvSpPr>
        <p:spPr>
          <a:xfrm>
            <a:off x="548640" y="1540520"/>
            <a:ext cx="2679192" cy="4434840"/>
          </a:xfrm>
          <a:prstGeom prst="roundRect">
            <a:avLst>
              <a:gd fmla="val 3072"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2"/>
          <p:cNvSpPr/>
          <p:nvPr/>
        </p:nvSpPr>
        <p:spPr>
          <a:xfrm>
            <a:off x="1545336" y="1847088"/>
            <a:ext cx="685800" cy="685800"/>
          </a:xfrm>
          <a:prstGeom prst="ellipse">
            <a:avLst/>
          </a:prstGeom>
          <a:solidFill>
            <a:srgbClr val="F5DC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_i.png" id="370" name="Google Shape;370;p12"/>
          <p:cNvPicPr preferRelativeResize="0"/>
          <p:nvPr/>
        </p:nvPicPr>
        <p:blipFill rotWithShape="1">
          <a:blip r:embed="rId3">
            <a:alphaModFix/>
          </a:blip>
          <a:srcRect b="0" l="0" r="0" t="0"/>
          <a:stretch/>
        </p:blipFill>
        <p:spPr>
          <a:xfrm>
            <a:off x="1730502" y="2032254"/>
            <a:ext cx="315468" cy="315468"/>
          </a:xfrm>
          <a:prstGeom prst="rect">
            <a:avLst/>
          </a:prstGeom>
          <a:noFill/>
          <a:ln>
            <a:noFill/>
          </a:ln>
        </p:spPr>
      </p:pic>
      <p:sp>
        <p:nvSpPr>
          <p:cNvPr id="371" name="Google Shape;371;p12"/>
          <p:cNvSpPr/>
          <p:nvPr/>
        </p:nvSpPr>
        <p:spPr>
          <a:xfrm>
            <a:off x="713232" y="2697480"/>
            <a:ext cx="2350008"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1550"/>
              <a:buFont typeface="Cambria"/>
              <a:buNone/>
            </a:pPr>
            <a:r>
              <a:rPr b="1" i="0" lang="en-US" sz="1800" u="none" cap="none" strike="noStrike">
                <a:solidFill>
                  <a:srgbClr val="2A1F1F"/>
                </a:solidFill>
                <a:latin typeface="Cambria"/>
                <a:ea typeface="Cambria"/>
                <a:cs typeface="Cambria"/>
                <a:sym typeface="Cambria"/>
              </a:rPr>
              <a:t>Patient</a:t>
            </a:r>
            <a:endParaRPr b="0" i="0" sz="1800" u="none" cap="none" strike="noStrike">
              <a:solidFill>
                <a:schemeClr val="dk1"/>
              </a:solidFill>
              <a:latin typeface="Calibri"/>
              <a:ea typeface="Calibri"/>
              <a:cs typeface="Calibri"/>
              <a:sym typeface="Calibri"/>
            </a:endParaRPr>
          </a:p>
        </p:txBody>
      </p:sp>
      <p:sp>
        <p:nvSpPr>
          <p:cNvPr id="372" name="Google Shape;372;p12"/>
          <p:cNvSpPr/>
          <p:nvPr/>
        </p:nvSpPr>
        <p:spPr>
          <a:xfrm>
            <a:off x="786384" y="3113500"/>
            <a:ext cx="2203704" cy="2987500"/>
          </a:xfrm>
          <a:prstGeom prst="rect">
            <a:avLst/>
          </a:prstGeom>
          <a:noFill/>
          <a:ln>
            <a:noFill/>
          </a:ln>
        </p:spPr>
        <p:txBody>
          <a:bodyPr anchorCtr="0" anchor="t" bIns="0" lIns="0" spcFirstLastPara="1" rIns="0" wrap="square" tIns="0">
            <a:noAutofit/>
          </a:bodyPr>
          <a:lstStyle/>
          <a:p>
            <a:pPr indent="-152400" lvl="0" marL="152400" marR="0" rtl="0" algn="l">
              <a:lnSpc>
                <a:spcPct val="122000"/>
              </a:lnSpc>
              <a:spcBef>
                <a:spcPts val="0"/>
              </a:spcBef>
              <a:spcAft>
                <a:spcPts val="0"/>
              </a:spcAft>
              <a:buClr>
                <a:srgbClr val="453636"/>
              </a:buClr>
              <a:buSzPts val="1250"/>
              <a:buFont typeface="Calibri"/>
              <a:buChar char="●"/>
            </a:pPr>
            <a:r>
              <a:rPr b="0" i="0" lang="en-US" sz="1650" u="none" cap="none" strike="noStrike">
                <a:solidFill>
                  <a:srgbClr val="453636"/>
                </a:solidFill>
                <a:latin typeface="Calibri"/>
                <a:ea typeface="Calibri"/>
                <a:cs typeface="Calibri"/>
                <a:sym typeface="Calibri"/>
              </a:rPr>
              <a:t>Views anxiety alerts and uses calming actions</a:t>
            </a:r>
            <a:endParaRPr b="0" i="0" sz="1650" u="none" cap="none" strike="noStrike">
              <a:solidFill>
                <a:schemeClr val="dk1"/>
              </a:solidFill>
              <a:latin typeface="Calibri"/>
              <a:ea typeface="Calibri"/>
              <a:cs typeface="Calibri"/>
              <a:sym typeface="Calibri"/>
            </a:endParaRPr>
          </a:p>
          <a:p>
            <a:pPr indent="-152400" lvl="0" marL="152400" marR="0" rtl="0" algn="l">
              <a:lnSpc>
                <a:spcPct val="122000"/>
              </a:lnSpc>
              <a:spcBef>
                <a:spcPts val="1000"/>
              </a:spcBef>
              <a:spcAft>
                <a:spcPts val="0"/>
              </a:spcAft>
              <a:buClr>
                <a:srgbClr val="453636"/>
              </a:buClr>
              <a:buSzPts val="1250"/>
              <a:buFont typeface="Calibri"/>
              <a:buChar char="●"/>
            </a:pPr>
            <a:r>
              <a:rPr b="0" i="0" lang="en-US" sz="1650" u="none" cap="none" strike="noStrike">
                <a:solidFill>
                  <a:srgbClr val="453636"/>
                </a:solidFill>
                <a:latin typeface="Calibri"/>
                <a:ea typeface="Calibri"/>
                <a:cs typeface="Calibri"/>
                <a:sym typeface="Calibri"/>
              </a:rPr>
              <a:t>Documents episodes; can share with therapist</a:t>
            </a:r>
            <a:endParaRPr b="0" i="0" sz="1650" u="none" cap="none" strike="noStrike">
              <a:solidFill>
                <a:schemeClr val="dk1"/>
              </a:solidFill>
              <a:latin typeface="Calibri"/>
              <a:ea typeface="Calibri"/>
              <a:cs typeface="Calibri"/>
              <a:sym typeface="Calibri"/>
            </a:endParaRPr>
          </a:p>
          <a:p>
            <a:pPr indent="-152400" lvl="0" marL="152400" marR="0" rtl="0" algn="l">
              <a:lnSpc>
                <a:spcPct val="122000"/>
              </a:lnSpc>
              <a:spcBef>
                <a:spcPts val="1000"/>
              </a:spcBef>
              <a:spcAft>
                <a:spcPts val="0"/>
              </a:spcAft>
              <a:buClr>
                <a:srgbClr val="453636"/>
              </a:buClr>
              <a:buSzPts val="1250"/>
              <a:buFont typeface="Calibri"/>
              <a:buChar char="●"/>
            </a:pPr>
            <a:r>
              <a:rPr b="0" i="0" lang="en-US" sz="1650" u="none" cap="none" strike="noStrike">
                <a:solidFill>
                  <a:srgbClr val="453636"/>
                </a:solidFill>
                <a:latin typeface="Calibri"/>
                <a:ea typeface="Calibri"/>
                <a:cs typeface="Calibri"/>
                <a:sym typeface="Calibri"/>
              </a:rPr>
              <a:t>Joins the community: posts, reports content</a:t>
            </a:r>
            <a:endParaRPr b="0" i="0" sz="1650" u="none" cap="none" strike="noStrike">
              <a:solidFill>
                <a:schemeClr val="dk1"/>
              </a:solidFill>
              <a:latin typeface="Calibri"/>
              <a:ea typeface="Calibri"/>
              <a:cs typeface="Calibri"/>
              <a:sym typeface="Calibri"/>
            </a:endParaRPr>
          </a:p>
        </p:txBody>
      </p:sp>
      <p:sp>
        <p:nvSpPr>
          <p:cNvPr id="373" name="Google Shape;373;p12"/>
          <p:cNvSpPr/>
          <p:nvPr/>
        </p:nvSpPr>
        <p:spPr>
          <a:xfrm>
            <a:off x="3392424" y="1554480"/>
            <a:ext cx="2679192" cy="4434840"/>
          </a:xfrm>
          <a:prstGeom prst="roundRect">
            <a:avLst>
              <a:gd fmla="val 3072"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2"/>
          <p:cNvSpPr/>
          <p:nvPr/>
        </p:nvSpPr>
        <p:spPr>
          <a:xfrm>
            <a:off x="4389120" y="1847088"/>
            <a:ext cx="685800" cy="685800"/>
          </a:xfrm>
          <a:prstGeom prst="ellipse">
            <a:avLst/>
          </a:prstGeom>
          <a:solidFill>
            <a:srgbClr val="DCE9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microchip_i.png" id="375" name="Google Shape;375;p12"/>
          <p:cNvPicPr preferRelativeResize="0"/>
          <p:nvPr/>
        </p:nvPicPr>
        <p:blipFill rotWithShape="1">
          <a:blip r:embed="rId4">
            <a:alphaModFix/>
          </a:blip>
          <a:srcRect b="0" l="0" r="0" t="0"/>
          <a:stretch/>
        </p:blipFill>
        <p:spPr>
          <a:xfrm>
            <a:off x="4574286" y="2032254"/>
            <a:ext cx="315468" cy="315468"/>
          </a:xfrm>
          <a:prstGeom prst="rect">
            <a:avLst/>
          </a:prstGeom>
          <a:noFill/>
          <a:ln>
            <a:noFill/>
          </a:ln>
        </p:spPr>
      </p:pic>
      <p:sp>
        <p:nvSpPr>
          <p:cNvPr id="376" name="Google Shape;376;p12"/>
          <p:cNvSpPr/>
          <p:nvPr/>
        </p:nvSpPr>
        <p:spPr>
          <a:xfrm>
            <a:off x="3557016" y="2697480"/>
            <a:ext cx="2350008"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1550"/>
              <a:buFont typeface="Cambria"/>
              <a:buNone/>
            </a:pPr>
            <a:r>
              <a:rPr b="1" i="0" lang="en-US" sz="1800" u="none" cap="none" strike="noStrike">
                <a:solidFill>
                  <a:srgbClr val="2A1F1F"/>
                </a:solidFill>
                <a:latin typeface="Cambria"/>
                <a:ea typeface="Cambria"/>
                <a:cs typeface="Cambria"/>
                <a:sym typeface="Cambria"/>
              </a:rPr>
              <a:t>Smart jewelry</a:t>
            </a:r>
            <a:endParaRPr b="0" i="0" sz="1800" u="none" cap="none" strike="noStrike">
              <a:solidFill>
                <a:schemeClr val="dk1"/>
              </a:solidFill>
              <a:latin typeface="Calibri"/>
              <a:ea typeface="Calibri"/>
              <a:cs typeface="Calibri"/>
              <a:sym typeface="Calibri"/>
            </a:endParaRPr>
          </a:p>
        </p:txBody>
      </p:sp>
      <p:sp>
        <p:nvSpPr>
          <p:cNvPr id="377" name="Google Shape;377;p12"/>
          <p:cNvSpPr/>
          <p:nvPr/>
        </p:nvSpPr>
        <p:spPr>
          <a:xfrm>
            <a:off x="3630168" y="3137230"/>
            <a:ext cx="2203704" cy="2514600"/>
          </a:xfrm>
          <a:prstGeom prst="rect">
            <a:avLst/>
          </a:prstGeom>
          <a:noFill/>
          <a:ln>
            <a:noFill/>
          </a:ln>
        </p:spPr>
        <p:txBody>
          <a:bodyPr anchorCtr="0" anchor="t" bIns="0" lIns="0" spcFirstLastPara="1" rIns="0" wrap="square" tIns="0">
            <a:noAutofit/>
          </a:bodyPr>
          <a:lstStyle/>
          <a:p>
            <a:pPr indent="-152400" lvl="0" marL="152400" marR="0" rtl="0" algn="l">
              <a:lnSpc>
                <a:spcPct val="122000"/>
              </a:lnSpc>
              <a:spcBef>
                <a:spcPts val="0"/>
              </a:spcBef>
              <a:spcAft>
                <a:spcPts val="0"/>
              </a:spcAft>
              <a:buClr>
                <a:srgbClr val="453636"/>
              </a:buClr>
              <a:buSzPts val="1250"/>
              <a:buFont typeface="Calibri"/>
              <a:buChar char="●"/>
            </a:pPr>
            <a:r>
              <a:rPr b="0" i="0" lang="en-US" sz="1650" u="none" cap="none" strike="noStrike">
                <a:solidFill>
                  <a:srgbClr val="453636"/>
                </a:solidFill>
                <a:latin typeface="Calibri"/>
                <a:ea typeface="Calibri"/>
                <a:cs typeface="Calibri"/>
                <a:sym typeface="Calibri"/>
              </a:rPr>
              <a:t>Detects anxiety indicators from sensor data</a:t>
            </a:r>
            <a:endParaRPr b="0" i="0" sz="1650" u="none" cap="none" strike="noStrike">
              <a:solidFill>
                <a:schemeClr val="dk1"/>
              </a:solidFill>
              <a:latin typeface="Calibri"/>
              <a:ea typeface="Calibri"/>
              <a:cs typeface="Calibri"/>
              <a:sym typeface="Calibri"/>
            </a:endParaRPr>
          </a:p>
          <a:p>
            <a:pPr indent="-152400" lvl="0" marL="152400" marR="0" rtl="0" algn="l">
              <a:lnSpc>
                <a:spcPct val="122000"/>
              </a:lnSpc>
              <a:spcBef>
                <a:spcPts val="1000"/>
              </a:spcBef>
              <a:spcAft>
                <a:spcPts val="0"/>
              </a:spcAft>
              <a:buClr>
                <a:srgbClr val="453636"/>
              </a:buClr>
              <a:buSzPts val="1250"/>
              <a:buFont typeface="Calibri"/>
              <a:buChar char="●"/>
            </a:pPr>
            <a:r>
              <a:rPr b="0" i="0" lang="en-US" sz="1650" u="none" cap="none" strike="noStrike">
                <a:solidFill>
                  <a:srgbClr val="453636"/>
                </a:solidFill>
                <a:latin typeface="Calibri"/>
                <a:ea typeface="Calibri"/>
                <a:cs typeface="Calibri"/>
                <a:sym typeface="Calibri"/>
              </a:rPr>
              <a:t>Transmits signals to app.</a:t>
            </a:r>
            <a:endParaRPr b="0" i="0" sz="1650" u="none" cap="none" strike="noStrike">
              <a:solidFill>
                <a:schemeClr val="dk1"/>
              </a:solidFill>
              <a:latin typeface="Calibri"/>
              <a:ea typeface="Calibri"/>
              <a:cs typeface="Calibri"/>
              <a:sym typeface="Calibri"/>
            </a:endParaRPr>
          </a:p>
        </p:txBody>
      </p:sp>
      <p:sp>
        <p:nvSpPr>
          <p:cNvPr id="378" name="Google Shape;378;p12"/>
          <p:cNvSpPr/>
          <p:nvPr/>
        </p:nvSpPr>
        <p:spPr>
          <a:xfrm>
            <a:off x="6236208" y="1554480"/>
            <a:ext cx="2679192" cy="4434840"/>
          </a:xfrm>
          <a:prstGeom prst="roundRect">
            <a:avLst>
              <a:gd fmla="val 3072"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2"/>
          <p:cNvSpPr/>
          <p:nvPr/>
        </p:nvSpPr>
        <p:spPr>
          <a:xfrm>
            <a:off x="7232904" y="1847088"/>
            <a:ext cx="685800" cy="685800"/>
          </a:xfrm>
          <a:prstGeom prst="ellipse">
            <a:avLst/>
          </a:prstGeom>
          <a:solidFill>
            <a:srgbClr val="F5EA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_doctor_i.png" id="380" name="Google Shape;380;p12"/>
          <p:cNvPicPr preferRelativeResize="0"/>
          <p:nvPr/>
        </p:nvPicPr>
        <p:blipFill rotWithShape="1">
          <a:blip r:embed="rId5">
            <a:alphaModFix/>
          </a:blip>
          <a:srcRect b="0" l="0" r="0" t="0"/>
          <a:stretch/>
        </p:blipFill>
        <p:spPr>
          <a:xfrm>
            <a:off x="7418070" y="2032254"/>
            <a:ext cx="315468" cy="315468"/>
          </a:xfrm>
          <a:prstGeom prst="rect">
            <a:avLst/>
          </a:prstGeom>
          <a:noFill/>
          <a:ln>
            <a:noFill/>
          </a:ln>
        </p:spPr>
      </p:pic>
      <p:sp>
        <p:nvSpPr>
          <p:cNvPr id="381" name="Google Shape;381;p12"/>
          <p:cNvSpPr/>
          <p:nvPr/>
        </p:nvSpPr>
        <p:spPr>
          <a:xfrm>
            <a:off x="6400800" y="2697480"/>
            <a:ext cx="2350008"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1550"/>
              <a:buFont typeface="Cambria"/>
              <a:buNone/>
            </a:pPr>
            <a:r>
              <a:rPr b="1" i="0" lang="en-US" sz="1800" u="none" cap="none" strike="noStrike">
                <a:solidFill>
                  <a:srgbClr val="2A1F1F"/>
                </a:solidFill>
                <a:latin typeface="Cambria"/>
                <a:ea typeface="Cambria"/>
                <a:cs typeface="Cambria"/>
                <a:sym typeface="Cambria"/>
              </a:rPr>
              <a:t>Therapist</a:t>
            </a:r>
            <a:endParaRPr b="0" i="0" sz="1800" u="none" cap="none" strike="noStrike">
              <a:solidFill>
                <a:schemeClr val="dk1"/>
              </a:solidFill>
              <a:latin typeface="Calibri"/>
              <a:ea typeface="Calibri"/>
              <a:cs typeface="Calibri"/>
              <a:sym typeface="Calibri"/>
            </a:endParaRPr>
          </a:p>
        </p:txBody>
      </p:sp>
      <p:sp>
        <p:nvSpPr>
          <p:cNvPr id="382" name="Google Shape;382;p12"/>
          <p:cNvSpPr/>
          <p:nvPr/>
        </p:nvSpPr>
        <p:spPr>
          <a:xfrm>
            <a:off x="6473952" y="3151539"/>
            <a:ext cx="2203704" cy="2514600"/>
          </a:xfrm>
          <a:prstGeom prst="rect">
            <a:avLst/>
          </a:prstGeom>
          <a:noFill/>
          <a:ln>
            <a:noFill/>
          </a:ln>
        </p:spPr>
        <p:txBody>
          <a:bodyPr anchorCtr="0" anchor="t" bIns="0" lIns="0" spcFirstLastPara="1" rIns="0" wrap="square" tIns="0">
            <a:noAutofit/>
          </a:bodyPr>
          <a:lstStyle/>
          <a:p>
            <a:pPr indent="-152400" lvl="0" marL="152400" marR="0" rtl="0" algn="l">
              <a:lnSpc>
                <a:spcPct val="122000"/>
              </a:lnSpc>
              <a:spcBef>
                <a:spcPts val="0"/>
              </a:spcBef>
              <a:spcAft>
                <a:spcPts val="0"/>
              </a:spcAft>
              <a:buClr>
                <a:srgbClr val="453636"/>
              </a:buClr>
              <a:buSzPts val="1250"/>
              <a:buFont typeface="Calibri"/>
              <a:buChar char="●"/>
            </a:pPr>
            <a:r>
              <a:rPr b="0" i="0" lang="en-US" sz="1650" u="none" cap="none" strike="noStrike">
                <a:solidFill>
                  <a:srgbClr val="453636"/>
                </a:solidFill>
                <a:latin typeface="Calibri"/>
                <a:ea typeface="Calibri"/>
                <a:cs typeface="Calibri"/>
                <a:sym typeface="Calibri"/>
              </a:rPr>
              <a:t>Views patient reports and attack-frequency trends</a:t>
            </a:r>
            <a:endParaRPr b="0" i="0" sz="1650" u="none" cap="none" strike="noStrike">
              <a:solidFill>
                <a:schemeClr val="dk1"/>
              </a:solidFill>
              <a:latin typeface="Calibri"/>
              <a:ea typeface="Calibri"/>
              <a:cs typeface="Calibri"/>
              <a:sym typeface="Calibri"/>
            </a:endParaRPr>
          </a:p>
          <a:p>
            <a:pPr indent="-152400" lvl="0" marL="152400" marR="0" rtl="0" algn="l">
              <a:lnSpc>
                <a:spcPct val="122000"/>
              </a:lnSpc>
              <a:spcBef>
                <a:spcPts val="1000"/>
              </a:spcBef>
              <a:spcAft>
                <a:spcPts val="0"/>
              </a:spcAft>
              <a:buClr>
                <a:srgbClr val="453636"/>
              </a:buClr>
              <a:buSzPts val="1250"/>
              <a:buFont typeface="Calibri"/>
              <a:buChar char="●"/>
            </a:pPr>
            <a:r>
              <a:rPr b="0" i="0" lang="en-US" sz="1650" u="none" cap="none" strike="noStrike">
                <a:solidFill>
                  <a:srgbClr val="453636"/>
                </a:solidFill>
                <a:latin typeface="Calibri"/>
                <a:ea typeface="Calibri"/>
                <a:cs typeface="Calibri"/>
                <a:sym typeface="Calibri"/>
              </a:rPr>
              <a:t>Provides emergency support on active alerts</a:t>
            </a:r>
            <a:endParaRPr b="0" i="0" sz="1650" u="none" cap="none" strike="noStrike">
              <a:solidFill>
                <a:schemeClr val="dk1"/>
              </a:solidFill>
              <a:latin typeface="Calibri"/>
              <a:ea typeface="Calibri"/>
              <a:cs typeface="Calibri"/>
              <a:sym typeface="Calibri"/>
            </a:endParaRPr>
          </a:p>
          <a:p>
            <a:pPr indent="-152400" lvl="0" marL="152400" marR="0" rtl="0" algn="l">
              <a:lnSpc>
                <a:spcPct val="122000"/>
              </a:lnSpc>
              <a:spcBef>
                <a:spcPts val="1000"/>
              </a:spcBef>
              <a:spcAft>
                <a:spcPts val="0"/>
              </a:spcAft>
              <a:buClr>
                <a:srgbClr val="453636"/>
              </a:buClr>
              <a:buSzPts val="1250"/>
              <a:buFont typeface="Calibri"/>
              <a:buChar char="●"/>
            </a:pPr>
            <a:r>
              <a:rPr b="0" i="0" lang="en-US" sz="1650" u="none" cap="none" strike="noStrike">
                <a:solidFill>
                  <a:srgbClr val="453636"/>
                </a:solidFill>
                <a:latin typeface="Calibri"/>
                <a:ea typeface="Calibri"/>
                <a:cs typeface="Calibri"/>
                <a:sym typeface="Calibri"/>
              </a:rPr>
              <a:t>Customizes calming plans per patient</a:t>
            </a:r>
            <a:endParaRPr b="0" i="0" sz="1650" u="none" cap="none" strike="noStrike">
              <a:solidFill>
                <a:schemeClr val="dk1"/>
              </a:solidFill>
              <a:latin typeface="Calibri"/>
              <a:ea typeface="Calibri"/>
              <a:cs typeface="Calibri"/>
              <a:sym typeface="Calibri"/>
            </a:endParaRPr>
          </a:p>
        </p:txBody>
      </p:sp>
      <p:sp>
        <p:nvSpPr>
          <p:cNvPr id="383" name="Google Shape;383;p12"/>
          <p:cNvSpPr/>
          <p:nvPr/>
        </p:nvSpPr>
        <p:spPr>
          <a:xfrm>
            <a:off x="9079992" y="1554480"/>
            <a:ext cx="2679192" cy="4434840"/>
          </a:xfrm>
          <a:prstGeom prst="roundRect">
            <a:avLst>
              <a:gd fmla="val 3072" name="adj"/>
            </a:avLst>
          </a:prstGeom>
          <a:solidFill>
            <a:srgbClr val="FFFFFF"/>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2"/>
          <p:cNvSpPr/>
          <p:nvPr/>
        </p:nvSpPr>
        <p:spPr>
          <a:xfrm>
            <a:off x="10076688" y="1847088"/>
            <a:ext cx="685800" cy="685800"/>
          </a:xfrm>
          <a:prstGeom prst="ellipse">
            <a:avLst/>
          </a:prstGeom>
          <a:solidFill>
            <a:srgbClr val="DFEB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_shield_i.png" id="385" name="Google Shape;385;p12"/>
          <p:cNvPicPr preferRelativeResize="0"/>
          <p:nvPr/>
        </p:nvPicPr>
        <p:blipFill rotWithShape="1">
          <a:blip r:embed="rId6">
            <a:alphaModFix/>
          </a:blip>
          <a:srcRect b="0" l="0" r="0" t="0"/>
          <a:stretch/>
        </p:blipFill>
        <p:spPr>
          <a:xfrm>
            <a:off x="10261854" y="2032254"/>
            <a:ext cx="315468" cy="315468"/>
          </a:xfrm>
          <a:prstGeom prst="rect">
            <a:avLst/>
          </a:prstGeom>
          <a:noFill/>
          <a:ln>
            <a:noFill/>
          </a:ln>
        </p:spPr>
      </p:pic>
      <p:sp>
        <p:nvSpPr>
          <p:cNvPr id="386" name="Google Shape;386;p12"/>
          <p:cNvSpPr/>
          <p:nvPr/>
        </p:nvSpPr>
        <p:spPr>
          <a:xfrm>
            <a:off x="9244584" y="2697480"/>
            <a:ext cx="2350008"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1550"/>
              <a:buFont typeface="Cambria"/>
              <a:buNone/>
            </a:pPr>
            <a:r>
              <a:rPr b="1" i="0" lang="en-US" sz="1800" u="none" cap="none" strike="noStrike">
                <a:solidFill>
                  <a:srgbClr val="2A1F1F"/>
                </a:solidFill>
                <a:latin typeface="Cambria"/>
                <a:ea typeface="Cambria"/>
                <a:cs typeface="Cambria"/>
                <a:sym typeface="Cambria"/>
              </a:rPr>
              <a:t>Community manager</a:t>
            </a:r>
            <a:endParaRPr b="0" i="0" sz="1800" u="none" cap="none" strike="noStrike">
              <a:solidFill>
                <a:schemeClr val="dk1"/>
              </a:solidFill>
              <a:latin typeface="Calibri"/>
              <a:ea typeface="Calibri"/>
              <a:cs typeface="Calibri"/>
              <a:sym typeface="Calibri"/>
            </a:endParaRPr>
          </a:p>
        </p:txBody>
      </p:sp>
      <p:sp>
        <p:nvSpPr>
          <p:cNvPr id="387" name="Google Shape;387;p12"/>
          <p:cNvSpPr/>
          <p:nvPr/>
        </p:nvSpPr>
        <p:spPr>
          <a:xfrm>
            <a:off x="9317736" y="3151539"/>
            <a:ext cx="2203704" cy="2514600"/>
          </a:xfrm>
          <a:prstGeom prst="rect">
            <a:avLst/>
          </a:prstGeom>
          <a:noFill/>
          <a:ln>
            <a:noFill/>
          </a:ln>
        </p:spPr>
        <p:txBody>
          <a:bodyPr anchorCtr="0" anchor="t" bIns="0" lIns="0" spcFirstLastPara="1" rIns="0" wrap="square" tIns="0">
            <a:noAutofit/>
          </a:bodyPr>
          <a:lstStyle/>
          <a:p>
            <a:pPr indent="-152400" lvl="0" marL="152400" marR="0" rtl="0" algn="l">
              <a:lnSpc>
                <a:spcPct val="122000"/>
              </a:lnSpc>
              <a:spcBef>
                <a:spcPts val="0"/>
              </a:spcBef>
              <a:spcAft>
                <a:spcPts val="0"/>
              </a:spcAft>
              <a:buClr>
                <a:srgbClr val="453636"/>
              </a:buClr>
              <a:buSzPts val="1250"/>
              <a:buFont typeface="Calibri"/>
              <a:buChar char="●"/>
            </a:pPr>
            <a:r>
              <a:rPr b="0" i="0" lang="en-US" sz="1650" u="none" cap="none" strike="noStrike">
                <a:solidFill>
                  <a:srgbClr val="453636"/>
                </a:solidFill>
                <a:latin typeface="Calibri"/>
                <a:ea typeface="Calibri"/>
                <a:cs typeface="Calibri"/>
                <a:sym typeface="Calibri"/>
              </a:rPr>
              <a:t>Moderates community content</a:t>
            </a:r>
            <a:endParaRPr b="0" i="0" sz="1650" u="none" cap="none" strike="noStrike">
              <a:solidFill>
                <a:schemeClr val="dk1"/>
              </a:solidFill>
              <a:latin typeface="Calibri"/>
              <a:ea typeface="Calibri"/>
              <a:cs typeface="Calibri"/>
              <a:sym typeface="Calibri"/>
            </a:endParaRPr>
          </a:p>
          <a:p>
            <a:pPr indent="-152400" lvl="0" marL="152400" marR="0" rtl="0" algn="l">
              <a:lnSpc>
                <a:spcPct val="122000"/>
              </a:lnSpc>
              <a:spcBef>
                <a:spcPts val="1000"/>
              </a:spcBef>
              <a:spcAft>
                <a:spcPts val="0"/>
              </a:spcAft>
              <a:buClr>
                <a:srgbClr val="453636"/>
              </a:buClr>
              <a:buSzPts val="1250"/>
              <a:buFont typeface="Calibri"/>
              <a:buChar char="●"/>
            </a:pPr>
            <a:r>
              <a:rPr b="0" i="0" lang="en-US" sz="1650" u="none" cap="none" strike="noStrike">
                <a:solidFill>
                  <a:srgbClr val="453636"/>
                </a:solidFill>
                <a:latin typeface="Calibri"/>
                <a:ea typeface="Calibri"/>
                <a:cs typeface="Calibri"/>
                <a:sym typeface="Calibri"/>
              </a:rPr>
              <a:t>Deletes posts </a:t>
            </a:r>
            <a:endParaRPr b="0" i="0" sz="1650" u="none" cap="none" strike="noStrike">
              <a:solidFill>
                <a:schemeClr val="dk1"/>
              </a:solidFill>
              <a:latin typeface="Calibri"/>
              <a:ea typeface="Calibri"/>
              <a:cs typeface="Calibri"/>
              <a:sym typeface="Calibri"/>
            </a:endParaRPr>
          </a:p>
        </p:txBody>
      </p:sp>
      <p:sp>
        <p:nvSpPr>
          <p:cNvPr id="388" name="Google Shape;388;p12"/>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393" name="Shape 393"/>
        <p:cNvGrpSpPr/>
        <p:nvPr/>
      </p:nvGrpSpPr>
      <p:grpSpPr>
        <a:xfrm>
          <a:off x="0" y="0"/>
          <a:ext cx="0" cy="0"/>
          <a:chOff x="0" y="0"/>
          <a:chExt cx="0" cy="0"/>
        </a:xfrm>
      </p:grpSpPr>
      <p:sp>
        <p:nvSpPr>
          <p:cNvPr id="394" name="Google Shape;394;p21"/>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SYSTEM DESIGN</a:t>
            </a:r>
            <a:endParaRPr b="0" i="0" sz="1700" u="none" cap="none" strike="noStrike">
              <a:solidFill>
                <a:schemeClr val="dk1"/>
              </a:solidFill>
              <a:latin typeface="Calibri"/>
              <a:ea typeface="Calibri"/>
              <a:cs typeface="Calibri"/>
              <a:sym typeface="Calibri"/>
            </a:endParaRPr>
          </a:p>
        </p:txBody>
      </p:sp>
      <p:sp>
        <p:nvSpPr>
          <p:cNvPr id="395" name="Google Shape;395;p21"/>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Use case diagram</a:t>
            </a:r>
            <a:endParaRPr b="0" i="0" sz="3200" u="none" cap="none" strike="noStrike">
              <a:solidFill>
                <a:schemeClr val="dk1"/>
              </a:solidFill>
              <a:latin typeface="Calibri"/>
              <a:ea typeface="Calibri"/>
              <a:cs typeface="Calibri"/>
              <a:sym typeface="Calibri"/>
            </a:endParaRPr>
          </a:p>
        </p:txBody>
      </p:sp>
      <p:sp>
        <p:nvSpPr>
          <p:cNvPr id="396" name="Google Shape;396;p21"/>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grpSp>
        <p:nvGrpSpPr>
          <p:cNvPr id="397" name="Google Shape;397;p21"/>
          <p:cNvGrpSpPr/>
          <p:nvPr/>
        </p:nvGrpSpPr>
        <p:grpSpPr>
          <a:xfrm>
            <a:off x="548641" y="1105231"/>
            <a:ext cx="11259046" cy="5615609"/>
            <a:chOff x="548641" y="1105231"/>
            <a:chExt cx="11259046" cy="5615609"/>
          </a:xfrm>
        </p:grpSpPr>
        <p:pic>
          <p:nvPicPr>
            <p:cNvPr id="398" name="Google Shape;398;p21"/>
            <p:cNvPicPr preferRelativeResize="0"/>
            <p:nvPr/>
          </p:nvPicPr>
          <p:blipFill rotWithShape="1">
            <a:blip r:embed="rId3">
              <a:alphaModFix/>
            </a:blip>
            <a:srcRect b="4533" l="5859" r="3814" t="2435"/>
            <a:stretch/>
          </p:blipFill>
          <p:spPr>
            <a:xfrm>
              <a:off x="548641" y="1105231"/>
              <a:ext cx="11259046" cy="5615609"/>
            </a:xfrm>
            <a:prstGeom prst="rect">
              <a:avLst/>
            </a:prstGeom>
            <a:noFill/>
            <a:ln>
              <a:noFill/>
            </a:ln>
          </p:spPr>
        </p:pic>
        <p:pic>
          <p:nvPicPr>
            <p:cNvPr id="399" name="Google Shape;399;p21"/>
            <p:cNvPicPr preferRelativeResize="0"/>
            <p:nvPr/>
          </p:nvPicPr>
          <p:blipFill rotWithShape="1">
            <a:blip r:embed="rId4">
              <a:alphaModFix/>
            </a:blip>
            <a:srcRect b="0" l="0" r="0" t="0"/>
            <a:stretch/>
          </p:blipFill>
          <p:spPr>
            <a:xfrm>
              <a:off x="1680013" y="2885324"/>
              <a:ext cx="196860" cy="228612"/>
            </a:xfrm>
            <a:prstGeom prst="rect">
              <a:avLst/>
            </a:prstGeom>
            <a:noFill/>
            <a:ln>
              <a:noFill/>
            </a:ln>
          </p:spPr>
        </p:pic>
        <p:pic>
          <p:nvPicPr>
            <p:cNvPr id="400" name="Google Shape;400;p21"/>
            <p:cNvPicPr preferRelativeResize="0"/>
            <p:nvPr/>
          </p:nvPicPr>
          <p:blipFill rotWithShape="1">
            <a:blip r:embed="rId4">
              <a:alphaModFix/>
            </a:blip>
            <a:srcRect b="0" l="0" r="0" t="0"/>
            <a:stretch/>
          </p:blipFill>
          <p:spPr>
            <a:xfrm>
              <a:off x="11537635" y="5184577"/>
              <a:ext cx="196860" cy="228612"/>
            </a:xfrm>
            <a:prstGeom prst="rect">
              <a:avLst/>
            </a:prstGeom>
            <a:noFill/>
            <a:ln>
              <a:noFill/>
            </a:ln>
          </p:spPr>
        </p:pic>
        <p:pic>
          <p:nvPicPr>
            <p:cNvPr id="401" name="Google Shape;401;p21"/>
            <p:cNvPicPr preferRelativeResize="0"/>
            <p:nvPr/>
          </p:nvPicPr>
          <p:blipFill rotWithShape="1">
            <a:blip r:embed="rId4">
              <a:alphaModFix/>
            </a:blip>
            <a:srcRect b="0" l="0" r="0" t="0"/>
            <a:stretch/>
          </p:blipFill>
          <p:spPr>
            <a:xfrm>
              <a:off x="6537590" y="1164855"/>
              <a:ext cx="196860" cy="228612"/>
            </a:xfrm>
            <a:prstGeom prst="rect">
              <a:avLst/>
            </a:prstGeom>
            <a:noFill/>
            <a:ln>
              <a:noFill/>
            </a:ln>
          </p:spPr>
        </p:pic>
        <p:pic>
          <p:nvPicPr>
            <p:cNvPr id="402" name="Google Shape;402;p21"/>
            <p:cNvPicPr preferRelativeResize="0"/>
            <p:nvPr/>
          </p:nvPicPr>
          <p:blipFill rotWithShape="1">
            <a:blip r:embed="rId4">
              <a:alphaModFix/>
            </a:blip>
            <a:srcRect b="0" l="0" r="0" t="0"/>
            <a:stretch/>
          </p:blipFill>
          <p:spPr>
            <a:xfrm>
              <a:off x="2084858" y="6367595"/>
              <a:ext cx="196860" cy="228612"/>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407" name="Shape 407"/>
        <p:cNvGrpSpPr/>
        <p:nvPr/>
      </p:nvGrpSpPr>
      <p:grpSpPr>
        <a:xfrm>
          <a:off x="0" y="0"/>
          <a:ext cx="0" cy="0"/>
          <a:chOff x="0" y="0"/>
          <a:chExt cx="0" cy="0"/>
        </a:xfrm>
      </p:grpSpPr>
      <p:sp>
        <p:nvSpPr>
          <p:cNvPr id="408" name="Google Shape;408;p14"/>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SYSTEM DESIGN</a:t>
            </a:r>
            <a:endParaRPr b="0" i="0" sz="1700" u="none" cap="none" strike="noStrike">
              <a:solidFill>
                <a:schemeClr val="dk1"/>
              </a:solidFill>
              <a:latin typeface="Calibri"/>
              <a:ea typeface="Calibri"/>
              <a:cs typeface="Calibri"/>
              <a:sym typeface="Calibri"/>
            </a:endParaRPr>
          </a:p>
        </p:txBody>
      </p:sp>
      <p:sp>
        <p:nvSpPr>
          <p:cNvPr id="409" name="Google Shape;409;p14"/>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Activity diagram: jewelry and patient interaction</a:t>
            </a:r>
            <a:endParaRPr b="0" i="0" sz="3200" u="none" cap="none" strike="noStrike">
              <a:solidFill>
                <a:schemeClr val="dk1"/>
              </a:solidFill>
              <a:latin typeface="Calibri"/>
              <a:ea typeface="Calibri"/>
              <a:cs typeface="Calibri"/>
              <a:sym typeface="Calibri"/>
            </a:endParaRPr>
          </a:p>
        </p:txBody>
      </p:sp>
      <p:pic>
        <p:nvPicPr>
          <p:cNvPr descr="diagrams/activity_jewelry_patient.png" id="410" name="Google Shape;410;p14"/>
          <p:cNvPicPr preferRelativeResize="0"/>
          <p:nvPr/>
        </p:nvPicPr>
        <p:blipFill rotWithShape="1">
          <a:blip r:embed="rId3">
            <a:alphaModFix/>
          </a:blip>
          <a:srcRect b="3977" l="20839" r="6168" t="5221"/>
          <a:stretch/>
        </p:blipFill>
        <p:spPr>
          <a:xfrm>
            <a:off x="1497425" y="1161300"/>
            <a:ext cx="9360686" cy="5429974"/>
          </a:xfrm>
          <a:prstGeom prst="rect">
            <a:avLst/>
          </a:prstGeom>
          <a:noFill/>
          <a:ln>
            <a:noFill/>
          </a:ln>
        </p:spPr>
      </p:pic>
      <p:sp>
        <p:nvSpPr>
          <p:cNvPr id="411" name="Google Shape;411;p14"/>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416" name="Shape 416"/>
        <p:cNvGrpSpPr/>
        <p:nvPr/>
      </p:nvGrpSpPr>
      <p:grpSpPr>
        <a:xfrm>
          <a:off x="0" y="0"/>
          <a:ext cx="0" cy="0"/>
          <a:chOff x="0" y="0"/>
          <a:chExt cx="0" cy="0"/>
        </a:xfrm>
      </p:grpSpPr>
      <p:sp>
        <p:nvSpPr>
          <p:cNvPr id="417" name="Google Shape;417;p15"/>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SYSTEM DESIGN</a:t>
            </a:r>
            <a:endParaRPr b="0" i="0" sz="1700" u="none" cap="none" strike="noStrike">
              <a:solidFill>
                <a:schemeClr val="dk1"/>
              </a:solidFill>
              <a:latin typeface="Calibri"/>
              <a:ea typeface="Calibri"/>
              <a:cs typeface="Calibri"/>
              <a:sym typeface="Calibri"/>
            </a:endParaRPr>
          </a:p>
        </p:txBody>
      </p:sp>
      <p:sp>
        <p:nvSpPr>
          <p:cNvPr id="418" name="Google Shape;418;p15"/>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Activity diagram: community flow</a:t>
            </a:r>
            <a:endParaRPr b="0" i="0" sz="3200" u="none" cap="none" strike="noStrike">
              <a:solidFill>
                <a:schemeClr val="dk1"/>
              </a:solidFill>
              <a:latin typeface="Calibri"/>
              <a:ea typeface="Calibri"/>
              <a:cs typeface="Calibri"/>
              <a:sym typeface="Calibri"/>
            </a:endParaRPr>
          </a:p>
        </p:txBody>
      </p:sp>
      <p:sp>
        <p:nvSpPr>
          <p:cNvPr id="419" name="Google Shape;419;p15"/>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pic>
        <p:nvPicPr>
          <p:cNvPr id="420" name="Google Shape;420;p15"/>
          <p:cNvPicPr preferRelativeResize="0"/>
          <p:nvPr/>
        </p:nvPicPr>
        <p:blipFill>
          <a:blip r:embed="rId3">
            <a:alphaModFix/>
          </a:blip>
          <a:stretch>
            <a:fillRect/>
          </a:stretch>
        </p:blipFill>
        <p:spPr>
          <a:xfrm>
            <a:off x="376425" y="1161300"/>
            <a:ext cx="11314951" cy="53919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7F4"/>
        </a:solidFill>
      </p:bgPr>
    </p:bg>
    <p:spTree>
      <p:nvGrpSpPr>
        <p:cNvPr id="425" name="Shape 425"/>
        <p:cNvGrpSpPr/>
        <p:nvPr/>
      </p:nvGrpSpPr>
      <p:grpSpPr>
        <a:xfrm>
          <a:off x="0" y="0"/>
          <a:ext cx="0" cy="0"/>
          <a:chOff x="0" y="0"/>
          <a:chExt cx="0" cy="0"/>
        </a:xfrm>
      </p:grpSpPr>
      <p:sp>
        <p:nvSpPr>
          <p:cNvPr id="426" name="Google Shape;426;p18"/>
          <p:cNvSpPr/>
          <p:nvPr/>
        </p:nvSpPr>
        <p:spPr>
          <a:xfrm>
            <a:off x="9631375" y="-1737360"/>
            <a:ext cx="3931920" cy="3931920"/>
          </a:xfrm>
          <a:prstGeom prst="ellipse">
            <a:avLst/>
          </a:prstGeom>
          <a:solidFill>
            <a:srgbClr val="CC828A">
              <a:alpha val="219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8"/>
          <p:cNvSpPr/>
          <p:nvPr/>
        </p:nvSpPr>
        <p:spPr>
          <a:xfrm>
            <a:off x="548640" y="3108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4750"/>
              </a:buClr>
              <a:buSzPts val="1300"/>
              <a:buFont typeface="Calibri"/>
              <a:buNone/>
            </a:pPr>
            <a:r>
              <a:rPr b="1" i="0" lang="en-US" sz="1700" u="none" cap="none" strike="noStrike">
                <a:solidFill>
                  <a:srgbClr val="9E4750"/>
                </a:solidFill>
                <a:latin typeface="Calibri"/>
                <a:ea typeface="Calibri"/>
                <a:cs typeface="Calibri"/>
                <a:sym typeface="Calibri"/>
              </a:rPr>
              <a:t>LOOKING AHEAD</a:t>
            </a:r>
            <a:endParaRPr b="0" i="0" sz="1700" u="none" cap="none" strike="noStrike">
              <a:solidFill>
                <a:schemeClr val="dk1"/>
              </a:solidFill>
              <a:latin typeface="Calibri"/>
              <a:ea typeface="Calibri"/>
              <a:cs typeface="Calibri"/>
              <a:sym typeface="Calibri"/>
            </a:endParaRPr>
          </a:p>
        </p:txBody>
      </p:sp>
      <p:sp>
        <p:nvSpPr>
          <p:cNvPr id="428" name="Google Shape;428;p18"/>
          <p:cNvSpPr/>
          <p:nvPr/>
        </p:nvSpPr>
        <p:spPr>
          <a:xfrm>
            <a:off x="548640" y="566928"/>
            <a:ext cx="1078992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F1F"/>
              </a:buClr>
              <a:buSzPts val="3200"/>
              <a:buFont typeface="Cambria"/>
              <a:buNone/>
            </a:pPr>
            <a:r>
              <a:rPr b="1" i="0" lang="en-US" sz="3200" u="none" cap="none" strike="noStrike">
                <a:solidFill>
                  <a:srgbClr val="2A1F1F"/>
                </a:solidFill>
                <a:latin typeface="Cambria"/>
                <a:ea typeface="Cambria"/>
                <a:cs typeface="Cambria"/>
                <a:sym typeface="Cambria"/>
              </a:rPr>
              <a:t>How we'll measure success</a:t>
            </a:r>
            <a:endParaRPr b="0" i="0" sz="3200" u="none" cap="none" strike="noStrike">
              <a:solidFill>
                <a:schemeClr val="dk1"/>
              </a:solidFill>
              <a:latin typeface="Calibri"/>
              <a:ea typeface="Calibri"/>
              <a:cs typeface="Calibri"/>
              <a:sym typeface="Calibri"/>
            </a:endParaRPr>
          </a:p>
        </p:txBody>
      </p:sp>
      <p:sp>
        <p:nvSpPr>
          <p:cNvPr id="429" name="Google Shape;429;p18"/>
          <p:cNvSpPr/>
          <p:nvPr/>
        </p:nvSpPr>
        <p:spPr>
          <a:xfrm>
            <a:off x="548640" y="1691640"/>
            <a:ext cx="3593592" cy="2834640"/>
          </a:xfrm>
          <a:prstGeom prst="roundRect">
            <a:avLst>
              <a:gd fmla="val 2903" name="adj"/>
            </a:avLst>
          </a:prstGeom>
          <a:solidFill>
            <a:srgbClr val="F5DCDD"/>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8"/>
          <p:cNvSpPr/>
          <p:nvPr/>
        </p:nvSpPr>
        <p:spPr>
          <a:xfrm>
            <a:off x="1956816" y="2057400"/>
            <a:ext cx="777240" cy="777240"/>
          </a:xfrm>
          <a:prstGeom prst="ellipse">
            <a:avLst/>
          </a:prstGeom>
          <a:solidFill>
            <a:srgbClr val="CC828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hart_line_i.png" id="431" name="Google Shape;431;p18"/>
          <p:cNvPicPr preferRelativeResize="0"/>
          <p:nvPr/>
        </p:nvPicPr>
        <p:blipFill rotWithShape="1">
          <a:blip r:embed="rId3">
            <a:alphaModFix/>
          </a:blip>
          <a:srcRect b="0" l="0" r="0" t="0"/>
          <a:stretch/>
        </p:blipFill>
        <p:spPr>
          <a:xfrm>
            <a:off x="2166671" y="2267255"/>
            <a:ext cx="357530" cy="357530"/>
          </a:xfrm>
          <a:prstGeom prst="rect">
            <a:avLst/>
          </a:prstGeom>
          <a:noFill/>
          <a:ln>
            <a:noFill/>
          </a:ln>
        </p:spPr>
      </p:pic>
      <p:sp>
        <p:nvSpPr>
          <p:cNvPr id="432" name="Google Shape;432;p18"/>
          <p:cNvSpPr/>
          <p:nvPr/>
        </p:nvSpPr>
        <p:spPr>
          <a:xfrm>
            <a:off x="548640" y="2983320"/>
            <a:ext cx="3593592"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3600"/>
              <a:buFont typeface="Cambria"/>
              <a:buNone/>
            </a:pPr>
            <a:r>
              <a:rPr b="1" i="0" lang="en-US" sz="3600" u="none" cap="none" strike="noStrike">
                <a:solidFill>
                  <a:srgbClr val="2A1F1F"/>
                </a:solidFill>
                <a:latin typeface="Cambria"/>
                <a:ea typeface="Cambria"/>
                <a:cs typeface="Cambria"/>
                <a:sym typeface="Cambria"/>
              </a:rPr>
              <a:t>70%+</a:t>
            </a:r>
            <a:endParaRPr b="0" i="0" sz="3600" u="none" cap="none" strike="noStrike">
              <a:solidFill>
                <a:schemeClr val="dk1"/>
              </a:solidFill>
              <a:latin typeface="Calibri"/>
              <a:ea typeface="Calibri"/>
              <a:cs typeface="Calibri"/>
              <a:sym typeface="Calibri"/>
            </a:endParaRPr>
          </a:p>
        </p:txBody>
      </p:sp>
      <p:sp>
        <p:nvSpPr>
          <p:cNvPr id="433" name="Google Shape;433;p18"/>
          <p:cNvSpPr/>
          <p:nvPr/>
        </p:nvSpPr>
        <p:spPr>
          <a:xfrm>
            <a:off x="914400" y="3731940"/>
            <a:ext cx="2862072" cy="640080"/>
          </a:xfrm>
          <a:prstGeom prst="rect">
            <a:avLst/>
          </a:prstGeom>
          <a:noFill/>
          <a:ln>
            <a:noFill/>
          </a:ln>
        </p:spPr>
        <p:txBody>
          <a:bodyPr anchorCtr="0" anchor="ctr" bIns="0" lIns="0" spcFirstLastPara="1" rIns="0" wrap="square" tIns="0">
            <a:noAutofit/>
          </a:bodyPr>
          <a:lstStyle/>
          <a:p>
            <a:pPr indent="0" lvl="0" marL="0" marR="0" rtl="0" algn="ctr">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Patient &amp; therapist adoption, with 85%+ satisfaction on the System Usability Scale</a:t>
            </a:r>
            <a:endParaRPr b="0" i="0" sz="1700" u="none" cap="none" strike="noStrike">
              <a:solidFill>
                <a:schemeClr val="dk1"/>
              </a:solidFill>
              <a:latin typeface="Calibri"/>
              <a:ea typeface="Calibri"/>
              <a:cs typeface="Calibri"/>
              <a:sym typeface="Calibri"/>
            </a:endParaRPr>
          </a:p>
        </p:txBody>
      </p:sp>
      <p:sp>
        <p:nvSpPr>
          <p:cNvPr id="434" name="Google Shape;434;p18"/>
          <p:cNvSpPr/>
          <p:nvPr/>
        </p:nvSpPr>
        <p:spPr>
          <a:xfrm>
            <a:off x="4297680" y="1691640"/>
            <a:ext cx="3593592" cy="2834640"/>
          </a:xfrm>
          <a:prstGeom prst="roundRect">
            <a:avLst>
              <a:gd fmla="val 2903" name="adj"/>
            </a:avLst>
          </a:prstGeom>
          <a:solidFill>
            <a:srgbClr val="DCE9EE"/>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18"/>
          <p:cNvSpPr/>
          <p:nvPr/>
        </p:nvSpPr>
        <p:spPr>
          <a:xfrm>
            <a:off x="5705856" y="2057400"/>
            <a:ext cx="777240" cy="777240"/>
          </a:xfrm>
          <a:prstGeom prst="ellipse">
            <a:avLst/>
          </a:prstGeom>
          <a:solidFill>
            <a:srgbClr val="76A0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hield_check_i.png" id="436" name="Google Shape;436;p18"/>
          <p:cNvPicPr preferRelativeResize="0"/>
          <p:nvPr/>
        </p:nvPicPr>
        <p:blipFill rotWithShape="1">
          <a:blip r:embed="rId4">
            <a:alphaModFix/>
          </a:blip>
          <a:srcRect b="0" l="0" r="0" t="0"/>
          <a:stretch/>
        </p:blipFill>
        <p:spPr>
          <a:xfrm>
            <a:off x="5915711" y="2267255"/>
            <a:ext cx="357530" cy="357530"/>
          </a:xfrm>
          <a:prstGeom prst="rect">
            <a:avLst/>
          </a:prstGeom>
          <a:noFill/>
          <a:ln>
            <a:noFill/>
          </a:ln>
        </p:spPr>
      </p:pic>
      <p:sp>
        <p:nvSpPr>
          <p:cNvPr id="437" name="Google Shape;437;p18"/>
          <p:cNvSpPr/>
          <p:nvPr/>
        </p:nvSpPr>
        <p:spPr>
          <a:xfrm>
            <a:off x="4297680" y="2983320"/>
            <a:ext cx="3593592"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3600"/>
              <a:buFont typeface="Cambria"/>
              <a:buNone/>
            </a:pPr>
            <a:r>
              <a:rPr b="1" i="0" lang="en-US" sz="3600" u="none" cap="none" strike="noStrike">
                <a:solidFill>
                  <a:srgbClr val="2A1F1F"/>
                </a:solidFill>
                <a:latin typeface="Cambria"/>
                <a:ea typeface="Cambria"/>
                <a:cs typeface="Cambria"/>
                <a:sym typeface="Cambria"/>
              </a:rPr>
              <a:t>95%+</a:t>
            </a:r>
            <a:endParaRPr b="0" i="0" sz="3600" u="none" cap="none" strike="noStrike">
              <a:solidFill>
                <a:schemeClr val="dk1"/>
              </a:solidFill>
              <a:latin typeface="Calibri"/>
              <a:ea typeface="Calibri"/>
              <a:cs typeface="Calibri"/>
              <a:sym typeface="Calibri"/>
            </a:endParaRPr>
          </a:p>
        </p:txBody>
      </p:sp>
      <p:sp>
        <p:nvSpPr>
          <p:cNvPr id="438" name="Google Shape;438;p18"/>
          <p:cNvSpPr/>
          <p:nvPr/>
        </p:nvSpPr>
        <p:spPr>
          <a:xfrm>
            <a:off x="4663440" y="3731940"/>
            <a:ext cx="2862072" cy="640080"/>
          </a:xfrm>
          <a:prstGeom prst="rect">
            <a:avLst/>
          </a:prstGeom>
          <a:noFill/>
          <a:ln>
            <a:noFill/>
          </a:ln>
        </p:spPr>
        <p:txBody>
          <a:bodyPr anchorCtr="0" anchor="ctr" bIns="0" lIns="0" spcFirstLastPara="1" rIns="0" wrap="square" tIns="0">
            <a:noAutofit/>
          </a:bodyPr>
          <a:lstStyle/>
          <a:p>
            <a:pPr indent="0" lvl="0" marL="0" marR="0" rtl="0" algn="ctr">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Of harmful or reported community content reviewed within 24 hours</a:t>
            </a:r>
            <a:endParaRPr b="0" i="0" sz="1700" u="none" cap="none" strike="noStrike">
              <a:solidFill>
                <a:schemeClr val="dk1"/>
              </a:solidFill>
              <a:latin typeface="Calibri"/>
              <a:ea typeface="Calibri"/>
              <a:cs typeface="Calibri"/>
              <a:sym typeface="Calibri"/>
            </a:endParaRPr>
          </a:p>
        </p:txBody>
      </p:sp>
      <p:sp>
        <p:nvSpPr>
          <p:cNvPr id="439" name="Google Shape;439;p18"/>
          <p:cNvSpPr/>
          <p:nvPr/>
        </p:nvSpPr>
        <p:spPr>
          <a:xfrm>
            <a:off x="8046720" y="1691640"/>
            <a:ext cx="3593592" cy="2834640"/>
          </a:xfrm>
          <a:prstGeom prst="roundRect">
            <a:avLst>
              <a:gd fmla="val 2903" name="adj"/>
            </a:avLst>
          </a:prstGeom>
          <a:solidFill>
            <a:srgbClr val="F5EAD0"/>
          </a:solidFill>
          <a:ln cap="flat" cmpd="sng" w="9525">
            <a:solidFill>
              <a:srgbClr val="DEC1C0"/>
            </a:solidFill>
            <a:prstDash val="solid"/>
            <a:round/>
            <a:headEnd len="sm" w="sm" type="none"/>
            <a:tailEnd len="sm" w="sm" type="none"/>
          </a:ln>
          <a:effectLst>
            <a:outerShdw blurRad="101600" rotWithShape="0" algn="bl" dir="5400000" dist="25400">
              <a:srgbClr val="D9A8AC">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8"/>
          <p:cNvSpPr/>
          <p:nvPr/>
        </p:nvSpPr>
        <p:spPr>
          <a:xfrm>
            <a:off x="9454896" y="2057400"/>
            <a:ext cx="777240" cy="777240"/>
          </a:xfrm>
          <a:prstGeom prst="ellipse">
            <a:avLst/>
          </a:prstGeom>
          <a:solidFill>
            <a:srgbClr val="D6B3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erver_scale_i.png" id="441" name="Google Shape;441;p18"/>
          <p:cNvPicPr preferRelativeResize="0"/>
          <p:nvPr/>
        </p:nvPicPr>
        <p:blipFill rotWithShape="1">
          <a:blip r:embed="rId5">
            <a:alphaModFix/>
          </a:blip>
          <a:srcRect b="0" l="0" r="0" t="0"/>
          <a:stretch/>
        </p:blipFill>
        <p:spPr>
          <a:xfrm>
            <a:off x="9664751" y="2267255"/>
            <a:ext cx="357530" cy="357530"/>
          </a:xfrm>
          <a:prstGeom prst="rect">
            <a:avLst/>
          </a:prstGeom>
          <a:noFill/>
          <a:ln>
            <a:noFill/>
          </a:ln>
        </p:spPr>
      </p:pic>
      <p:sp>
        <p:nvSpPr>
          <p:cNvPr id="442" name="Google Shape;442;p18"/>
          <p:cNvSpPr/>
          <p:nvPr/>
        </p:nvSpPr>
        <p:spPr>
          <a:xfrm>
            <a:off x="8046720" y="2983320"/>
            <a:ext cx="3593592"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1F1F"/>
              </a:buClr>
              <a:buSzPts val="3600"/>
              <a:buFont typeface="Cambria"/>
              <a:buNone/>
            </a:pPr>
            <a:r>
              <a:rPr b="1" i="0" lang="en-US" sz="3600" u="none" cap="none" strike="noStrike">
                <a:solidFill>
                  <a:srgbClr val="2A1F1F"/>
                </a:solidFill>
                <a:latin typeface="Cambria"/>
                <a:ea typeface="Cambria"/>
                <a:cs typeface="Cambria"/>
                <a:sym typeface="Cambria"/>
              </a:rPr>
              <a:t>99%+</a:t>
            </a:r>
            <a:endParaRPr b="0" i="0" sz="3600" u="none" cap="none" strike="noStrike">
              <a:solidFill>
                <a:schemeClr val="dk1"/>
              </a:solidFill>
              <a:latin typeface="Calibri"/>
              <a:ea typeface="Calibri"/>
              <a:cs typeface="Calibri"/>
              <a:sym typeface="Calibri"/>
            </a:endParaRPr>
          </a:p>
        </p:txBody>
      </p:sp>
      <p:sp>
        <p:nvSpPr>
          <p:cNvPr id="443" name="Google Shape;443;p18"/>
          <p:cNvSpPr/>
          <p:nvPr/>
        </p:nvSpPr>
        <p:spPr>
          <a:xfrm>
            <a:off x="8412480" y="3731940"/>
            <a:ext cx="2862072" cy="640080"/>
          </a:xfrm>
          <a:prstGeom prst="rect">
            <a:avLst/>
          </a:prstGeom>
          <a:noFill/>
          <a:ln>
            <a:noFill/>
          </a:ln>
        </p:spPr>
        <p:txBody>
          <a:bodyPr anchorCtr="0" anchor="ctr" bIns="0" lIns="0" spcFirstLastPara="1" rIns="0" wrap="square" tIns="0">
            <a:noAutofit/>
          </a:bodyPr>
          <a:lstStyle/>
          <a:p>
            <a:pPr indent="0" lvl="0" marL="0" marR="0" rtl="0" algn="ctr">
              <a:lnSpc>
                <a:spcPct val="118000"/>
              </a:lnSpc>
              <a:spcBef>
                <a:spcPts val="0"/>
              </a:spcBef>
              <a:spcAft>
                <a:spcPts val="0"/>
              </a:spcAft>
              <a:buClr>
                <a:srgbClr val="453636"/>
              </a:buClr>
              <a:buSzPts val="1350"/>
              <a:buFont typeface="Calibri"/>
              <a:buNone/>
            </a:pPr>
            <a:r>
              <a:rPr b="0" i="0" lang="en-US" sz="1700" u="none" cap="none" strike="noStrike">
                <a:solidFill>
                  <a:srgbClr val="453636"/>
                </a:solidFill>
                <a:latin typeface="Calibri"/>
                <a:ea typeface="Calibri"/>
                <a:cs typeface="Calibri"/>
                <a:sym typeface="Calibri"/>
              </a:rPr>
              <a:t>Annual system uptime, supporting 10,000+ concurrent users</a:t>
            </a:r>
            <a:endParaRPr b="0" i="0" sz="1700" u="none" cap="none" strike="noStrike">
              <a:solidFill>
                <a:schemeClr val="dk1"/>
              </a:solidFill>
              <a:latin typeface="Calibri"/>
              <a:ea typeface="Calibri"/>
              <a:cs typeface="Calibri"/>
              <a:sym typeface="Calibri"/>
            </a:endParaRPr>
          </a:p>
        </p:txBody>
      </p:sp>
      <p:sp>
        <p:nvSpPr>
          <p:cNvPr id="444" name="Google Shape;444;p18"/>
          <p:cNvSpPr/>
          <p:nvPr/>
        </p:nvSpPr>
        <p:spPr>
          <a:xfrm>
            <a:off x="548640" y="5029200"/>
            <a:ext cx="110642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53636"/>
              </a:buClr>
              <a:buSzPts val="1500"/>
              <a:buFont typeface="Calibri"/>
              <a:buNone/>
            </a:pPr>
            <a:r>
              <a:rPr b="0" i="1" lang="en-US" sz="1800" u="none" cap="none" strike="noStrike">
                <a:solidFill>
                  <a:srgbClr val="453636"/>
                </a:solidFill>
                <a:latin typeface="Calibri"/>
                <a:ea typeface="Calibri"/>
                <a:cs typeface="Calibri"/>
                <a:sym typeface="Calibri"/>
              </a:rPr>
              <a:t>Phase A established the full clinical, technological, and architectural foundation. Phase B will bring the system to life. Thank you.</a:t>
            </a:r>
            <a:endParaRPr b="0" i="0" sz="1800" u="none" cap="none" strike="noStrike">
              <a:solidFill>
                <a:schemeClr val="dk1"/>
              </a:solidFill>
              <a:latin typeface="Calibri"/>
              <a:ea typeface="Calibri"/>
              <a:cs typeface="Calibri"/>
              <a:sym typeface="Calibri"/>
            </a:endParaRPr>
          </a:p>
        </p:txBody>
      </p:sp>
      <p:sp>
        <p:nvSpPr>
          <p:cNvPr id="445" name="Google Shape;445;p18"/>
          <p:cNvSpPr/>
          <p:nvPr/>
        </p:nvSpPr>
        <p:spPr>
          <a:xfrm>
            <a:off x="11551615" y="6446520"/>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4F4F"/>
              </a:buClr>
              <a:buSzPts val="1000"/>
              <a:buFont typeface="Calibri"/>
              <a:buNone/>
            </a:pPr>
            <a:r>
              <a:rPr b="0" i="0" lang="en-US" sz="1000" u="none" cap="none" strike="noStrike">
                <a:solidFill>
                  <a:srgbClr val="634F4F"/>
                </a:solidFill>
                <a:latin typeface="Calibri"/>
                <a:ea typeface="Calibri"/>
                <a:cs typeface="Calibri"/>
                <a:sym typeface="Calibri"/>
              </a:rPr>
              <a:t>17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2026-06-29T07:50:17Z</dcterms:created>
  <dc:creator>Alaa Barazi &amp; Noor Zid Elkelani</dc:creator>
</cp:coreProperties>
</file>